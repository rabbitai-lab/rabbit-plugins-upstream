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75" r:id="rId3"/>
    <p:sldId id="276" r:id="rId5"/>
    <p:sldId id="277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杜彬彬" initials="杜" lastIdx="1" clrIdx="0"/>
  <p:cmAuthor id="2" name="刘 逸凡" initials="刘" lastIdx="1" clrIdx="1"/>
  <p:cmAuthor id="0" name="微软用户" initials="微软用户" lastIdx="1" clrIdx="0"/>
  <p:cmAuthor id="3" name="86180" initials="8" lastIdx="2" clrIdx="2"/>
  <p:cmAuthor id="4" name="81349" initials="8" lastIdx="2" clrIdx="3"/>
  <p:cmAuthor id="6" name="Administrator" initials="A" lastIdx="1" clrIdx="5"/>
  <p:cmAuthor id="7" name="266369" initials="2" lastIdx="1" clrIdx="6"/>
  <p:cmAuthor id="8" name="陆彦蓉" initials="陆" lastIdx="1" clrIdx="7"/>
  <p:cmAuthor id="9" name="WO" initials="W" lastIdx="1" clrIdx="8"/>
  <p:cmAuthor id="5" name="宋洁然" initials="宋" lastIdx="2" clrIdx="1"/>
  <p:cmAuthor id="11" name="lenovo" initials="l" lastIdx="1" clrIdx="10"/>
  <p:cmAuthor id="12" name="精灵的影子" initials="精" lastIdx="2" clrIdx="11"/>
  <p:cmAuthor id="13" name="0160278" initials="0" lastIdx="0" clrIdx="1"/>
  <p:cmAuthor id="75" name="作者" initials="A" lastIdx="0" clrIdx="24"/>
  <p:cmAuthor id="10" name="陈 琦" initials="琦陈" lastIdx="1" clrIdx="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图片 13" descr="图片 13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-6068" y="-22015"/>
            <a:ext cx="12272435" cy="69020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3933" y="1121833"/>
            <a:ext cx="12031133" cy="5159587"/>
          </a:xfrm>
        </p:spPr>
        <p:txBody>
          <a:bodyPr>
            <a:normAutofit fontScale="60000"/>
          </a:bodyPr>
          <a:p>
            <a:pPr marL="0" indent="0" algn="ctr">
              <a:lnSpc>
                <a:spcPct val="160000"/>
              </a:lnSpc>
              <a:buNone/>
            </a:pPr>
            <a:r>
              <a:rPr lang="en-US" altLang="zh-CN" sz="4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</a:t>
            </a:r>
            <a:r>
              <a:rPr lang="zh-CN" altLang="en-US" sz="4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天专业指导员0-100分标准</a:t>
            </a:r>
            <a:endParaRPr lang="zh-CN" altLang="en-US" sz="4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"/>
              </a:lnSpc>
              <a:buNone/>
            </a:pPr>
            <a:endParaRPr lang="zh-CN" altLang="en-US" sz="3065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06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0分是（专业）：</a:t>
            </a:r>
            <a:r>
              <a:rPr lang="zh-CN" altLang="en-US" sz="3065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推动班委，辅导学员课题，毕业成绩全员及格。</a:t>
            </a:r>
            <a:endParaRPr lang="zh-CN" altLang="en-US" sz="3065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0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1、专业指导员应该是</a:t>
            </a:r>
            <a:r>
              <a:rPr lang="en-US" altLang="zh-CN" sz="30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</a:t>
            </a:r>
            <a:r>
              <a:rPr lang="zh-CN" altLang="en-US" sz="30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分以上毕业学员。</a:t>
            </a:r>
            <a:endParaRPr lang="zh-CN" altLang="en-US" sz="30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0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2、初步掌握学员的基本情况，推动班委工作，使全部学员能按规范按时完成课题。</a:t>
            </a:r>
            <a:endParaRPr lang="zh-CN" altLang="en-US" sz="30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0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3、掌握课题点评要点，掌握聆听、区分、发问、回应的沟通能力，能帮学员点评课题，使学员理解每周的课题要点，每日精进，能积极回应学员遇到的问题，辅导学员课题，集体毕业。</a:t>
            </a:r>
            <a:endParaRPr lang="zh-CN" altLang="en-US" sz="30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50000"/>
              </a:lnSpc>
              <a:buNone/>
            </a:pPr>
            <a:endParaRPr lang="zh-CN" altLang="en-US" sz="30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06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20分标准（用心）：</a:t>
            </a:r>
            <a:r>
              <a:rPr lang="zh-CN" altLang="en-US" sz="3065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点燃班委，陪伴全员高质量完成课题并顺利进入使命宣讲。</a:t>
            </a:r>
            <a:endParaRPr lang="zh-CN" altLang="en-US" sz="3065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0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1、点燃班委打造好的学习磁场，让学员有信心走完全程。</a:t>
            </a:r>
            <a:endParaRPr lang="zh-CN" altLang="en-US" sz="30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0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2、完全理解每周课题的逻辑关系，熟练掌握聆听、区分、发问、回应的沟通技巧，完全了解掌握学员的状况。</a:t>
            </a:r>
            <a:endParaRPr lang="zh-CN" altLang="en-US" sz="30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30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7473" y="1097280"/>
            <a:ext cx="11339407" cy="3893820"/>
          </a:xfrm>
        </p:spPr>
        <p:txBody>
          <a:bodyPr>
            <a:normAutofit lnSpcReduction="10000"/>
          </a:bodyPr>
          <a:p>
            <a:pPr marL="0" indent="0">
              <a:lnSpc>
                <a:spcPct val="130000"/>
              </a:lnSpc>
              <a:buNone/>
            </a:pPr>
            <a:r>
              <a:rPr lang="zh-CN" altLang="en-US" sz="186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50分（点燃感召）：</a:t>
            </a:r>
            <a:r>
              <a:rPr lang="zh-CN" altLang="en-US" sz="1865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通过培养</a:t>
            </a:r>
            <a:r>
              <a:rPr lang="en-US" altLang="zh-CN" sz="1865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49</a:t>
            </a:r>
            <a:r>
              <a:rPr lang="zh-CN" altLang="en-US" sz="1865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天专业指导员，推动使命落地，助力更多企业幸福经营。</a:t>
            </a:r>
            <a:endParaRPr lang="zh-CN" altLang="en-US" sz="18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18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8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、教学相长，成为专家，能辅导和帮助经营者找到使命发心，完善员工幸福和客户幸福的体系，挖掘组内优秀学员，点燃并培养班委及优秀组员和自己一起来赋能组员成长。</a:t>
            </a:r>
            <a:endParaRPr lang="zh-CN" altLang="en-US" sz="18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18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8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、点燃50%以上学员报名下一期专业指导员。</a:t>
            </a:r>
            <a:endParaRPr lang="zh-CN" altLang="en-US" sz="18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186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</a:t>
            </a:r>
            <a:r>
              <a:rPr lang="zh-CN" altLang="en-US" sz="186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分（从成事到成人）：</a:t>
            </a:r>
            <a:r>
              <a:rPr lang="zh-CN" altLang="en-US" sz="1865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践行落地，培养更多专业指导员，让更多人体验到纯粹利他，与宇宙意志相协调的终身幸福。</a:t>
            </a:r>
            <a:endParaRPr lang="zh-CN" altLang="en-US" sz="1865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86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1、点燃自己企业所有核心层（股东、合伙人）成为使命宣讲师，在企业</a:t>
            </a:r>
            <a:r>
              <a:rPr lang="zh-CN" sz="186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内践行落地。</a:t>
            </a:r>
            <a:endParaRPr lang="zh-CN" sz="1865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86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2、发愿成长为</a:t>
            </a:r>
            <a:r>
              <a:rPr lang="en-US" altLang="zh-CN" sz="186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49</a:t>
            </a:r>
            <a:r>
              <a:rPr lang="zh-CN" altLang="en-US" sz="186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天总专业指导员，培养企业核心层成为专业指导员，帮助更多学员成长，推动幸福企业遍华夏。</a:t>
            </a:r>
            <a:endParaRPr lang="zh-CN" altLang="en-US" sz="1865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18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8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340" y="932180"/>
            <a:ext cx="10515600" cy="837353"/>
          </a:xfrm>
        </p:spPr>
        <p:txBody>
          <a:bodyPr/>
          <a:p>
            <a:r>
              <a:rPr lang="en-US" altLang="zh-CN" sz="3735">
                <a:latin typeface="微软雅黑" panose="020B0503020204020204" charset="-122"/>
                <a:ea typeface="微软雅黑" panose="020B0503020204020204" charset="-122"/>
              </a:rPr>
              <a:t>49</a:t>
            </a:r>
            <a:r>
              <a:rPr lang="zh-CN" altLang="en-US" sz="3735">
                <a:latin typeface="微软雅黑" panose="020B0503020204020204" charset="-122"/>
                <a:ea typeface="微软雅黑" panose="020B0503020204020204" charset="-122"/>
              </a:rPr>
              <a:t>天专业指导员定向书</a:t>
            </a:r>
            <a:endParaRPr lang="zh-CN" altLang="en-US" sz="3735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8820" y="2085340"/>
            <a:ext cx="10515600" cy="3528907"/>
          </a:xfrm>
        </p:spPr>
        <p:txBody>
          <a:bodyPr>
            <a:normAutofit fontScale="80000"/>
          </a:bodyPr>
          <a:p>
            <a:pPr marL="0" indent="0">
              <a:lnSpc>
                <a:spcPct val="120000"/>
              </a:lnSpc>
              <a:buNone/>
            </a:pP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、我做</a:t>
            </a: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天专业指导员的目的和意义是什么？</a:t>
            </a:r>
            <a:endParaRPr lang="zh-CN" altLang="en-US" sz="26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、我做</a:t>
            </a: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天专业指导员的目标是什么？</a:t>
            </a:r>
            <a:endParaRPr lang="zh-CN" altLang="en-US" sz="26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）自己作为</a:t>
            </a: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天专业指导员的</a:t>
            </a: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0-100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分目标是多少分？</a:t>
            </a:r>
            <a:endParaRPr lang="zh-CN" altLang="en-US" sz="26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）辅导学员的</a:t>
            </a: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0-100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分目标是什么？（培养几个</a:t>
            </a: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/50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/20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分学员？）</a:t>
            </a:r>
            <a:endParaRPr lang="zh-CN" altLang="en-US" sz="26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、我的行动方案是什么（心中怀有强烈的愿望：遇到各种具体困难时，应该怎么做？比如：时间不够、学员不配合、别的专业指导员不作为、自己专业不够……）？</a:t>
            </a:r>
            <a:endParaRPr lang="zh-CN" altLang="en-US" sz="26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WPS 演示</Application>
  <PresentationFormat>宽屏</PresentationFormat>
  <Paragraphs>29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49天专业指导员定向书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ariel</dc:creator>
  <cp:lastModifiedBy>Aurevoir丶</cp:lastModifiedBy>
  <cp:revision>13</cp:revision>
  <dcterms:created xsi:type="dcterms:W3CDTF">2024-03-22T07:15:00Z</dcterms:created>
  <dcterms:modified xsi:type="dcterms:W3CDTF">2026-03-30T14:21:39Z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FBD5276BC20892AA680869637737B460</vt:lpwstr>
  </property>
</Properties>
</file>