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723" r:id="rId2"/>
    <p:sldId id="9945" r:id="rId3"/>
    <p:sldId id="9946" r:id="rId4"/>
    <p:sldId id="9947" r:id="rId5"/>
    <p:sldId id="9948" r:id="rId6"/>
    <p:sldId id="9949" r:id="rId7"/>
    <p:sldId id="9951" r:id="rId8"/>
    <p:sldId id="9854" r:id="rId9"/>
    <p:sldId id="9861" r:id="rId10"/>
    <p:sldId id="9954" r:id="rId11"/>
    <p:sldId id="256" r:id="rId12"/>
    <p:sldId id="9627" r:id="rId13"/>
    <p:sldId id="9939" r:id="rId14"/>
  </p:sldIdLst>
  <p:sldSz cx="9144000" cy="5143500" type="screen16x9"/>
  <p:notesSz cx="6858000" cy="9144000"/>
  <p:custDataLst>
    <p:tags r:id="rId1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802" userDrawn="1">
          <p15:clr>
            <a:srgbClr val="A4A3A4"/>
          </p15:clr>
        </p15:guide>
        <p15:guide id="2" pos="27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林 娜" initials="林" lastIdx="1" clrIdx="4"/>
  <p:cmAuthor id="6" name="Administrator" initials="A" lastIdx="1" clrIdx="5"/>
  <p:cmAuthor id="7" name="266369" initials="2" lastIdx="1" clrIdx="6"/>
  <p:cmAuthor id="8" name="陆彦蓉" initials="陆" lastIdx="1" clrIdx="7"/>
  <p:cmAuthor id="9" name="zhu" initials="z" lastIdx="1" clrIdx="0"/>
  <p:cmAuthor id="10" name="d'f" initials="d" lastIdx="1" clrIdx="9"/>
  <p:cmAuthor id="11" name="地 瓜" initials="地" lastIdx="1" clrIdx="1"/>
  <p:cmAuthor id="12" name="LEGION" initials="L" lastIdx="1" clrIdx="11"/>
  <p:cmAuthor id="13" name="0160278" initials="0" lastIdx="0" clrIdx="1"/>
  <p:cmAuthor id="75" name="作者" initials="A" lastIdx="0" clrIdx="24"/>
  <p:cmAuthor id="76" name="37786632@qq.com" initials="" lastIdx="3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66"/>
    <a:srgbClr val="00FF00"/>
    <a:srgbClr val="CC66FF"/>
    <a:srgbClr val="FF66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17" d="100"/>
          <a:sy n="117" d="100"/>
        </p:scale>
        <p:origin x="162" y="42"/>
      </p:cViewPr>
      <p:guideLst>
        <p:guide orient="horz" pos="1802"/>
        <p:guide pos="271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44538"/>
            <a:ext cx="6619875" cy="3724275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161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979" tIns="45990" rIns="91979" bIns="4599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5250" y="9431338"/>
            <a:ext cx="2987675" cy="496887"/>
          </a:xfrm>
          <a:prstGeom prst="rect">
            <a:avLst/>
          </a:prstGeom>
          <a:noFill/>
          <a:ln w="9525">
            <a:noFill/>
          </a:ln>
        </p:spPr>
        <p:txBody>
          <a:bodyPr lIns="91979" tIns="45990" rIns="91979" bIns="45990" anchor="b" anchorCtr="0"/>
          <a:lstStyle/>
          <a:p>
            <a:pPr lvl="0" algn="r" defTabSz="919480" eaLnBrk="1" hangingPunct="1">
              <a:buChar char="•"/>
            </a:pPr>
            <a:r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5d529af2-5332-42f8-80df-57a1784a11d8.source.4.zh-Hans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81955" y="4789627"/>
            <a:ext cx="233396" cy="230832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notesSlide" Target="../notesSlides/notesSlide5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51.xml"/><Relationship Id="rId10" Type="http://schemas.openxmlformats.org/officeDocument/2006/relationships/slideLayout" Target="../slideLayouts/slideLayout11.xml"/><Relationship Id="rId4" Type="http://schemas.openxmlformats.org/officeDocument/2006/relationships/tags" Target="../tags/tag50.xml"/><Relationship Id="rId9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95"/>
            <a:ext cx="9144000" cy="5163820"/>
          </a:xfrm>
          <a:prstGeom prst="rect">
            <a:avLst/>
          </a:prstGeom>
        </p:spPr>
      </p:pic>
      <p:sp>
        <p:nvSpPr>
          <p:cNvPr id="95" name="标题 1"/>
          <p:cNvSpPr txBox="1"/>
          <p:nvPr/>
        </p:nvSpPr>
        <p:spPr>
          <a:xfrm>
            <a:off x="1188085" y="1059180"/>
            <a:ext cx="6331585" cy="76835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/>
              <a:t>【使命血肉化训练营】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82648" y="2733040"/>
            <a:ext cx="5490210" cy="2294756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0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经营者版</a:t>
            </a:r>
            <a:br>
              <a:rPr lang="en-US" altLang="zh-CN" sz="4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班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组</a:t>
            </a:r>
            <a:b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宣讲人：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XXX</a:t>
            </a: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日期：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2026-06-xx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827584" y="1779905"/>
            <a:ext cx="7200339" cy="9531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sz="2800" b="1" dirty="0">
                <a:sym typeface="+mn-ea"/>
              </a:rPr>
              <a:t>第</a:t>
            </a:r>
            <a:r>
              <a:rPr lang="zh-CN" altLang="en-US" sz="2800" b="1" dirty="0">
                <a:sym typeface="+mn-ea"/>
              </a:rPr>
              <a:t>二</a:t>
            </a:r>
            <a:r>
              <a:rPr sz="2800" b="1" dirty="0">
                <a:sym typeface="+mn-ea"/>
              </a:rPr>
              <a:t>周</a:t>
            </a:r>
            <a:r>
              <a:rPr lang="zh-CN" sz="2800" b="1" dirty="0" err="1">
                <a:sym typeface="+mn-ea"/>
              </a:rPr>
              <a:t>课题</a:t>
            </a:r>
            <a:endParaRPr sz="2800" b="1" dirty="0" err="1">
              <a:sym typeface="+mn-ea"/>
            </a:endParaRPr>
          </a:p>
          <a:p>
            <a:r>
              <a:rPr lang="zh-CN" altLang="en-US" sz="2800" b="1" dirty="0">
                <a:sym typeface="+mn-ea"/>
              </a:rPr>
              <a:t>使命的力量</a:t>
            </a:r>
            <a:r>
              <a:rPr lang="en-US" sz="2800" b="1" dirty="0">
                <a:sym typeface="+mn-ea"/>
              </a:rPr>
              <a:t>—</a:t>
            </a:r>
            <a:r>
              <a:rPr lang="zh-CN" altLang="en-US" sz="2800" b="1" dirty="0">
                <a:sym typeface="+mn-ea"/>
              </a:rPr>
              <a:t>明确事业的目的和意义</a:t>
            </a:r>
            <a:endParaRPr lang="zh-CN" altLang="zh-CN" sz="28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771981"/>
            <a:ext cx="756084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一、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一分钟自我介绍（主题：使命的力量）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（标准：完整讲清楚并吸引听众——面向社会大众。）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0F8EDB-8EB2-83BF-07B9-C89F7B8EC942}"/>
              </a:ext>
            </a:extLst>
          </p:cNvPr>
          <p:cNvSpPr txBox="1"/>
          <p:nvPr/>
        </p:nvSpPr>
        <p:spPr>
          <a:xfrm>
            <a:off x="539552" y="1563638"/>
            <a:ext cx="1478929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、你是谁？</a:t>
            </a:r>
          </a:p>
        </p:txBody>
      </p:sp>
    </p:spTree>
  </p:cSld>
  <p:clrMapOvr>
    <a:masterClrMapping/>
  </p:clrMapOvr>
  <p:transition spd="slow" advClick="0" advTm="5000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39115" y="771525"/>
            <a:ext cx="4702175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为什么我要听你讲</a:t>
            </a: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？</a:t>
            </a:r>
            <a:endParaRPr kumimoji="0" lang="zh-CN" altLang="en-US" sz="2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矩形 14"/>
          <p:cNvSpPr/>
          <p:nvPr/>
        </p:nvSpPr>
        <p:spPr>
          <a:xfrm>
            <a:off x="539046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14190" y="1175421"/>
            <a:ext cx="1748270" cy="369475"/>
            <a:chOff x="1209415" y="1175421"/>
            <a:chExt cx="1748270" cy="369475"/>
          </a:xfrm>
        </p:grpSpPr>
        <p:sp>
          <p:nvSpPr>
            <p:cNvPr id="3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前</a:t>
              </a: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116070" y="2860040"/>
            <a:ext cx="623570" cy="434975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003289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724128" y="117086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后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47065" y="3761105"/>
            <a:ext cx="3240405" cy="11880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4067810" y="1779270"/>
            <a:ext cx="830580" cy="7766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r>
              <a:rPr kumimoji="0" 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关键时间节点（写使命生发的契机）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9552" y="766395"/>
            <a:ext cx="4680520" cy="4996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、听你讲对我有什么好处？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26963" y="1491630"/>
            <a:ext cx="6912768" cy="3024336"/>
            <a:chOff x="4317719" y="1130300"/>
            <a:chExt cx="3526877" cy="2446275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Body-2"/>
            <p:cNvSpPr txBox="1"/>
            <p:nvPr>
              <p:custDataLst>
                <p:tags r:id="rId2"/>
              </p:custDataLst>
            </p:nvPr>
          </p:nvSpPr>
          <p:spPr>
            <a:xfrm>
              <a:off x="4443161" y="1712738"/>
              <a:ext cx="3193282" cy="297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</a:t>
              </a:r>
              <a:r>
                <a:rPr lang="zh-CN" altLang="en-US" sz="12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内容</a:t>
              </a:r>
            </a:p>
          </p:txBody>
        </p:sp>
        <p:sp>
          <p:nvSpPr>
            <p:cNvPr id="14" name="Title-2"/>
            <p:cNvSpPr/>
            <p:nvPr>
              <p:custDataLst>
                <p:tags r:id="rId3"/>
              </p:custDataLst>
            </p:nvPr>
          </p:nvSpPr>
          <p:spPr>
            <a:xfrm>
              <a:off x="5622572" y="1226245"/>
              <a:ext cx="834460" cy="378932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大众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79512" y="1232505"/>
            <a:ext cx="8136904" cy="2314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>
              <a:lnSpc>
                <a:spcPct val="150000"/>
              </a:lnSpc>
              <a:spcBef>
                <a:spcPts val="800"/>
              </a:spcBef>
            </a:pPr>
            <a:endParaRPr lang="zh-CN" altLang="en-US" sz="1150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95605" y="680085"/>
            <a:ext cx="7810500" cy="596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 algn="l">
              <a:lnSpc>
                <a:spcPct val="200000"/>
              </a:lnSpc>
              <a:spcAft>
                <a:spcPts val="600"/>
              </a:spcAft>
            </a:pP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、</a:t>
            </a: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宣讲的主题：</a:t>
            </a: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187624" y="2355726"/>
            <a:ext cx="6317615" cy="782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使命的力量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--</a:t>
            </a:r>
            <a:r>
              <a:rPr lang="zh-CN" altLang="en-US" sz="2800" b="1" kern="1200" noProof="0" dirty="0">
                <a:solidFill>
                  <a:schemeClr val="tx1"/>
                </a:solidFill>
                <a:uLnTx/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明确</a:t>
            </a:r>
            <a:r>
              <a:rPr lang="zh-CN" altLang="en-US" sz="2800" b="1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事业</a:t>
            </a:r>
            <a:r>
              <a:rPr lang="zh-CN" altLang="en-US" sz="2800" b="1" kern="1200" noProof="0" dirty="0">
                <a:solidFill>
                  <a:schemeClr val="tx1"/>
                </a:solidFill>
                <a:uLnTx/>
                <a:latin typeface="微软雅黑" panose="020B0503020204020204" charset="-122"/>
                <a:ea typeface="微软雅黑" panose="020B0503020204020204" charset="-122"/>
                <a:sym typeface="+mn-lt"/>
              </a:rPr>
              <a:t>的目的和意义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627700" y="1638145"/>
            <a:ext cx="3672686" cy="596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 algn="l">
              <a:lnSpc>
                <a:spcPct val="200000"/>
              </a:lnSpc>
              <a:spcAft>
                <a:spcPts val="600"/>
              </a:spcAft>
            </a:pPr>
            <a:r>
              <a:rPr 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我今天宣讲的主题是：</a:t>
            </a:r>
            <a:endParaRPr kumimoji="0" lang="zh-CN" sz="3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701675"/>
            <a:ext cx="844296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/>
              <a:t>二、你企业的使命是什么</a:t>
            </a:r>
            <a:r>
              <a:rPr lang="en-US" altLang="zh-CN" sz="2000" dirty="0"/>
              <a:t>+2</a:t>
            </a:r>
            <a:r>
              <a:rPr lang="zh-CN" altLang="en-US" sz="2000" dirty="0"/>
              <a:t>？使命的诠释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愿景是什么</a:t>
            </a:r>
            <a:r>
              <a:rPr lang="en-US" altLang="zh-CN" sz="2000" dirty="0"/>
              <a:t>+1</a:t>
            </a:r>
            <a:r>
              <a:rPr lang="zh-CN" altLang="en-US" sz="2000" dirty="0"/>
              <a:t>？愿景的诠释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？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C3F00433-6547-DCCC-2634-D0C1B797E4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1305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-1">
            <a:extLst>
              <a:ext uri="{FF2B5EF4-FFF2-40B4-BE49-F238E27FC236}">
                <a16:creationId xmlns:a16="http://schemas.microsoft.com/office/drawing/2014/main" id="{2D4ED7E4-741A-56A9-C109-8348F65BE0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78455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</a:rPr>
              <a:t>公司使命</a:t>
            </a:r>
          </a:p>
        </p:txBody>
      </p:sp>
      <p:sp>
        <p:nvSpPr>
          <p:cNvPr id="7" name="2">
            <a:extLst>
              <a:ext uri="{FF2B5EF4-FFF2-40B4-BE49-F238E27FC236}">
                <a16:creationId xmlns:a16="http://schemas.microsoft.com/office/drawing/2014/main" id="{6068942E-F899-FFE9-076F-0C95426E16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610730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itle-2">
            <a:extLst>
              <a:ext uri="{FF2B5EF4-FFF2-40B4-BE49-F238E27FC236}">
                <a16:creationId xmlns:a16="http://schemas.microsoft.com/office/drawing/2014/main" id="{84531EFB-0A48-552B-F1F1-B65913CE39F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7880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  <a:sym typeface="+mn-ea"/>
              </a:rPr>
              <a:t>诠释关键词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049" y="865035"/>
            <a:ext cx="8361902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公司愿景：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573" y="1419923"/>
            <a:ext cx="8160721" cy="2855121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5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4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公司愿景</a:t>
                </a:r>
              </a:p>
            </p:txBody>
          </p:sp>
          <p:sp>
            <p:nvSpPr>
              <p:cNvPr id="17" name="Body-1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2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3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愿景诠释</a:t>
                </a:r>
              </a:p>
            </p:txBody>
          </p:sp>
          <p:sp>
            <p:nvSpPr>
              <p:cNvPr id="12" name="Body-2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/>
          <p:nvPr>
            <p:custDataLst>
              <p:tags r:id="rId1"/>
            </p:custDataLst>
          </p:nvPr>
        </p:nvSpPr>
        <p:spPr>
          <a:xfrm>
            <a:off x="261981" y="1924641"/>
            <a:ext cx="2685779" cy="3095380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30000"/>
              </a:lnSpc>
            </a:pPr>
            <a:endParaRPr 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defTabSz="821690">
              <a:lnSpc>
                <a:spcPct val="130000"/>
              </a:lnSpc>
            </a:pPr>
            <a:r>
              <a:rPr lang="en-US" altLang="zh-CN" sz="1000" spc="300" dirty="0">
                <a:solidFill>
                  <a:schemeClr val="tx1"/>
                </a:solidFill>
                <a:latin typeface="+mn-ea"/>
                <a:cs typeface="+mn-ea"/>
                <a:sym typeface="Nokia Font YanTi"/>
              </a:rPr>
              <a:t>   </a:t>
            </a: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14" name="矩形: 圆角 13"/>
          <p:cNvSpPr/>
          <p:nvPr>
            <p:custDataLst>
              <p:tags r:id="rId2"/>
            </p:custDataLst>
          </p:nvPr>
        </p:nvSpPr>
        <p:spPr>
          <a:xfrm>
            <a:off x="3067884" y="1899090"/>
            <a:ext cx="2606696" cy="3120932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50000"/>
              </a:lnSpc>
            </a:pP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4" name="矩形 15"/>
          <p:cNvSpPr/>
          <p:nvPr>
            <p:custDataLst>
              <p:tags r:id="rId3"/>
            </p:custDataLst>
          </p:nvPr>
        </p:nvSpPr>
        <p:spPr>
          <a:xfrm>
            <a:off x="3699776" y="1621169"/>
            <a:ext cx="1369437" cy="38068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17"/>
          <p:cNvSpPr txBox="1"/>
          <p:nvPr>
            <p:custDataLst>
              <p:tags r:id="rId4"/>
            </p:custDataLst>
          </p:nvPr>
        </p:nvSpPr>
        <p:spPr>
          <a:xfrm>
            <a:off x="3875567" y="1621169"/>
            <a:ext cx="12343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社会痛点</a:t>
            </a:r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5757018" y="1855654"/>
            <a:ext cx="2697170" cy="3164368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40000"/>
              </a:lnSpc>
            </a:pP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7" name="矩形 15"/>
          <p:cNvSpPr/>
          <p:nvPr>
            <p:custDataLst>
              <p:tags r:id="rId6"/>
            </p:custDataLst>
          </p:nvPr>
        </p:nvSpPr>
        <p:spPr>
          <a:xfrm>
            <a:off x="6457729" y="1619300"/>
            <a:ext cx="1321222" cy="390493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17"/>
          <p:cNvSpPr txBox="1"/>
          <p:nvPr>
            <p:custDataLst>
              <p:tags r:id="rId7"/>
            </p:custDataLst>
          </p:nvPr>
        </p:nvSpPr>
        <p:spPr>
          <a:xfrm>
            <a:off x="6605912" y="1614292"/>
            <a:ext cx="12343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行业价值</a:t>
            </a:r>
          </a:p>
        </p:txBody>
      </p:sp>
      <p:sp>
        <p:nvSpPr>
          <p:cNvPr id="12" name="矩形 15"/>
          <p:cNvSpPr/>
          <p:nvPr>
            <p:custDataLst>
              <p:tags r:id="rId8"/>
            </p:custDataLst>
          </p:nvPr>
        </p:nvSpPr>
        <p:spPr>
          <a:xfrm>
            <a:off x="940666" y="1630848"/>
            <a:ext cx="1369437" cy="411802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7"/>
          <p:cNvSpPr txBox="1"/>
          <p:nvPr>
            <p:custDataLst>
              <p:tags r:id="rId9"/>
            </p:custDataLst>
          </p:nvPr>
        </p:nvSpPr>
        <p:spPr>
          <a:xfrm>
            <a:off x="1044058" y="1670014"/>
            <a:ext cx="123435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行业起源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79512" y="724296"/>
            <a:ext cx="8928992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如果社会上没有你们行业可以吗？你们行业的价值是什么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2465" y="1182370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绝对不可以。因为。。。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>
            <p:custDataLst>
              <p:tags r:id="rId1"/>
            </p:custDataLst>
          </p:nvPr>
        </p:nvSpPr>
        <p:spPr>
          <a:xfrm>
            <a:off x="302085" y="1923678"/>
            <a:ext cx="2590800" cy="3061072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50000"/>
              </a:lnSpc>
              <a:defRPr/>
            </a:pPr>
            <a:endParaRPr lang="zh-CN" alt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defTabSz="913765"/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843355" y="1742845"/>
            <a:ext cx="1512168" cy="342932"/>
            <a:chOff x="915" y="2295"/>
            <a:chExt cx="2381" cy="662"/>
          </a:xfrm>
        </p:grpSpPr>
        <p:sp>
          <p:nvSpPr>
            <p:cNvPr id="4" name="矩形 15"/>
            <p:cNvSpPr/>
            <p:nvPr>
              <p:custDataLst>
                <p:tags r:id="rId10"/>
              </p:custDataLst>
            </p:nvPr>
          </p:nvSpPr>
          <p:spPr>
            <a:xfrm>
              <a:off x="915" y="2295"/>
              <a:ext cx="2381" cy="662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17"/>
            <p:cNvSpPr txBox="1"/>
            <p:nvPr>
              <p:custDataLst>
                <p:tags r:id="rId11"/>
              </p:custDataLst>
            </p:nvPr>
          </p:nvSpPr>
          <p:spPr>
            <a:xfrm>
              <a:off x="1208" y="2335"/>
              <a:ext cx="18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客户痛点</a:t>
              </a:r>
            </a:p>
          </p:txBody>
        </p:sp>
      </p:grp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3700740" y="1762298"/>
            <a:ext cx="1458927" cy="351767"/>
            <a:chOff x="5431" y="2295"/>
            <a:chExt cx="2298" cy="679"/>
          </a:xfrm>
        </p:grpSpPr>
        <p:sp>
          <p:nvSpPr>
            <p:cNvPr id="7" name="矩形 15"/>
            <p:cNvSpPr/>
            <p:nvPr>
              <p:custDataLst>
                <p:tags r:id="rId8"/>
              </p:custDataLst>
            </p:nvPr>
          </p:nvSpPr>
          <p:spPr>
            <a:xfrm>
              <a:off x="5431" y="2295"/>
              <a:ext cx="2298" cy="67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5674" y="2307"/>
              <a:ext cx="18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公司价值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" y="704215"/>
            <a:ext cx="8634730" cy="4181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 fontAlgn="base"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PingFang SC Regular" panose="020B0400000000000000" charset="-122"/>
                <a:ea typeface="微软雅黑" panose="020B0503020204020204" charset="-122"/>
              </a:rPr>
              <a:t>三 、</a:t>
            </a:r>
            <a:r>
              <a:rPr lang="zh-CN" sz="1600" b="1" dirty="0">
                <a:solidFill>
                  <a:srgbClr val="FF0000"/>
                </a:solidFill>
                <a:latin typeface="PingFang SC Regular" panose="020B0400000000000000" charset="-122"/>
                <a:ea typeface="微软雅黑" panose="020B0503020204020204" charset="-122"/>
              </a:rPr>
              <a:t>2）这个行业没有你们公司可以吗？你们公司的价值是什么？（要成为哪方面第一名？）</a:t>
            </a:r>
            <a:endParaRPr lang="zh-CN" sz="1600" b="1" dirty="0">
              <a:solidFill>
                <a:schemeClr val="accent2">
                  <a:lumMod val="75000"/>
                </a:schemeClr>
              </a:solidFill>
              <a:latin typeface="PingFang SC Regular" panose="020B0400000000000000" charset="-122"/>
              <a:ea typeface="微软雅黑" panose="020B0503020204020204" charset="-122"/>
            </a:endParaRPr>
          </a:p>
        </p:txBody>
      </p:sp>
      <p:sp>
        <p:nvSpPr>
          <p:cNvPr id="13" name="矩形 15"/>
          <p:cNvSpPr/>
          <p:nvPr>
            <p:custDataLst>
              <p:tags r:id="rId4"/>
            </p:custDataLst>
          </p:nvPr>
        </p:nvSpPr>
        <p:spPr>
          <a:xfrm>
            <a:off x="6670635" y="1706414"/>
            <a:ext cx="1671955" cy="35174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7"/>
          <p:cNvSpPr txBox="1"/>
          <p:nvPr>
            <p:custDataLst>
              <p:tags r:id="rId5"/>
            </p:custDataLst>
          </p:nvPr>
        </p:nvSpPr>
        <p:spPr>
          <a:xfrm>
            <a:off x="6732240" y="1735010"/>
            <a:ext cx="1671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</a:rPr>
              <a:t>成为哪方面第一</a:t>
            </a:r>
          </a:p>
        </p:txBody>
      </p:sp>
      <p:sp>
        <p:nvSpPr>
          <p:cNvPr id="21" name="矩形: 圆角 13"/>
          <p:cNvSpPr/>
          <p:nvPr>
            <p:custDataLst>
              <p:tags r:id="rId6"/>
            </p:custDataLst>
          </p:nvPr>
        </p:nvSpPr>
        <p:spPr>
          <a:xfrm>
            <a:off x="6048375" y="1923678"/>
            <a:ext cx="2791460" cy="3061072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23" name="矩形: 圆角 13"/>
          <p:cNvSpPr/>
          <p:nvPr>
            <p:custDataLst>
              <p:tags r:id="rId7"/>
            </p:custDataLst>
          </p:nvPr>
        </p:nvSpPr>
        <p:spPr>
          <a:xfrm>
            <a:off x="3029585" y="1923678"/>
            <a:ext cx="2820670" cy="3061072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 defTabSz="821690">
              <a:lnSpc>
                <a:spcPct val="120000"/>
              </a:lnSpc>
              <a:defRPr/>
            </a:pPr>
            <a:endParaRPr lang="zh-CN" alt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algn="l" defTabSz="821690"/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528" y="1209525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绝对不可以。因为。。。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06E19-E0D5-3331-516B-CD4F0B3E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E9B1DF-B721-8E5F-8E09-AE7CEC378123}"/>
              </a:ext>
            </a:extLst>
          </p:cNvPr>
          <p:cNvSpPr txBox="1"/>
          <p:nvPr/>
        </p:nvSpPr>
        <p:spPr>
          <a:xfrm>
            <a:off x="48920" y="755305"/>
            <a:ext cx="90686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algn="l" fontAlgn="base"/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三、</a:t>
            </a:r>
            <a:r>
              <a:rPr lang="en-US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你们</a:t>
            </a: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公司</a:t>
            </a:r>
            <a:r>
              <a:rPr lang="zh-CN" altLang="zh-CN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没有你可以吗？你的价值是什么？要成为哪方面的专家？</a:t>
            </a:r>
            <a:endParaRPr lang="zh-CN" altLang="zh-CN" b="1" kern="100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: 圆角 1">
            <a:extLst>
              <a:ext uri="{FF2B5EF4-FFF2-40B4-BE49-F238E27FC236}">
                <a16:creationId xmlns:a16="http://schemas.microsoft.com/office/drawing/2014/main" id="{46A8DAB5-713B-6905-4B27-C802BC7A2B6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754048" y="1876751"/>
            <a:ext cx="2862748" cy="3180483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: 圆角 13">
            <a:extLst>
              <a:ext uri="{FF2B5EF4-FFF2-40B4-BE49-F238E27FC236}">
                <a16:creationId xmlns:a16="http://schemas.microsoft.com/office/drawing/2014/main" id="{797D20DA-EE48-100D-5E31-251F294162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99281" y="1834481"/>
            <a:ext cx="2880319" cy="3222753"/>
          </a:xfrm>
          <a:prstGeom prst="roundRect">
            <a:avLst/>
          </a:prstGeom>
          <a:solidFill>
            <a:schemeClr val="bg1">
              <a:lumMod val="65000"/>
              <a:alpha val="15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913765"/>
            <a:endParaRPr lang="zh-CN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15">
            <a:extLst>
              <a:ext uri="{FF2B5EF4-FFF2-40B4-BE49-F238E27FC236}">
                <a16:creationId xmlns:a16="http://schemas.microsoft.com/office/drawing/2014/main" id="{155A7729-B791-DF55-21C8-ED7A310204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483600" y="1566231"/>
            <a:ext cx="1512168" cy="420362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17">
            <a:extLst>
              <a:ext uri="{FF2B5EF4-FFF2-40B4-BE49-F238E27FC236}">
                <a16:creationId xmlns:a16="http://schemas.microsoft.com/office/drawing/2014/main" id="{75C5795D-6AAD-11E6-AF48-C6A5A9E96F4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627604" y="1606191"/>
            <a:ext cx="13630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个人价值</a:t>
            </a:r>
          </a:p>
        </p:txBody>
      </p:sp>
      <p:sp>
        <p:nvSpPr>
          <p:cNvPr id="10" name="矩形 15">
            <a:extLst>
              <a:ext uri="{FF2B5EF4-FFF2-40B4-BE49-F238E27FC236}">
                <a16:creationId xmlns:a16="http://schemas.microsoft.com/office/drawing/2014/main" id="{23A08F21-B6F3-05EA-9364-1FF85E094C3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87975" y="1494155"/>
            <a:ext cx="1761490" cy="431165"/>
          </a:xfrm>
          <a:prstGeom prst="rect">
            <a:avLst/>
          </a:prstGeom>
          <a:solidFill>
            <a:srgbClr val="F95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9EBDD616-7ACA-7C27-E055-E1FB5D1D01F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87975" y="1539875"/>
            <a:ext cx="1906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</a:rPr>
              <a:t>成为哪方面的专家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4C65EA-2B50-3784-C287-CDF89E630248}"/>
              </a:ext>
            </a:extLst>
          </p:cNvPr>
          <p:cNvSpPr txBox="1"/>
          <p:nvPr/>
        </p:nvSpPr>
        <p:spPr>
          <a:xfrm>
            <a:off x="323215" y="1127125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绝对不可以。因为。。。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02232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705530" y="2431923"/>
            <a:ext cx="4448522" cy="748763"/>
            <a:chOff x="4063538" y="3021215"/>
            <a:chExt cx="5931362" cy="998351"/>
          </a:xfrm>
        </p:grpSpPr>
        <p:sp>
          <p:nvSpPr>
            <p:cNvPr id="10" name="矩形: 圆角 9"/>
            <p:cNvSpPr/>
            <p:nvPr>
              <p:custDataLst>
                <p:tags r:id="rId8"/>
              </p:custDataLst>
            </p:nvPr>
          </p:nvSpPr>
          <p:spPr>
            <a:xfrm>
              <a:off x="4635894" y="3021215"/>
              <a:ext cx="5359006" cy="984885"/>
            </a:xfrm>
            <a:prstGeom prst="roundRect">
              <a:avLst>
                <a:gd name="adj" fmla="val 4000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1" name="矩形: 对角圆角 10"/>
            <p:cNvSpPr/>
            <p:nvPr>
              <p:custDataLst>
                <p:tags r:id="rId9"/>
              </p:custDataLst>
            </p:nvPr>
          </p:nvSpPr>
          <p:spPr>
            <a:xfrm flipH="1">
              <a:off x="4063538" y="3021215"/>
              <a:ext cx="1344539" cy="998351"/>
            </a:xfrm>
            <a:prstGeom prst="round2DiagRect">
              <a:avLst>
                <a:gd name="adj1" fmla="val 40000"/>
                <a:gd name="adj2" fmla="val 0"/>
              </a:avLst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8000">
                  <a:schemeClr val="accent4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0" dist="127000" algn="ctr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latin typeface="+mj-ea"/>
                  <a:ea typeface="+mj-ea"/>
                </a:rPr>
                <a:t>02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2"/>
            </p:custDataLst>
          </p:nvPr>
        </p:nvGrpSpPr>
        <p:grpSpPr>
          <a:xfrm>
            <a:off x="2577738" y="1486239"/>
            <a:ext cx="4448521" cy="753813"/>
            <a:chOff x="4063538" y="3021215"/>
            <a:chExt cx="5931361" cy="1005085"/>
          </a:xfrm>
        </p:grpSpPr>
        <p:sp>
          <p:nvSpPr>
            <p:cNvPr id="24" name="矩形: 圆角 23"/>
            <p:cNvSpPr/>
            <p:nvPr>
              <p:custDataLst>
                <p:tags r:id="rId6"/>
              </p:custDataLst>
            </p:nvPr>
          </p:nvSpPr>
          <p:spPr>
            <a:xfrm>
              <a:off x="4635893" y="3041414"/>
              <a:ext cx="5359006" cy="984886"/>
            </a:xfrm>
            <a:prstGeom prst="roundRect">
              <a:avLst>
                <a:gd name="adj" fmla="val 4000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5" name="矩形: 对角圆角 24"/>
            <p:cNvSpPr/>
            <p:nvPr>
              <p:custDataLst>
                <p:tags r:id="rId7"/>
              </p:custDataLst>
            </p:nvPr>
          </p:nvSpPr>
          <p:spPr>
            <a:xfrm flipH="1">
              <a:off x="4063538" y="3021215"/>
              <a:ext cx="1344539" cy="998351"/>
            </a:xfrm>
            <a:prstGeom prst="round2DiagRect">
              <a:avLst>
                <a:gd name="adj1" fmla="val 40000"/>
                <a:gd name="adj2" fmla="val 0"/>
              </a:avLst>
            </a:prstGeom>
            <a:gradFill flip="none" rotWithShape="1">
              <a:gsLst>
                <a:gs pos="8120">
                  <a:srgbClr val="FFC000"/>
                </a:gs>
                <a:gs pos="100000">
                  <a:schemeClr val="accent4">
                    <a:lumMod val="60000"/>
                    <a:lumOff val="40000"/>
                  </a:schemeClr>
                </a:gs>
                <a:gs pos="18000">
                  <a:srgbClr val="FFC00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0" dist="127000" algn="ctr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latin typeface="+mj-ea"/>
                  <a:ea typeface="+mj-ea"/>
                </a:rPr>
                <a:t>01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3"/>
            </p:custDataLst>
          </p:nvPr>
        </p:nvGrpSpPr>
        <p:grpSpPr>
          <a:xfrm>
            <a:off x="2577738" y="3382253"/>
            <a:ext cx="4448522" cy="748763"/>
            <a:chOff x="4063538" y="3021215"/>
            <a:chExt cx="5931362" cy="998351"/>
          </a:xfrm>
        </p:grpSpPr>
        <p:sp>
          <p:nvSpPr>
            <p:cNvPr id="27" name="矩形: 圆角 26"/>
            <p:cNvSpPr/>
            <p:nvPr>
              <p:custDataLst>
                <p:tags r:id="rId4"/>
              </p:custDataLst>
            </p:nvPr>
          </p:nvSpPr>
          <p:spPr>
            <a:xfrm>
              <a:off x="4635894" y="3021215"/>
              <a:ext cx="5359006" cy="984885"/>
            </a:xfrm>
            <a:prstGeom prst="roundRect">
              <a:avLst>
                <a:gd name="adj" fmla="val 4000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127000" algn="ctr" rotWithShape="0">
                <a:schemeClr val="bg2">
                  <a:lumMod val="9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矩形: 对角圆角 27"/>
            <p:cNvSpPr/>
            <p:nvPr>
              <p:custDataLst>
                <p:tags r:id="rId5"/>
              </p:custDataLst>
            </p:nvPr>
          </p:nvSpPr>
          <p:spPr>
            <a:xfrm flipH="1">
              <a:off x="4063538" y="3021215"/>
              <a:ext cx="1344539" cy="998351"/>
            </a:xfrm>
            <a:prstGeom prst="round2DiagRect">
              <a:avLst>
                <a:gd name="adj1" fmla="val 40000"/>
                <a:gd name="adj2" fmla="val 0"/>
              </a:avLst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18000">
                  <a:schemeClr val="accent4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254000" dist="127000" algn="ctr" rotWithShape="0">
                <a:schemeClr val="accent4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latin typeface="+mj-ea"/>
                  <a:ea typeface="+mj-ea"/>
                </a:rPr>
                <a:t>03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95605" y="821690"/>
            <a:ext cx="818705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algn="l" fontAlgn="base"/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四、公司要想</a:t>
            </a:r>
            <a:r>
              <a:rPr lang="zh-CN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成为某方面第一名的过程中，最重要的几件事是什么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？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其中，什么</a:t>
            </a:r>
            <a:r>
              <a:rPr lang="zh-CN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rPr>
              <a:t>你当下最有价值的事？</a:t>
            </a:r>
            <a:endParaRPr lang="zh-CN" altLang="zh-CN" sz="1600" b="1" kern="100" dirty="0">
              <a:solidFill>
                <a:srgbClr val="FF0000"/>
              </a:solidFill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68144" y="4598769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3070" y="4371975"/>
            <a:ext cx="3152775" cy="4470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当下最有价值的事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95536" y="1347614"/>
            <a:ext cx="8813165" cy="4996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故事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699542"/>
            <a:ext cx="8964488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66700" fontAlgn="base">
              <a:defRPr sz="1600" b="1" kern="10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sym typeface="+mn-ea"/>
              </a:rPr>
              <a:t>五、今天你把当下哪件有价值的事做到极致完美</a:t>
            </a:r>
            <a:r>
              <a:rPr lang="en-US" altLang="zh-CN" sz="2000" dirty="0">
                <a:sym typeface="+mn-ea"/>
              </a:rPr>
              <a:t>，</a:t>
            </a:r>
            <a:r>
              <a:rPr lang="zh-CN" altLang="en-US" sz="2000" dirty="0">
                <a:sym typeface="+mn-ea"/>
              </a:rPr>
              <a:t>并体验到在工作中修行</a:t>
            </a:r>
            <a:r>
              <a:rPr lang="en-US" altLang="zh-CN" sz="2000" dirty="0">
                <a:sym typeface="+mn-ea"/>
              </a:rPr>
              <a:t>？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0C382C5-EE4B-D401-783A-ED0611E8813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3528" y="1225234"/>
            <a:ext cx="8352928" cy="3650771"/>
          </a:xfrm>
          <a:prstGeom prst="roundRect">
            <a:avLst/>
          </a:prstGeom>
          <a:solidFill>
            <a:srgbClr val="FF9900">
              <a:alpha val="15000"/>
            </a:srgbClr>
          </a:solidFill>
          <a:ln w="12700" cap="flat">
            <a:noFill/>
            <a:miter lim="4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defTabSz="821690">
              <a:lnSpc>
                <a:spcPct val="130000"/>
              </a:lnSpc>
            </a:pPr>
            <a:endParaRPr lang="en-US" sz="1000" spc="300" dirty="0">
              <a:solidFill>
                <a:schemeClr val="tx1"/>
              </a:solidFill>
              <a:latin typeface="+mn-ea"/>
              <a:cs typeface="+mn-ea"/>
              <a:sym typeface="Nokia Font YanTi"/>
            </a:endParaRPr>
          </a:p>
          <a:p>
            <a:pPr defTabSz="821690">
              <a:lnSpc>
                <a:spcPct val="130000"/>
              </a:lnSpc>
            </a:pPr>
            <a:r>
              <a:rPr lang="en-US" altLang="zh-CN" sz="1000" spc="300" dirty="0">
                <a:solidFill>
                  <a:schemeClr val="tx1"/>
                </a:solidFill>
                <a:latin typeface="+mn-ea"/>
                <a:cs typeface="+mn-ea"/>
                <a:sym typeface="Nokia Font YanTi"/>
              </a:rPr>
              <a:t>   </a:t>
            </a:r>
            <a:endParaRPr lang="zh-CN" altLang="en-US" sz="1000" b="1" dirty="0">
              <a:solidFill>
                <a:srgbClr val="FF0066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明确使命模板</a:t>
            </a: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70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|成功方程式|</a:t>
            </a: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9248,3312345,3312170,3314342,3312447,3316064,3313612]}"/>
  <p:tag name="COMMONDATA" val="eyJoZGlkIjoiMzJiMGIxOGY3OTNjNTk5YmM0MGJmOGNhNzcyNmI5O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062992125984,&quot;left&quot;:42.444566929133856,&quot;top&quot;:85.39370078740157,&quot;width&quot;:624.555433070866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  <p:tag name="KSO_WM_DIAGRAM_VIRTUALLY_FRAME" val="{&quot;height&quot;:283.15,&quot;left&quot;:22.15,&quot;top&quot;:110.2,&quot;width&quot;:669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83.15,&quot;left&quot;:22.15,&quot;top&quot;:110.2,&quot;width&quot;:669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  <p:tag name="KSO_WM_DIAGRAM_VIRTUALLY_FRAME" val="{&quot;height&quot;:283.15,&quot;left&quot;:22.15,&quot;top&quot;:110.2,&quot;width&quot;:669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8325984251968,&quot;left&quot;:14.575669291338581,&quot;top&quot;:111.96740157480315,&quot;width&quot;:694.798661417322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53999999999996,&quot;left&quot;:6.025669291338582,&quot;top&quot;:109.06740157480314,&quot;width&quot;:707.948661417322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2892125984252,&quot;left&quot;:27.303543307086603,&quot;top&quot;:100.07669291338581,&quot;width&quot;:525.945275590551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1677165354332,&quot;left&quot;:20.628425196850394,&quot;top&quot;:127.1096062992126,&quot;width&quot;:675.1371653543307}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351</Words>
  <Application>Microsoft Office PowerPoint</Application>
  <PresentationFormat>全屏显示(16:9)</PresentationFormat>
  <Paragraphs>53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Avenir Next Medium</vt:lpstr>
      <vt:lpstr>PingFang SC Regular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经营者版  X班X组 宣讲人：XXX 日期：2026-06-xx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阳 杨</cp:lastModifiedBy>
  <cp:revision>819</cp:revision>
  <dcterms:created xsi:type="dcterms:W3CDTF">2025-06-10T06:30:00Z</dcterms:created>
  <dcterms:modified xsi:type="dcterms:W3CDTF">2026-08-12T15:28:10Z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365EFBC2E93648D5A4D2F2EABF8126C6_13</vt:lpwstr>
  </property>
</Properties>
</file>