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723" r:id="rId2"/>
    <p:sldId id="9945" r:id="rId3"/>
    <p:sldId id="9946" r:id="rId4"/>
    <p:sldId id="9865" r:id="rId5"/>
    <p:sldId id="9606" r:id="rId6"/>
    <p:sldId id="9949" r:id="rId7"/>
    <p:sldId id="9997" r:id="rId8"/>
    <p:sldId id="9995" r:id="rId9"/>
    <p:sldId id="9996" r:id="rId10"/>
    <p:sldId id="256" r:id="rId11"/>
    <p:sldId id="9932" r:id="rId12"/>
    <p:sldId id="9933" r:id="rId13"/>
    <p:sldId id="9969" r:id="rId14"/>
    <p:sldId id="9989" r:id="rId15"/>
    <p:sldId id="9991" r:id="rId16"/>
    <p:sldId id="9993" r:id="rId17"/>
    <p:sldId id="9994" r:id="rId18"/>
    <p:sldId id="9979" r:id="rId19"/>
    <p:sldId id="9939" r:id="rId20"/>
  </p:sldIdLst>
  <p:sldSz cx="9144000" cy="5143500" type="screen16x9"/>
  <p:notesSz cx="6858000" cy="9144000"/>
  <p:custDataLst>
    <p:tags r:id="rId2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1770" userDrawn="1">
          <p15:clr>
            <a:srgbClr val="A4A3A4"/>
          </p15:clr>
        </p15:guide>
        <p15:guide id="2" pos="27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林 娜" initials="林" lastIdx="1" clrIdx="4"/>
  <p:cmAuthor id="6" name="Administrator" initials="A" lastIdx="1" clrIdx="5"/>
  <p:cmAuthor id="7" name="266369" initials="2" lastIdx="1" clrIdx="6"/>
  <p:cmAuthor id="8" name="陆彦蓉" initials="陆" lastIdx="1" clrIdx="7"/>
  <p:cmAuthor id="9" name="zhu" initials="z" lastIdx="1" clrIdx="0"/>
  <p:cmAuthor id="10" name="d'f" initials="d" lastIdx="1" clrIdx="9"/>
  <p:cmAuthor id="11" name="地 瓜" initials="地" lastIdx="1" clrIdx="1"/>
  <p:cmAuthor id="12" name="LEGION" initials="L" lastIdx="1" clrIdx="11"/>
  <p:cmAuthor id="13" name="0160278" initials="0" lastIdx="0" clrIdx="1"/>
  <p:cmAuthor id="75" name="作者" initials="A" lastIdx="0" clrIdx="24"/>
  <p:cmAuthor id="76" name="37786632@qq.com" initials="" lastIdx="3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0066"/>
    <a:srgbClr val="00FF00"/>
    <a:srgbClr val="CC66FF"/>
    <a:srgbClr val="FF66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17" d="100"/>
          <a:sy n="117" d="100"/>
        </p:scale>
        <p:origin x="162" y="54"/>
      </p:cViewPr>
      <p:guideLst>
        <p:guide orient="horz" pos="1770"/>
        <p:guide pos="278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8113" y="744538"/>
            <a:ext cx="6619875" cy="3724275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161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979" tIns="45990" rIns="91979" bIns="4599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116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05250" y="9431338"/>
            <a:ext cx="2987675" cy="496887"/>
          </a:xfrm>
          <a:prstGeom prst="rect">
            <a:avLst/>
          </a:prstGeom>
          <a:noFill/>
          <a:ln w="9525">
            <a:noFill/>
          </a:ln>
        </p:spPr>
        <p:txBody>
          <a:bodyPr lIns="91979" tIns="45990" rIns="91979" bIns="45990" anchor="b" anchorCtr="0"/>
          <a:lstStyle/>
          <a:p>
            <a:pPr lvl="0" algn="r" defTabSz="919480" eaLnBrk="1" hangingPunct="1">
              <a:buChar char="•"/>
            </a:pPr>
            <a:r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*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5d529af2-5332-42f8-80df-57a1784a11d8.source.4.zh-Hans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2026/8/15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81955" y="4789627"/>
            <a:ext cx="233396" cy="230832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2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795"/>
            <a:ext cx="9144000" cy="5163820"/>
          </a:xfrm>
          <a:prstGeom prst="rect">
            <a:avLst/>
          </a:prstGeom>
        </p:spPr>
      </p:pic>
      <p:sp>
        <p:nvSpPr>
          <p:cNvPr id="95" name="标题 1"/>
          <p:cNvSpPr txBox="1"/>
          <p:nvPr/>
        </p:nvSpPr>
        <p:spPr>
          <a:xfrm>
            <a:off x="1188085" y="1059180"/>
            <a:ext cx="6331585" cy="76835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b="1"/>
              <a:t>【使命血肉化训练营】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608772" y="3651870"/>
            <a:ext cx="5490210" cy="1321435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00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【</a:t>
            </a: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部门级</a:t>
            </a:r>
            <a: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】</a:t>
            </a: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班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组</a:t>
            </a:r>
            <a:b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宣讲人：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XXX</a:t>
            </a:r>
            <a:b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</a:br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日期：</a:t>
            </a:r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2026-06-xx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827708" y="2139086"/>
            <a:ext cx="7488708" cy="95410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sz="2800" b="1" dirty="0">
                <a:sym typeface="+mn-ea"/>
              </a:rPr>
              <a:t>第</a:t>
            </a:r>
            <a:r>
              <a:rPr lang="zh-CN" altLang="en-US" sz="2800" b="1" dirty="0">
                <a:sym typeface="+mn-ea"/>
              </a:rPr>
              <a:t>三</a:t>
            </a:r>
            <a:r>
              <a:rPr sz="2800" b="1" dirty="0">
                <a:sym typeface="+mn-ea"/>
              </a:rPr>
              <a:t>周</a:t>
            </a:r>
            <a:r>
              <a:rPr lang="zh-CN" sz="2800" b="1" dirty="0" err="1">
                <a:sym typeface="+mn-ea"/>
              </a:rPr>
              <a:t>课题</a:t>
            </a:r>
            <a:endParaRPr sz="2800" b="1" dirty="0" err="1">
              <a:sym typeface="+mn-ea"/>
            </a:endParaRPr>
          </a:p>
          <a:p>
            <a:r>
              <a:rPr lang="zh-CN" altLang="en-US" sz="2800" b="1" dirty="0">
                <a:sym typeface="+mn-ea"/>
              </a:rPr>
              <a:t>使命的力量：幸福</a:t>
            </a:r>
            <a:r>
              <a:rPr lang="zh-CN" altLang="zh-CN" sz="2800" b="1" dirty="0"/>
              <a:t>观</a:t>
            </a:r>
            <a:r>
              <a:rPr lang="en-US" sz="2800" b="1" dirty="0">
                <a:sym typeface="+mn-ea"/>
              </a:rPr>
              <a:t>——</a:t>
            </a:r>
            <a:r>
              <a:rPr lang="zh-CN" altLang="zh-CN" sz="2800" b="1" dirty="0"/>
              <a:t>建立</a:t>
            </a:r>
            <a:r>
              <a:rPr lang="zh-CN" altLang="en-US" sz="2800" b="1" dirty="0"/>
              <a:t>员工</a:t>
            </a:r>
            <a:r>
              <a:rPr lang="zh-CN" altLang="zh-CN" sz="2800" b="1" dirty="0"/>
              <a:t>幸福的体系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552" y="771981"/>
            <a:ext cx="756084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一、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一分钟自我介绍（主题：使命的力量）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（标准：完整讲清楚并吸引听众——面向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员工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。）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0F8EDB-8EB2-83BF-07B9-C89F7B8EC942}"/>
              </a:ext>
            </a:extLst>
          </p:cNvPr>
          <p:cNvSpPr txBox="1"/>
          <p:nvPr/>
        </p:nvSpPr>
        <p:spPr>
          <a:xfrm>
            <a:off x="539552" y="1563638"/>
            <a:ext cx="1478929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1)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、你是谁？</a:t>
            </a:r>
          </a:p>
        </p:txBody>
      </p:sp>
    </p:spTree>
  </p:cSld>
  <p:clrMapOvr>
    <a:masterClrMapping/>
  </p:clrMapOvr>
  <p:transition spd="slow" advClick="0" advTm="5000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39115" y="771525"/>
            <a:ext cx="4702175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2)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sz="20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为什么我要听你讲</a:t>
            </a:r>
            <a:r>
              <a:rPr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？</a:t>
            </a:r>
            <a:endParaRPr kumimoji="0" lang="zh-CN" altLang="en-US" sz="2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" name="矩形 14"/>
          <p:cNvSpPr/>
          <p:nvPr/>
        </p:nvSpPr>
        <p:spPr>
          <a:xfrm>
            <a:off x="539046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314190" y="1175421"/>
            <a:ext cx="1748270" cy="369475"/>
            <a:chOff x="1209415" y="1175421"/>
            <a:chExt cx="1748270" cy="369475"/>
          </a:xfrm>
        </p:grpSpPr>
        <p:sp>
          <p:nvSpPr>
            <p:cNvPr id="3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前</a:t>
              </a:r>
            </a:p>
          </p:txBody>
        </p:sp>
      </p:grpSp>
      <p:sp>
        <p:nvSpPr>
          <p:cNvPr id="12" name="燕尾形箭头 9"/>
          <p:cNvSpPr/>
          <p:nvPr/>
        </p:nvSpPr>
        <p:spPr>
          <a:xfrm flipV="1">
            <a:off x="4116070" y="2860040"/>
            <a:ext cx="623570" cy="434975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003289" y="1373622"/>
            <a:ext cx="3456384" cy="371840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724128" y="1170860"/>
            <a:ext cx="1748270" cy="369475"/>
            <a:chOff x="1209415" y="1175421"/>
            <a:chExt cx="1748270" cy="369475"/>
          </a:xfrm>
        </p:grpSpPr>
        <p:sp>
          <p:nvSpPr>
            <p:cNvPr id="18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    后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47065" y="3761105"/>
            <a:ext cx="3240405" cy="11880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4067810" y="1779270"/>
            <a:ext cx="830580" cy="7766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r>
              <a:rPr kumimoji="0" 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关键时间节点（写使命生发的契机）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8917" y="699720"/>
            <a:ext cx="4680520" cy="505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、听你讲对我有什么好处？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3分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26963" y="1491630"/>
            <a:ext cx="6912768" cy="3024336"/>
            <a:chOff x="4317719" y="1130300"/>
            <a:chExt cx="3526877" cy="2446275"/>
          </a:xfrm>
        </p:grpSpPr>
        <p:sp>
          <p:nvSpPr>
            <p:cNvPr id="12" name="2"/>
            <p:cNvSpPr/>
            <p:nvPr>
              <p:custDataLst>
                <p:tags r:id="rId1"/>
              </p:custDataLst>
            </p:nvPr>
          </p:nvSpPr>
          <p:spPr>
            <a:xfrm>
              <a:off x="4317719" y="1130300"/>
              <a:ext cx="3526877" cy="2446275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Body-2"/>
            <p:cNvSpPr txBox="1"/>
            <p:nvPr>
              <p:custDataLst>
                <p:tags r:id="rId2"/>
              </p:custDataLst>
            </p:nvPr>
          </p:nvSpPr>
          <p:spPr>
            <a:xfrm>
              <a:off x="4443161" y="1712738"/>
              <a:ext cx="3193282" cy="334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Title-2"/>
            <p:cNvSpPr/>
            <p:nvPr>
              <p:custDataLst>
                <p:tags r:id="rId3"/>
              </p:custDataLst>
            </p:nvPr>
          </p:nvSpPr>
          <p:spPr>
            <a:xfrm>
              <a:off x="5622572" y="1226245"/>
              <a:ext cx="834460" cy="378932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员工</a:t>
              </a:r>
            </a:p>
          </p:txBody>
        </p:sp>
      </p:grp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79512" y="1232505"/>
            <a:ext cx="8136904" cy="2314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304800">
              <a:lnSpc>
                <a:spcPct val="150000"/>
              </a:lnSpc>
              <a:spcBef>
                <a:spcPts val="800"/>
              </a:spcBef>
            </a:pPr>
            <a:endParaRPr lang="zh-CN" altLang="en-US" sz="1150" b="1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75656" y="2427734"/>
            <a:ext cx="7810500" cy="1383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使命的力量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lt"/>
              </a:rPr>
              <a:t>——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lt"/>
              </a:rPr>
              <a:t>建立员工幸福的体系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39115" y="843280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4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、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宣讲的主题：</a:t>
            </a:r>
            <a:endParaRPr kumimoji="0" lang="zh-CN" altLang="en-US" sz="1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99127" y="1692936"/>
            <a:ext cx="3816444" cy="5232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我今天宣讲的主题是：</a:t>
            </a:r>
            <a:endParaRPr kumimoji="0" lang="zh-CN" sz="2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701675"/>
            <a:ext cx="8442960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2000" dirty="0"/>
              <a:t>二、你企业的使命是什么</a:t>
            </a:r>
            <a:r>
              <a:rPr lang="en-US" altLang="zh-CN" sz="2000" dirty="0"/>
              <a:t>+2</a:t>
            </a:r>
            <a:r>
              <a:rPr lang="zh-CN" altLang="en-US" sz="2000" dirty="0"/>
              <a:t>？使命的诠释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愿景是什么</a:t>
            </a:r>
            <a:r>
              <a:rPr lang="en-US" altLang="zh-CN" sz="2000" dirty="0"/>
              <a:t>+1</a:t>
            </a:r>
            <a:r>
              <a:rPr lang="zh-CN" altLang="en-US" sz="2000" dirty="0"/>
              <a:t>？愿景的诠释</a:t>
            </a:r>
            <a:r>
              <a:rPr lang="en-US" altLang="zh-CN" sz="2000" dirty="0"/>
              <a:t>+1</a:t>
            </a:r>
            <a:r>
              <a:rPr lang="zh-CN" altLang="en-US" sz="2000" dirty="0"/>
              <a:t>？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C3F00433-6547-DCCC-2634-D0C1B797E4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81305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1">
              <a:alpha val="10000"/>
            </a:scheme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-1">
            <a:extLst>
              <a:ext uri="{FF2B5EF4-FFF2-40B4-BE49-F238E27FC236}">
                <a16:creationId xmlns:a16="http://schemas.microsoft.com/office/drawing/2014/main" id="{2D4ED7E4-741A-56A9-C109-8348F65BE0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378455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</a:rPr>
              <a:t>公司使命</a:t>
            </a:r>
          </a:p>
        </p:txBody>
      </p:sp>
      <p:sp>
        <p:nvSpPr>
          <p:cNvPr id="7" name="2">
            <a:extLst>
              <a:ext uri="{FF2B5EF4-FFF2-40B4-BE49-F238E27FC236}">
                <a16:creationId xmlns:a16="http://schemas.microsoft.com/office/drawing/2014/main" id="{6068942E-F899-FFE9-076F-0C95426E162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610730" y="1399540"/>
            <a:ext cx="4165340" cy="3548474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itle-2">
            <a:extLst>
              <a:ext uri="{FF2B5EF4-FFF2-40B4-BE49-F238E27FC236}">
                <a16:creationId xmlns:a16="http://schemas.microsoft.com/office/drawing/2014/main" id="{84531EFB-0A48-552B-F1F1-B65913CE39F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07880" y="1500648"/>
            <a:ext cx="1971037" cy="549664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b="1" dirty="0">
                <a:solidFill>
                  <a:srgbClr val="FFFFFF"/>
                </a:solidFill>
                <a:latin typeface="+mn-ea"/>
                <a:sym typeface="+mn-ea"/>
              </a:rPr>
              <a:t>诠释关键词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7360" y="728345"/>
            <a:ext cx="1453515" cy="312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lnSpc>
                <a:spcPct val="80000"/>
              </a:lnSpc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部门使命：</a:t>
            </a:r>
          </a:p>
        </p:txBody>
      </p:sp>
      <p:sp>
        <p:nvSpPr>
          <p:cNvPr id="41" name="1"/>
          <p:cNvSpPr/>
          <p:nvPr>
            <p:custDataLst>
              <p:tags r:id="rId1"/>
            </p:custDataLst>
          </p:nvPr>
        </p:nvSpPr>
        <p:spPr>
          <a:xfrm>
            <a:off x="638175" y="1131570"/>
            <a:ext cx="8011795" cy="781050"/>
          </a:xfrm>
          <a:prstGeom prst="roundRect">
            <a:avLst>
              <a:gd name="adj" fmla="val 5900"/>
            </a:avLst>
          </a:prstGeom>
          <a:solidFill>
            <a:schemeClr val="accent1">
              <a:alpha val="10000"/>
            </a:scheme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1665" y="1177925"/>
            <a:ext cx="7847330" cy="661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</a:t>
            </a:r>
            <a:endParaRPr kumimoji="0" lang="en-US" altLang="en-US" sz="1400" b="0" i="0" u="none" strike="noStrike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8" name="Body-1"/>
          <p:cNvSpPr txBox="1"/>
          <p:nvPr>
            <p:custDataLst>
              <p:tags r:id="rId2"/>
            </p:custDataLst>
          </p:nvPr>
        </p:nvSpPr>
        <p:spPr>
          <a:xfrm>
            <a:off x="3528060" y="2981325"/>
            <a:ext cx="2077085" cy="1472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defTabSz="914400">
              <a:lnSpc>
                <a:spcPct val="150000"/>
              </a:lnSpc>
              <a:defRPr/>
            </a:pPr>
            <a:endParaRPr lang="zh-CN" altLang="en-US" sz="1200" b="1" dirty="0">
              <a:latin typeface="+mj-ea"/>
              <a:ea typeface="+mj-ea"/>
              <a:sym typeface="Nokia Font YanTi"/>
            </a:endParaRPr>
          </a:p>
        </p:txBody>
      </p:sp>
      <p:sp>
        <p:nvSpPr>
          <p:cNvPr id="9" name="Body-1"/>
          <p:cNvSpPr txBox="1"/>
          <p:nvPr>
            <p:custDataLst>
              <p:tags r:id="rId3"/>
            </p:custDataLst>
          </p:nvPr>
        </p:nvSpPr>
        <p:spPr>
          <a:xfrm>
            <a:off x="6512560" y="3003550"/>
            <a:ext cx="2059940" cy="1570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821690">
              <a:lnSpc>
                <a:spcPct val="140000"/>
              </a:lnSpc>
              <a:defRPr/>
            </a:pP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Nokia Font YanT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5605" y="2499995"/>
            <a:ext cx="3355975" cy="367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部门使命诠释（关键词诠释）</a:t>
            </a:r>
          </a:p>
        </p:txBody>
      </p:sp>
      <p:sp>
        <p:nvSpPr>
          <p:cNvPr id="2" name="1">
            <a:extLst>
              <a:ext uri="{FF2B5EF4-FFF2-40B4-BE49-F238E27FC236}">
                <a16:creationId xmlns:a16="http://schemas.microsoft.com/office/drawing/2014/main" id="{F9695AFF-383B-0F4A-F9F8-1CDC63E709C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21665" y="3075806"/>
            <a:ext cx="8011795" cy="1570355"/>
          </a:xfrm>
          <a:prstGeom prst="roundRect">
            <a:avLst>
              <a:gd name="adj" fmla="val 5900"/>
            </a:avLst>
          </a:prstGeom>
          <a:solidFill>
            <a:srgbClr val="FFC000">
              <a:alpha val="10000"/>
            </a:srgbClr>
          </a:solidFill>
          <a:ln w="12700" cap="rnd"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049" y="865035"/>
            <a:ext cx="8361902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公司愿景：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5573" y="1419923"/>
            <a:ext cx="8160721" cy="2855121"/>
            <a:chOff x="996671" y="1847280"/>
            <a:chExt cx="3268305" cy="3088043"/>
          </a:xfrm>
        </p:grpSpPr>
        <p:grpSp>
          <p:nvGrpSpPr>
            <p:cNvPr id="8" name="组合 7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5" name="1"/>
              <p:cNvSpPr/>
              <p:nvPr>
                <p:custDataLst>
                  <p:tags r:id="rId5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4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1"/>
              <p:cNvSpPr/>
              <p:nvPr>
                <p:custDataLst>
                  <p:tags r:id="rId6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公司愿景</a:t>
                </a:r>
              </a:p>
            </p:txBody>
          </p:sp>
          <p:sp>
            <p:nvSpPr>
              <p:cNvPr id="17" name="Body-1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10" name="2"/>
              <p:cNvSpPr/>
              <p:nvPr>
                <p:custDataLst>
                  <p:tags r:id="rId2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3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愿景诠释（关键词诠释）</a:t>
                </a:r>
              </a:p>
            </p:txBody>
          </p:sp>
          <p:sp>
            <p:nvSpPr>
              <p:cNvPr id="12" name="Body-2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049" y="865035"/>
            <a:ext cx="8361902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部门愿景：</a:t>
            </a:r>
          </a:p>
        </p:txBody>
      </p:sp>
      <p:grpSp>
        <p:nvGrpSpPr>
          <p:cNvPr id="2" name="组合 1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3168" y="1347533"/>
            <a:ext cx="8533137" cy="2855281"/>
            <a:chOff x="996671" y="1847280"/>
            <a:chExt cx="3417455" cy="3088216"/>
          </a:xfrm>
        </p:grpSpPr>
        <p:grpSp>
          <p:nvGrpSpPr>
            <p:cNvPr id="4" name="组合 3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5" name="1"/>
              <p:cNvSpPr/>
              <p:nvPr>
                <p:custDataLst>
                  <p:tags r:id="rId4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b="1" spc="300" dirty="0">
                  <a:solidFill>
                    <a:schemeClr val="tx1"/>
                  </a:solidFill>
                  <a:latin typeface="+mn-ea"/>
                  <a:cs typeface="阿里巴巴普惠体" panose="00020600040101010101" pitchFamily="18" charset="-122"/>
                  <a:sym typeface="Nokia Font YanTi"/>
                </a:endParaRPr>
              </a:p>
            </p:txBody>
          </p:sp>
          <p:sp>
            <p:nvSpPr>
              <p:cNvPr id="7" name="Title-1"/>
              <p:cNvSpPr/>
              <p:nvPr>
                <p:custDataLst>
                  <p:tags r:id="rId5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部门愿景</a:t>
                </a:r>
              </a:p>
            </p:txBody>
          </p:sp>
          <p:sp>
            <p:nvSpPr>
              <p:cNvPr id="13" name="Body-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2628342" y="1862738"/>
              <a:ext cx="1785784" cy="3072758"/>
              <a:chOff x="2628342" y="1862738"/>
              <a:chExt cx="1785784" cy="3072758"/>
            </a:xfrm>
          </p:grpSpPr>
          <p:sp>
            <p:nvSpPr>
              <p:cNvPr id="18" name="2"/>
              <p:cNvSpPr/>
              <p:nvPr>
                <p:custDataLst>
                  <p:tags r:id="rId2"/>
                </p:custDataLst>
              </p:nvPr>
            </p:nvSpPr>
            <p:spPr>
              <a:xfrm>
                <a:off x="2633175" y="2395009"/>
                <a:ext cx="1780951" cy="2540487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indent="0" algn="l" defTabSz="821690" rtl="0" eaLnBrk="1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lang="zh-CN" altLang="en-US" sz="1400" b="1" spc="300" dirty="0">
                  <a:solidFill>
                    <a:schemeClr val="tx1"/>
                  </a:solidFill>
                  <a:latin typeface="+mn-ea"/>
                  <a:cs typeface="阿里巴巴普惠体" panose="00020600040101010101" pitchFamily="18" charset="-122"/>
                  <a:sym typeface="Nokia Font YanTi"/>
                </a:endParaRPr>
              </a:p>
            </p:txBody>
          </p:sp>
          <p:sp>
            <p:nvSpPr>
              <p:cNvPr id="19" name="Title-2"/>
              <p:cNvSpPr/>
              <p:nvPr>
                <p:custDataLst>
                  <p:tags r:id="rId3"/>
                </p:custDataLst>
              </p:nvPr>
            </p:nvSpPr>
            <p:spPr>
              <a:xfrm>
                <a:off x="2628342" y="1862738"/>
                <a:ext cx="1785783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kumimoji="0" lang="zh-CN" altLang="en-US" sz="1800" b="1" i="0" u="none" strike="noStrike" kern="1200" cap="none" spc="0" normalizeH="0" baseline="0" dirty="0"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愿景诠释</a:t>
                </a:r>
                <a:r>
                  <a:rPr kumimoji="0" lang="zh-CN" altLang="en-US" sz="1800" b="1" i="0" u="none" strike="noStrike" kern="1200" cap="none" spc="0" normalizeH="0" baseline="0" dirty="0"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zh-CN" altLang="en-US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微软雅黑" panose="020B0503020204020204" charset="-122"/>
                    <a:cs typeface="Times New Roman" panose="02020603050405020304" pitchFamily="18" charset="0"/>
                    <a:sym typeface="+mn-ea"/>
                  </a:rPr>
                  <a:t>关键词诠释）</a:t>
                </a:r>
                <a:endParaRPr kumimoji="0" lang="zh-CN" altLang="en-US" sz="1800" b="1" i="0" u="none" strike="noStrike" kern="100" cap="none" spc="0" normalizeH="0" baseline="0" dirty="0"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2"/>
          <p:cNvSpPr/>
          <p:nvPr>
            <p:custDataLst>
              <p:tags r:id="rId1"/>
            </p:custDataLst>
          </p:nvPr>
        </p:nvSpPr>
        <p:spPr>
          <a:xfrm>
            <a:off x="539750" y="1279525"/>
            <a:ext cx="8118475" cy="360807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indent="0" algn="l" defTabSz="26670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物质幸福：（写五条）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marL="0" indent="0" algn="l" defTabSz="266700">
              <a:lnSpc>
                <a:spcPct val="130000"/>
              </a:lnSpc>
            </a:pPr>
            <a:r>
              <a:rPr lang="en-US" altLang="zh-CN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i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endParaRPr lang="zh-CN" altLang="en-US" sz="1400" i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 defTabSz="26670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精神幸福：（写五条）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  <a:p>
            <a:pPr defTabSz="266700">
              <a:lnSpc>
                <a:spcPct val="13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1460" y="802640"/>
            <a:ext cx="818705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algn="l" fontAlgn="base"/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三、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）为什么想让员工幸福的十条理由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9383" y="699646"/>
            <a:ext cx="7793676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fontAlgn="base"/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）为什么想让员工幸福的发心故事</a:t>
            </a:r>
            <a:r>
              <a:rPr lang="en-US" altLang="zh-CN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</a:p>
        </p:txBody>
      </p:sp>
      <p:sp>
        <p:nvSpPr>
          <p:cNvPr id="28" name="4"/>
          <p:cNvSpPr/>
          <p:nvPr>
            <p:custDataLst>
              <p:tags r:id="rId1"/>
            </p:custDataLst>
          </p:nvPr>
        </p:nvSpPr>
        <p:spPr>
          <a:xfrm>
            <a:off x="560070" y="1346200"/>
            <a:ext cx="7036266" cy="3714115"/>
          </a:xfrm>
          <a:prstGeom prst="roundRect">
            <a:avLst>
              <a:gd name="adj" fmla="val 5900"/>
            </a:avLst>
          </a:prstGeom>
          <a:solidFill>
            <a:schemeClr val="accent4">
              <a:alpha val="10000"/>
            </a:schemeClr>
          </a:solidFill>
          <a:ln w="12700" cap="rnd"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                                                  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261" y="1532255"/>
            <a:ext cx="7561148" cy="34651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sym typeface="+mn-ea"/>
              </a:rPr>
              <a:t>       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ea"/>
              <a:ea typeface="+mn-ea"/>
              <a:cs typeface="+mn-cs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51720" y="1177607"/>
            <a:ext cx="3946390" cy="337185"/>
          </a:xfrm>
          <a:prstGeom prst="rect">
            <a:avLst/>
          </a:prstGeom>
          <a:solidFill>
            <a:srgbClr val="F9592A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sym typeface="+mn-ea"/>
              </a:rPr>
              <a:t> </a:t>
            </a:r>
            <a:endParaRPr lang="zh-CN" altLang="en-US" sz="1600" b="1" dirty="0">
              <a:solidFill>
                <a:schemeClr val="bg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C1373F-A32E-D2CD-B113-CC95A22D7B4B}"/>
              </a:ext>
            </a:extLst>
          </p:cNvPr>
          <p:cNvSpPr txBox="1"/>
          <p:nvPr/>
        </p:nvSpPr>
        <p:spPr>
          <a:xfrm>
            <a:off x="7805101" y="2067694"/>
            <a:ext cx="1311275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可配图片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图文并茂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增强画面感 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ea"/>
              <a:ea typeface="+mj-ea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215" y="771525"/>
            <a:ext cx="4572000" cy="3359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266700" algn="l" fontAlgn="base"/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四、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）诠释何为物质幸福，何为精神幸福</a:t>
            </a:r>
            <a:r>
              <a:rPr lang="en-US" altLang="zh-CN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1600" b="1" kern="100" dirty="0">
                <a:solidFill>
                  <a:srgbClr val="FF0000"/>
                </a:solidFill>
                <a:latin typeface="Calibri" panose="020F0502020204030204" pitchFamily="3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</a:t>
            </a:r>
            <a:endParaRPr kumimoji="0" lang="zh-CN" altLang="en-US" sz="1600" b="1" i="0" u="none" strike="noStrike" kern="100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Calibri" panose="020F0502020204030204" pitchFamily="3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1115695" y="1275715"/>
            <a:ext cx="6918960" cy="3474720"/>
            <a:chOff x="1194" y="2183"/>
            <a:chExt cx="7589" cy="4735"/>
          </a:xfrm>
        </p:grpSpPr>
        <p:sp>
          <p:nvSpPr>
            <p:cNvPr id="8" name="1"/>
            <p:cNvSpPr/>
            <p:nvPr>
              <p:custDataLst>
                <p:tags r:id="rId3"/>
              </p:custDataLst>
            </p:nvPr>
          </p:nvSpPr>
          <p:spPr>
            <a:xfrm>
              <a:off x="1194" y="2512"/>
              <a:ext cx="3202" cy="4407"/>
            </a:xfrm>
            <a:prstGeom prst="roundRect">
              <a:avLst>
                <a:gd name="adj" fmla="val 5900"/>
              </a:avLst>
            </a:prstGeom>
            <a:solidFill>
              <a:schemeClr val="accent1">
                <a:alpha val="10000"/>
              </a:schemeClr>
            </a:solidFill>
            <a:ln w="12700" cap="rnd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Title-1"/>
            <p:cNvSpPr/>
            <p:nvPr>
              <p:custDataLst>
                <p:tags r:id="rId4"/>
              </p:custDataLst>
            </p:nvPr>
          </p:nvSpPr>
          <p:spPr>
            <a:xfrm>
              <a:off x="1880" y="2183"/>
              <a:ext cx="1911" cy="495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物质幸福</a:t>
              </a:r>
            </a:p>
          </p:txBody>
        </p:sp>
        <p:sp>
          <p:nvSpPr>
            <p:cNvPr id="10" name="2"/>
            <p:cNvSpPr/>
            <p:nvPr>
              <p:custDataLst>
                <p:tags r:id="rId5"/>
              </p:custDataLst>
            </p:nvPr>
          </p:nvSpPr>
          <p:spPr>
            <a:xfrm>
              <a:off x="5527" y="2504"/>
              <a:ext cx="3257" cy="4383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itle-2"/>
            <p:cNvSpPr/>
            <p:nvPr>
              <p:custDataLst>
                <p:tags r:id="rId6"/>
              </p:custDataLst>
            </p:nvPr>
          </p:nvSpPr>
          <p:spPr>
            <a:xfrm>
              <a:off x="6167" y="2189"/>
              <a:ext cx="1887" cy="493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精神幸福</a:t>
              </a:r>
            </a:p>
          </p:txBody>
        </p:sp>
      </p:grp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5219700" y="1707515"/>
            <a:ext cx="2678430" cy="269367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 defTabSz="266700">
              <a:lnSpc>
                <a:spcPct val="150000"/>
              </a:lnSpc>
              <a:spcBef>
                <a:spcPts val="900"/>
              </a:spcBef>
              <a:spcAft>
                <a:spcPts val="300"/>
              </a:spcAft>
            </a:pPr>
            <a:endParaRPr lang="zh-CN" altLang="en-US" sz="1400" b="0" i="0">
              <a:solidFill>
                <a:srgbClr val="1C1F2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）总结及描述企业的幸福观是什么？（不用写部门的幸福观）</a:t>
            </a:r>
          </a:p>
        </p:txBody>
      </p:sp>
      <p:sp>
        <p:nvSpPr>
          <p:cNvPr id="28" name="4"/>
          <p:cNvSpPr/>
          <p:nvPr>
            <p:custDataLst>
              <p:tags r:id="rId1"/>
            </p:custDataLst>
          </p:nvPr>
        </p:nvSpPr>
        <p:spPr>
          <a:xfrm>
            <a:off x="1259205" y="1347470"/>
            <a:ext cx="6908800" cy="2973705"/>
          </a:xfrm>
          <a:prstGeom prst="roundRect">
            <a:avLst>
              <a:gd name="adj" fmla="val 5900"/>
            </a:avLst>
          </a:prstGeom>
          <a:solidFill>
            <a:schemeClr val="accent4">
              <a:alpha val="10000"/>
            </a:schemeClr>
          </a:solidFill>
          <a:ln w="12700" cap="rnd"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7475" y="1347470"/>
            <a:ext cx="6640830" cy="28765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ctr" defTabSz="2667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表格 2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689257"/>
              </p:ext>
            </p:extLst>
          </p:nvPr>
        </p:nvGraphicFramePr>
        <p:xfrm>
          <a:off x="184150" y="1175385"/>
          <a:ext cx="8848725" cy="3472815"/>
        </p:xfrm>
        <a:graphic>
          <a:graphicData uri="http://schemas.openxmlformats.org/drawingml/2006/table">
            <a:tbl>
              <a:tblPr/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9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7015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5"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安心、放心：物质保障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indent="0" algn="ctr" font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ctr" fontAlgn="ctr"/>
                      <a:endParaRPr lang="zh-CN" altLang="en-US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5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3215" y="771525"/>
            <a:ext cx="8659495" cy="3390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zh-CN" sz="1600" b="1" dirty="0">
                <a:solidFill>
                  <a:srgbClr val="FF0000"/>
                </a:solidFill>
                <a:sym typeface="+mn-ea"/>
              </a:rPr>
              <a:t>）</a:t>
            </a:r>
            <a:r>
              <a:rPr lang="zh-CN" altLang="en-US" sz="1600" b="1" dirty="0">
                <a:solidFill>
                  <a:srgbClr val="FF0000"/>
                </a:solidFill>
                <a:sym typeface="Calibri" panose="020F0502020204030204"/>
              </a:rPr>
              <a:t>员工幸福 </a:t>
            </a:r>
            <a:r>
              <a:rPr lang="en-US" altLang="zh-CN" sz="1600" b="1" dirty="0">
                <a:solidFill>
                  <a:srgbClr val="FF0000"/>
                </a:solidFill>
                <a:sym typeface="Calibri" panose="020F0502020204030204"/>
              </a:rPr>
              <a:t>0 </a:t>
            </a:r>
            <a:r>
              <a:rPr lang="zh-CN" altLang="en-US" sz="1600" b="1" dirty="0">
                <a:solidFill>
                  <a:srgbClr val="FF0000"/>
                </a:solidFill>
                <a:sym typeface="Calibri" panose="020F0502020204030204"/>
              </a:rPr>
              <a:t>分的标准：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）员工幸福 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20 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分的标准：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D6D15DD-7A22-8E85-2618-471EA07F53C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6707325"/>
              </p:ext>
            </p:extLst>
          </p:nvPr>
        </p:nvGraphicFramePr>
        <p:xfrm>
          <a:off x="184150" y="1175385"/>
          <a:ext cx="8848725" cy="3294003"/>
        </p:xfrm>
        <a:graphic>
          <a:graphicData uri="http://schemas.openxmlformats.org/drawingml/2006/table">
            <a:tbl>
              <a:tblPr/>
              <a:tblGrid>
                <a:gridCol w="57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2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9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7015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5"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开心：关怀、明理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indent="0" algn="ctr" font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48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CN" altLang="en-US" sz="1200" b="0" i="0" dirty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ctr" fontAlgn="ctr"/>
                      <a:endParaRPr lang="zh-CN" altLang="en-US" sz="1000" b="0" i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5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b="0" i="0" dirty="0">
                        <a:noFill/>
                        <a:latin typeface="Arial" panose="020B0604020202020204" pitchFamily="34" charset="0"/>
                        <a:ea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>
                        <a:noFill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noFill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1187200"/>
              </p:ext>
            </p:extLst>
          </p:nvPr>
        </p:nvGraphicFramePr>
        <p:xfrm>
          <a:off x="80010" y="1275715"/>
          <a:ext cx="9018270" cy="3234055"/>
        </p:xfrm>
        <a:graphic>
          <a:graphicData uri="http://schemas.openxmlformats.org/drawingml/2006/table">
            <a:tbl>
              <a:tblPr/>
              <a:tblGrid>
                <a:gridCol w="55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9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2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77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340"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en-US" sz="12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成事：带你奋斗、成为专家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12700" indent="0" algn="ctr" fontAlgn="ctr"/>
                      <a:endParaRPr lang="zh-CN" altLang="en-US" sz="9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Calibri" panose="020F0502020204030204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33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marL="12700" indent="0" algn="l" fontAlgn="ctr"/>
                      <a:endParaRPr lang="zh-CN" altLang="en-US" sz="9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j-ea"/>
                        <a:ea typeface="+mj-ea"/>
                        <a:cs typeface="+mn-cs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1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+mj-ea"/>
                        <a:ea typeface="+mj-ea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just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）员工幸福 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50 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分的标准：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0970421"/>
              </p:ext>
            </p:extLst>
          </p:nvPr>
        </p:nvGraphicFramePr>
        <p:xfrm>
          <a:off x="158750" y="1153160"/>
          <a:ext cx="8893175" cy="3207385"/>
        </p:xfrm>
        <a:graphic>
          <a:graphicData uri="http://schemas.openxmlformats.org/drawingml/2006/table">
            <a:tbl>
              <a:tblPr/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22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9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88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6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幸福分值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诠释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行动方案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检视点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责任人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完成情况</a:t>
                      </a:r>
                    </a:p>
                  </a:txBody>
                  <a:tcPr marL="13017" marR="13017" marT="130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430">
                <a:tc rowSpan="6">
                  <a:txBody>
                    <a:bodyPr/>
                    <a:lstStyle/>
                    <a:p>
                      <a:pPr marL="12700" indent="0" algn="ctr" fontAlgn="ctr"/>
                      <a:r>
                        <a:rPr lang="en-US" altLang="zh-CN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</a:t>
                      </a: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0" i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成人：成为充满爱真诚、和谐的人</a:t>
                      </a:r>
                      <a:endParaRPr lang="zh-CN" altLang="zh-CN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88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/>
                      <a:endParaRPr 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0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i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l" fontAlgn="ctr">
                        <a:buNone/>
                      </a:pP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Arial" panose="020B0604020202020204" pitchFamily="34" charset="0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" indent="0" algn="ctr" fontAlgn="ctr">
                        <a:buNone/>
                      </a:pPr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3215" y="771525"/>
            <a:ext cx="8496935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五、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）员工幸福 </a:t>
            </a:r>
            <a:r>
              <a:rPr lang="en-US" altLang="zh-CN" sz="1600" b="1" dirty="0">
                <a:solidFill>
                  <a:srgbClr val="FF0000"/>
                </a:solidFill>
                <a:sym typeface="+mn-ea"/>
              </a:rPr>
              <a:t>100 </a:t>
            </a:r>
            <a:r>
              <a:rPr lang="zh-CN" altLang="en-US" sz="1600" b="1" dirty="0">
                <a:solidFill>
                  <a:srgbClr val="FF0000"/>
                </a:solidFill>
                <a:sym typeface="+mn-ea"/>
              </a:rPr>
              <a:t>分的标准：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defRPr/>
            </a:pPr>
            <a:endParaRPr lang="zh-CN" altLang="en-US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4"/>
          <p:cNvSpPr/>
          <p:nvPr>
            <p:custDataLst>
              <p:tags r:id="rId1"/>
            </p:custDataLst>
          </p:nvPr>
        </p:nvSpPr>
        <p:spPr>
          <a:xfrm>
            <a:off x="462280" y="1346200"/>
            <a:ext cx="7502208" cy="3714115"/>
          </a:xfrm>
          <a:prstGeom prst="roundRect">
            <a:avLst>
              <a:gd name="adj" fmla="val 5900"/>
            </a:avLst>
          </a:prstGeom>
          <a:solidFill>
            <a:schemeClr val="accent4">
              <a:alpha val="10000"/>
            </a:schemeClr>
          </a:solidFill>
          <a:ln w="12700" cap="rnd"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  <a:alpha val="2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                                                  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endParaRPr lang="en-US" altLang="zh-CN" sz="1200" dirty="0">
              <a:solidFill>
                <a:schemeClr val="tx1"/>
              </a:solidFill>
              <a:latin typeface="+mn-ea"/>
            </a:endParaRPr>
          </a:p>
          <a:p>
            <a:pPr algn="l" defTabSz="913765">
              <a:lnSpc>
                <a:spcPct val="13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 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215" y="771525"/>
            <a:ext cx="8727440" cy="3702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</a:t>
            </a:r>
            <a:r>
              <a:rPr lang="zh-CN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围绕员工幸福，你今天或者近期，有哪件事做到极度完美？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00175" y="1131570"/>
            <a:ext cx="5701665" cy="440055"/>
          </a:xfrm>
          <a:prstGeom prst="rect">
            <a:avLst/>
          </a:prstGeom>
          <a:solidFill>
            <a:srgbClr val="F9592A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algn="ctr">
              <a:buNone/>
            </a:pPr>
            <a:endParaRPr lang="zh-CN" altLang="en-US" sz="1600" b="1" dirty="0">
              <a:solidFill>
                <a:schemeClr val="bg1"/>
              </a:solidFill>
              <a:latin typeface="+mn-ea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895" y="1612265"/>
            <a:ext cx="7874635" cy="30746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defTabSz="266700">
              <a:lnSpc>
                <a:spcPct val="130000"/>
              </a:lnSpc>
            </a:pPr>
            <a:r>
              <a:rPr lang="en-US" altLang="zh-CN" sz="1200" i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zh-CN" altLang="en-US" sz="1200" i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C1FD37-CC98-A80C-ECE3-CB5DC8F7964C}"/>
              </a:ext>
            </a:extLst>
          </p:cNvPr>
          <p:cNvSpPr txBox="1"/>
          <p:nvPr/>
        </p:nvSpPr>
        <p:spPr>
          <a:xfrm>
            <a:off x="7964488" y="2067694"/>
            <a:ext cx="1311275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可配图片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图文并茂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sym typeface="+mn-ea"/>
              </a:rPr>
              <a:t>增强画面感 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j-ea"/>
              <a:ea typeface="+mj-ea"/>
              <a:cs typeface="+mn-c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明确使命模板</a:t>
            </a: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70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|成功方程式|</a:t>
            </a: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9248,3312345,3312170,3314342,3312447,3316064,3313612]}"/>
  <p:tag name="COMMONDATA" val="eyJoZGlkIjoiMzJiMGIxOGY3OTNjNTk5YmM0MGJmOGNhNzcyNmI5O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7.9062992125984,&quot;left&quot;:42.444566929133856,&quot;top&quot;:85.39370078740157,&quot;width&quot;:624.555433070866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  <p:tag name="KSO_WM_DIAGRAM_VIRTUALLY_FRAME" val="{&quot;height&quot;:283.15,&quot;left&quot;:22.15,&quot;top&quot;:110.2,&quot;width&quot;:669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83.15,&quot;left&quot;:22.15,&quot;top&quot;:110.2,&quot;width&quot;:669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  <p:tag name="KSO_WM_DIAGRAM_VIRTUALLY_FRAME" val="{&quot;height&quot;:283.15,&quot;left&quot;:22.15,&quot;top&quot;:110.2,&quot;width&quot;:669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  <p:tag name="KSO_WM_DIAGRAM_VIRTUALLY_FRAME" val="{&quot;height&quot;:287.65,&quot;left&quot;:22.15,&quot;top&quot;:109.15,&quot;width&quot;:669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  <p:tag name="KSO_WM_DIAGRAM_VIRTUALLY_FRAME" val="{&quot;height&quot;:287.65,&quot;left&quot;:22.15,&quot;top&quot;:109.15,&quot;width&quot;:669.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83.15,&quot;left&quot;:22.15,&quot;top&quot;:110.2,&quot;width&quot;:669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84.2,&quot;left&quot;:22.15,&quot;top&quot;:109.15,&quot;width&quot;:669.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  <p:tag name="KSO_WM_DIAGRAM_VIRTUALLY_FRAME" val="{&quot;height&quot;:284.2,&quot;left&quot;:22.15,&quot;top&quot;:109.15,&quot;width&quot;:669.6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9,&quot;left&quot;:22.15,&quot;top&quot;:100.45,&quot;width&quot;:666.2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2.9,&quot;left&quot;:22.15,&quot;top&quot;:100.45,&quot;width&quot;:666.2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  <p:tag name="KSO_WM_DIAGRAM_VIRTUALLY_FRAME" val="{&quot;height&quot;:292.9,&quot;left&quot;:22.15,&quot;top&quot;:100.45,&quot;width&quot;:666.2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  <p:tag name="KSO_WM_DIAGRAM_VIRTUALLY_FRAME" val="{&quot;height&quot;:292.9,&quot;left&quot;:22.15,&quot;top&quot;:100.45,&quot;width&quot;:666.2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  <p:tag name="KSO_WM_DIAGRAM_VIRTUALLY_FRAME" val="{&quot;height&quot;:292.9,&quot;left&quot;:22.15,&quot;top&quot;:100.45,&quot;width&quot;:666.2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  <p:tag name="KSO_WM_DIAGRAM_VIRTUALLY_FRAME" val="{&quot;height&quot;:292.9,&quot;left&quot;:22.15,&quot;top&quot;:100.45,&quot;width&quot;:666.2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  <p:tag name="KSO_WM_DIAGRAM_VIRTUALLY_FRAME" val="{&quot;height&quot;:284.2,&quot;left&quot;:22.15,&quot;top&quot;:109.15,&quot;width&quot;:669.6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96*299"/>
  <p:tag name="TABLE_ENDDRAG_RECT" val="14*92*696*29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696*299"/>
  <p:tag name="TABLE_ENDDRAG_RECT" val="14*92*696*29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0*282"/>
  <p:tag name="TABLE_ENDDRAG_RECT" val="6*100*710*282"/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700*279"/>
  <p:tag name="TABLE_ENDDRAG_RECT" val="12*90*700*27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4"/>
  <p:tag name="KSO_WM_DIAGRAM_VIRTUALLY_FRAME" val="{&quot;height&quot;:284.2,&quot;left&quot;:22.15,&quot;top&quot;:109.15,&quot;width&quot;:669.65}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483</Words>
  <Application>Microsoft Office PowerPoint</Application>
  <PresentationFormat>全屏显示(16:9)</PresentationFormat>
  <Paragraphs>112</Paragraphs>
  <Slides>19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Avenir Next Medium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【部门级】 X班X组 宣讲人：XXX 日期：2026-06-xx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阳 杨</cp:lastModifiedBy>
  <cp:revision>926</cp:revision>
  <dcterms:created xsi:type="dcterms:W3CDTF">2025-08-20T07:15:00Z</dcterms:created>
  <dcterms:modified xsi:type="dcterms:W3CDTF">2026-08-14T23:42:02Z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5CCF90F80DB84FF3B0E91D9F3601EBB6_13</vt:lpwstr>
  </property>
</Properties>
</file>