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384" r:id="rId3"/>
    <p:sldId id="659" r:id="rId5"/>
    <p:sldId id="660" r:id="rId6"/>
    <p:sldId id="589" r:id="rId7"/>
    <p:sldId id="662" r:id="rId8"/>
    <p:sldId id="670" r:id="rId9"/>
    <p:sldId id="721" r:id="rId10"/>
    <p:sldId id="681" r:id="rId11"/>
    <p:sldId id="722" r:id="rId12"/>
    <p:sldId id="708" r:id="rId13"/>
    <p:sldId id="712" r:id="rId14"/>
    <p:sldId id="713" r:id="rId15"/>
    <p:sldId id="714" r:id="rId16"/>
    <p:sldId id="715" r:id="rId17"/>
    <p:sldId id="716" r:id="rId18"/>
    <p:sldId id="717" r:id="rId19"/>
    <p:sldId id="718" r:id="rId20"/>
    <p:sldId id="719" r:id="rId21"/>
    <p:sldId id="666" r:id="rId22"/>
    <p:sldId id="679" r:id="rId23"/>
    <p:sldId id="269" r:id="rId24"/>
  </p:sldIdLst>
  <p:sldSz cx="9144000" cy="5143500" type="screen16x9"/>
  <p:notesSz cx="6858000" cy="9144000"/>
  <p:custDataLst>
    <p:tags r:id="rId3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1966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杜彬彬" initials="杜" lastIdx="1" clrIdx="0"/>
  <p:cmAuthor id="0" name="微软用户" initials="微软用户" lastIdx="0" clrIdx="0"/>
  <p:cmAuthor id="7" name="266369" initials="2" lastIdx="1" clrIdx="6"/>
  <p:cmAuthor id="8" name="陆彦蓉" initials="陆" lastIdx="1" clrIdx="7"/>
  <p:cmAuthor id="2" name="刘 逸凡" initials="刘" lastIdx="1" clrIdx="1"/>
  <p:cmAuthor id="9" name="lenovo" initials="l" lastIdx="1" clrIdx="8"/>
  <p:cmAuthor id="3" name="86180" initials="8" lastIdx="2" clrIdx="2"/>
  <p:cmAuthor id="4" name="81349" initials="8" lastIdx="2" clrIdx="3"/>
  <p:cmAuthor id="6" name="Administrator" initials="A" lastIdx="1" clrIdx="5"/>
  <p:cmAuthor id="10" name="陈 琦" initials="琦陈" lastIdx="1" clrIdx="9"/>
  <p:cmAuthor id="11" name="Love SiSi" initials="L" lastIdx="1" clrIdx="10"/>
  <p:cmAuthor id="5" name="宋洁然" initials="宋" lastIdx="2" clrIdx="1"/>
  <p:cmAuthor id="75" name="作者" initials="A" lastIdx="0" clrIdx="24"/>
  <p:cmAuthor id="13" name="0160278" initials="0" lastIdx="0" clrIdx="1"/>
  <p:cmAuthor id="76" name="37786632@qq.com" initials="" lastIdx="1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A8E2C5"/>
    <a:srgbClr val="D4F1E2"/>
    <a:srgbClr val="010310"/>
    <a:srgbClr val="1F74AD"/>
    <a:srgbClr val="F8EBDA"/>
    <a:srgbClr val="FEF6EB"/>
    <a:srgbClr val="92D050"/>
    <a:srgbClr val="4BBFDC"/>
    <a:srgbClr val="E55D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44" autoAdjust="0"/>
  </p:normalViewPr>
  <p:slideViewPr>
    <p:cSldViewPr showGuides="1">
      <p:cViewPr varScale="1">
        <p:scale>
          <a:sx n="113" d="100"/>
          <a:sy n="113" d="100"/>
        </p:scale>
        <p:origin x="51" y="171"/>
      </p:cViewPr>
      <p:guideLst>
        <p:guide orient="horz" pos="1966"/>
        <p:guide pos="290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63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76" dt="2024-07-20T15:46:13.938" idx="1">
    <p:pos x="5041" y="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 contras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398"/>
          <a:stretch>
            <a:fillRect/>
          </a:stretch>
        </p:blipFill>
        <p:spPr>
          <a:xfrm>
            <a:off x="0" y="0"/>
            <a:ext cx="9262745" cy="5210175"/>
          </a:xfrm>
          <a:prstGeom prst="rect">
            <a:avLst/>
          </a:prstGeom>
        </p:spPr>
      </p:pic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2" y="1333829"/>
            <a:ext cx="3655181" cy="617934"/>
          </a:xfrm>
          <a:prstGeom prst="rect">
            <a:avLst/>
          </a:prstGeom>
        </p:spPr>
        <p:txBody>
          <a:bodyPr lIns="68580" tIns="34290" rIns="68580" bIns="34290"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2" y="1999034"/>
            <a:ext cx="3655181" cy="2643213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  <a:prstGeom prst="rect">
            <a:avLst/>
          </a:prstGeom>
        </p:spPr>
        <p:txBody>
          <a:bodyPr lIns="68580" tIns="34290" rIns="68580" bIns="34290"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>
          <a:xfrm>
            <a:off x="8288367" y="4789627"/>
            <a:ext cx="226984" cy="2308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B27BE-B276-41D1-8A5B-7124FEB6ACA6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38261"/>
          </a:xfrm>
          <a:prstGeom prst="rect">
            <a:avLst/>
          </a:prstGeom>
        </p:spPr>
      </p:pic>
      <p:pic>
        <p:nvPicPr>
          <p:cNvPr id="2" name="图片 1" descr="稻盛和夫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60106" y="3953828"/>
            <a:ext cx="664845" cy="11844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5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" y="-20320"/>
            <a:ext cx="9184005" cy="52431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545" y="2362200"/>
            <a:ext cx="9139555" cy="7372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p>
            <a:pPr algn="ctr">
              <a:lnSpc>
                <a:spcPct val="150000"/>
              </a:lnSpc>
            </a:pPr>
            <a:r>
              <a:rPr sz="2800" b="1" dirty="0">
                <a:solidFill>
                  <a:schemeClr val="bg1"/>
                </a:solidFill>
                <a:sym typeface="+mn-ea"/>
              </a:rPr>
              <a:t>第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四</a:t>
            </a:r>
            <a:r>
              <a:rPr sz="2800" b="1" dirty="0" err="1">
                <a:solidFill>
                  <a:schemeClr val="bg1"/>
                </a:solidFill>
                <a:sym typeface="+mn-ea"/>
              </a:rPr>
              <a:t>周</a:t>
            </a:r>
            <a:r>
              <a:rPr lang="en-US" altLang="zh-CN" sz="2800" b="1">
                <a:solidFill>
                  <a:schemeClr val="bg1"/>
                </a:solidFill>
                <a:sym typeface="+mn-ea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工作</a:t>
            </a:r>
            <a:r>
              <a:rPr lang="zh-CN" altLang="zh-CN" sz="2800" b="1" dirty="0">
                <a:solidFill>
                  <a:schemeClr val="bg1"/>
                </a:solidFill>
                <a:sym typeface="+mn-ea"/>
              </a:rPr>
              <a:t>观</a:t>
            </a:r>
            <a:r>
              <a:rPr lang="en-US" sz="2800" b="1" dirty="0">
                <a:solidFill>
                  <a:schemeClr val="bg1"/>
                </a:solidFill>
                <a:sym typeface="+mn-ea"/>
              </a:rPr>
              <a:t>—</a:t>
            </a:r>
            <a:r>
              <a:rPr lang="zh-CN" altLang="zh-CN" sz="2800" b="1" dirty="0">
                <a:solidFill>
                  <a:schemeClr val="bg1"/>
                </a:solidFill>
                <a:sym typeface="+mn-ea"/>
              </a:rPr>
              <a:t>建立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客户</a:t>
            </a:r>
            <a:r>
              <a:rPr lang="zh-CN" altLang="zh-CN" sz="2800" b="1" dirty="0">
                <a:solidFill>
                  <a:schemeClr val="bg1"/>
                </a:solidFill>
                <a:sym typeface="+mn-ea"/>
              </a:rPr>
              <a:t>幸福的体系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83260" y="627380"/>
            <a:ext cx="7772400" cy="173482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5400" b="1" dirty="0">
                <a:solidFill>
                  <a:schemeClr val="bg1"/>
                </a:solidFill>
                <a:sym typeface="微软雅黑" panose="020B0503020204020204" charset="-122"/>
              </a:rPr>
              <a:t>成功方程式</a:t>
            </a:r>
            <a:endParaRPr lang="zh-CN" altLang="en-US" sz="6000" b="1" dirty="0"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cs typeface="宋体" panose="02010600030101010101" pitchFamily="2" charset="-122"/>
                <a:sym typeface="+mn-ea"/>
              </a:rPr>
              <a:t>49</a:t>
            </a:r>
            <a:r>
              <a:rPr lang="zh-CN" altLang="en-US" sz="3200" b="1" dirty="0">
                <a:cs typeface="宋体" panose="02010600030101010101" pitchFamily="2" charset="-122"/>
                <a:sym typeface="+mn-ea"/>
              </a:rPr>
              <a:t>天使命血肉化训练营</a:t>
            </a:r>
            <a:endParaRPr lang="zh-CN" altLang="en-US" sz="3200" b="1" dirty="0"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标题 4"/>
          <p:cNvSpPr>
            <a:spLocks noGrp="1"/>
          </p:cNvSpPr>
          <p:nvPr/>
        </p:nvSpPr>
        <p:spPr>
          <a:xfrm>
            <a:off x="1331595" y="3075940"/>
            <a:ext cx="6953250" cy="1162050"/>
          </a:xfrm>
          <a:prstGeom prst="rect">
            <a:avLst/>
          </a:prstGeom>
          <a:ln w="12700">
            <a:miter lim="400000"/>
          </a:ln>
        </p:spPr>
        <p:txBody>
          <a:bodyPr lIns="45719" rIns="45719" anchor="b">
            <a:normAutofit fontScale="70000"/>
          </a:bodyPr>
          <a:lstStyle>
            <a:lvl1pPr marL="0" marR="0" indent="0" algn="ctr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5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  <a:lvl2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2pPr>
            <a:lvl3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3pPr>
            <a:lvl4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4pPr>
            <a:lvl5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5pPr>
            <a:lvl6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6pPr>
            <a:lvl7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7pPr>
            <a:lvl8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8pPr>
            <a:lvl9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br>
              <a:rPr 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分享人：赣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九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XXX</a:t>
            </a:r>
            <a:b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2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234305" y="2643505"/>
            <a:ext cx="3333750" cy="1106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p>
            <a:pPr algn="r" eaLnBrk="1">
              <a:lnSpc>
                <a:spcPct val="150000"/>
              </a:lnSpc>
            </a:pPr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附个人照片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04" name="圆角矩形 15"/>
          <p:cNvSpPr/>
          <p:nvPr/>
        </p:nvSpPr>
        <p:spPr>
          <a:xfrm>
            <a:off x="107315" y="628015"/>
            <a:ext cx="7735570" cy="416560"/>
          </a:xfrm>
          <a:prstGeom prst="roundRect">
            <a:avLst>
              <a:gd name="adj" fmla="val 39043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sz="1800">
                <a:solidFill>
                  <a:schemeClr val="bg1"/>
                </a:solidFill>
              </a:rPr>
              <a:t>一、</a:t>
            </a:r>
            <a:r>
              <a:rPr lang="zh-CN" altLang="en-US" sz="1800" dirty="0">
                <a:solidFill>
                  <a:schemeClr val="bg1"/>
                </a:solidFill>
                <a:sym typeface="+mn-lt"/>
              </a:rPr>
              <a:t>一分钟自我介绍</a:t>
            </a:r>
            <a:r>
              <a:rPr lang="en-US" altLang="zh-CN" sz="1800" dirty="0">
                <a:solidFill>
                  <a:schemeClr val="bg1"/>
                </a:solidFill>
                <a:sym typeface="+mn-lt"/>
              </a:rPr>
              <a:t>.</a:t>
            </a:r>
            <a:r>
              <a:rPr lang="zh-CN" altLang="en-US" sz="1800" dirty="0">
                <a:solidFill>
                  <a:schemeClr val="bg1"/>
                </a:solidFill>
                <a:sym typeface="+mn-lt"/>
              </a:rPr>
              <a:t>围绕</a:t>
            </a:r>
            <a:r>
              <a:rPr lang="en-US" altLang="zh-CN" sz="1800" dirty="0">
                <a:solidFill>
                  <a:schemeClr val="bg1"/>
                </a:solidFill>
                <a:sym typeface="+mn-lt"/>
              </a:rPr>
              <a:t>4</a:t>
            </a:r>
            <a:r>
              <a:rPr lang="zh-CN" altLang="en-US" sz="1800" dirty="0">
                <a:solidFill>
                  <a:schemeClr val="bg1"/>
                </a:solidFill>
                <a:sym typeface="+mn-lt"/>
              </a:rPr>
              <a:t>问：（标准：完整讲清楚并吸引听众）</a:t>
            </a:r>
            <a:r>
              <a:rPr lang="en-US" altLang="zh-CN" sz="1800" dirty="0">
                <a:solidFill>
                  <a:schemeClr val="bg1"/>
                </a:solidFill>
                <a:sym typeface="+mn-lt"/>
              </a:rPr>
              <a:t>5</a:t>
            </a:r>
            <a:r>
              <a:rPr lang="zh-CN" altLang="en-US" sz="1800" dirty="0">
                <a:solidFill>
                  <a:schemeClr val="bg1"/>
                </a:solidFill>
                <a:sym typeface="+mn-lt"/>
              </a:rPr>
              <a:t>分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文本框 99"/>
          <p:cNvSpPr/>
          <p:nvPr/>
        </p:nvSpPr>
        <p:spPr>
          <a:xfrm>
            <a:off x="539115" y="1131570"/>
            <a:ext cx="1373505" cy="4146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b="1">
                <a:latin typeface="Calibri" panose="020F0502020204030204" charset="0"/>
                <a:ea typeface="宋体" panose="02010600030101010101" pitchFamily="2" charset="-122"/>
              </a:rPr>
              <a:t>.</a:t>
            </a:r>
            <a:r>
              <a:rPr lang="zh-CN" altLang="en-US" b="1">
                <a:latin typeface="Calibri" panose="020F0502020204030204" charset="0"/>
                <a:ea typeface="宋体" panose="02010600030101010101" pitchFamily="2" charset="-122"/>
              </a:rPr>
              <a:t>我是谁？</a:t>
            </a:r>
            <a:endParaRPr lang="zh-CN" altLang="en-US" sz="2000" b="1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流程图: 可选过程 5"/>
          <p:cNvSpPr/>
          <p:nvPr/>
        </p:nvSpPr>
        <p:spPr>
          <a:xfrm>
            <a:off x="611505" y="1633220"/>
            <a:ext cx="3508375" cy="3012440"/>
          </a:xfrm>
          <a:prstGeom prst="flowChartAlternateProcess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zh-CN" altLang="en-US" sz="1800" b="0" i="0" u="none" strike="noStrike" cap="none" spc="0" normalizeH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4"/>
          <p:cNvSpPr/>
          <p:nvPr/>
        </p:nvSpPr>
        <p:spPr>
          <a:xfrm>
            <a:off x="610870" y="1732280"/>
            <a:ext cx="3456305" cy="3127375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424680" y="1471966"/>
            <a:ext cx="1748270" cy="369475"/>
            <a:chOff x="1209415" y="1113191"/>
            <a:chExt cx="1748270" cy="369475"/>
          </a:xfrm>
        </p:grpSpPr>
        <p:sp>
          <p:nvSpPr>
            <p:cNvPr id="4" name="矩形 15"/>
            <p:cNvSpPr/>
            <p:nvPr/>
          </p:nvSpPr>
          <p:spPr>
            <a:xfrm>
              <a:off x="1209415" y="114011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7"/>
            <p:cNvSpPr txBox="1"/>
            <p:nvPr/>
          </p:nvSpPr>
          <p:spPr>
            <a:xfrm>
              <a:off x="1594674" y="111319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使命前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" name="燕尾形箭头 9"/>
          <p:cNvSpPr/>
          <p:nvPr/>
        </p:nvSpPr>
        <p:spPr>
          <a:xfrm flipV="1">
            <a:off x="4428587" y="2859782"/>
            <a:ext cx="440690" cy="530994"/>
          </a:xfrm>
          <a:prstGeom prst="notchedRightArrow">
            <a:avLst/>
          </a:prstGeom>
          <a:gradFill>
            <a:gsLst>
              <a:gs pos="14000">
                <a:srgbClr val="F9680D"/>
              </a:gs>
              <a:gs pos="100000">
                <a:schemeClr val="bg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146675" y="1732280"/>
            <a:ext cx="3456305" cy="3127375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82903" y="1494710"/>
            <a:ext cx="1748270" cy="369475"/>
            <a:chOff x="1209415" y="1175421"/>
            <a:chExt cx="1748270" cy="369475"/>
          </a:xfrm>
        </p:grpSpPr>
        <p:sp>
          <p:nvSpPr>
            <p:cNvPr id="18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使命后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18813" y="2079318"/>
            <a:ext cx="324036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r>
              <a:rPr lang="zh-CN" altLang="en-US" sz="1400" b="1" dirty="0">
                <a:solidFill>
                  <a:srgbClr val="C00000"/>
                </a:solidFill>
              </a:rPr>
              <a:t>个人：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03116" y="2064186"/>
            <a:ext cx="3300067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r>
              <a:rPr lang="zh-CN" altLang="en-US" sz="1400" b="1" dirty="0">
                <a:solidFill>
                  <a:srgbClr val="C00000"/>
                </a:solidFill>
              </a:rPr>
              <a:t>个人：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4380" y="3044600"/>
            <a:ext cx="3273431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r>
              <a:rPr lang="zh-CN" altLang="en-US" sz="1400" b="1" dirty="0">
                <a:solidFill>
                  <a:srgbClr val="C00000"/>
                </a:solidFill>
              </a:rPr>
              <a:t>团队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4380" y="4012908"/>
            <a:ext cx="3240360" cy="735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</a:rPr>
              <a:t>公司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(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例如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)</a:t>
            </a: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、客户满意度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,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公司经营结果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.....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03116" y="3021246"/>
            <a:ext cx="324036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r>
              <a:rPr lang="zh-CN" altLang="en-US" sz="1400" b="1" dirty="0">
                <a:solidFill>
                  <a:srgbClr val="C00000"/>
                </a:solidFill>
              </a:rPr>
              <a:t>团队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89736" y="3978306"/>
            <a:ext cx="324036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公司：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52288" y="3691990"/>
            <a:ext cx="993286" cy="10147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p>
            <a:r>
              <a:rPr lang="en-US" altLang="zh-CN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XXX</a:t>
            </a:r>
            <a:r>
              <a:rPr lang="zh-CN" altLang="en-US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年</a:t>
            </a:r>
            <a:r>
              <a:rPr lang="en-US" altLang="zh-CN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XX</a:t>
            </a:r>
            <a:r>
              <a:rPr lang="zh-CN" altLang="en-US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月</a:t>
            </a:r>
            <a:r>
              <a:rPr lang="en-US" altLang="zh-CN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XX</a:t>
            </a:r>
            <a:r>
              <a:rPr lang="zh-CN" altLang="en-US" sz="1200" b="1" noProof="0" dirty="0"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日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参加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49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天使命血肉化训练营</a:t>
            </a:r>
            <a:endParaRPr lang="zh-CN" altLang="en-US" sz="1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4152288" y="1923678"/>
            <a:ext cx="993286" cy="6451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p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XXX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年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XX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月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XX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日加入盛和塾</a:t>
            </a:r>
            <a:endParaRPr lang="zh-CN" altLang="en-US" sz="1200" dirty="0"/>
          </a:p>
        </p:txBody>
      </p:sp>
      <p:sp>
        <p:nvSpPr>
          <p:cNvPr id="10" name="文本框 99"/>
          <p:cNvSpPr/>
          <p:nvPr/>
        </p:nvSpPr>
        <p:spPr>
          <a:xfrm>
            <a:off x="468630" y="767715"/>
            <a:ext cx="8360410" cy="5537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b="1">
                <a:latin typeface="Calibri" panose="020F0502020204030204" charset="0"/>
                <a:ea typeface="宋体" panose="02010600030101010101" pitchFamily="2" charset="-122"/>
              </a:rPr>
              <a:t>.</a:t>
            </a:r>
            <a:r>
              <a:rPr lang="zh-CN" altLang="en-US" sz="1600">
                <a:sym typeface="Calibri" panose="020F0502020204030204"/>
              </a:rPr>
              <a:t>为什么要听我讲</a:t>
            </a:r>
            <a:r>
              <a:rPr lang="zh-CN" altLang="en-US" sz="1600" b="1">
                <a:latin typeface="Calibri" panose="020F0502020204030204" charset="0"/>
                <a:ea typeface="宋体" panose="02010600030101010101" pitchFamily="2" charset="-122"/>
              </a:rPr>
              <a:t>？</a:t>
            </a:r>
            <a:r>
              <a:rPr lang="en-US" altLang="zh-CN" sz="1600" b="1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sz="1600" b="1">
                <a:latin typeface="Calibri" panose="020F0502020204030204" charset="0"/>
                <a:ea typeface="宋体" panose="02010600030101010101" pitchFamily="2" charset="-122"/>
              </a:rPr>
              <a:t>分</a:t>
            </a: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charset="0"/>
                <a:ea typeface="宋体" panose="02010600030101010101" pitchFamily="2" charset="-122"/>
              </a:rPr>
              <a:t>围绕本周主题，描述出使命前后的状态是怎样的？心性发生了哪些改变？</a:t>
            </a:r>
            <a:endParaRPr lang="zh-CN" altLang="en-US" sz="1200" b="1">
              <a:solidFill>
                <a:srgbClr val="FF0000"/>
              </a:solidFill>
              <a:highlight>
                <a:srgbClr val="FFFF00"/>
              </a:highlight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170473" y="1563255"/>
            <a:ext cx="6912768" cy="3024466"/>
            <a:chOff x="4317719" y="1130195"/>
            <a:chExt cx="3526877" cy="2446380"/>
          </a:xfrm>
        </p:grpSpPr>
        <p:sp>
          <p:nvSpPr>
            <p:cNvPr id="12" name="2"/>
            <p:cNvSpPr/>
            <p:nvPr>
              <p:custDataLst>
                <p:tags r:id="rId1"/>
              </p:custDataLst>
            </p:nvPr>
          </p:nvSpPr>
          <p:spPr>
            <a:xfrm>
              <a:off x="4317719" y="1130300"/>
              <a:ext cx="3526877" cy="2446275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l" defTabSz="913765"/>
              <a:endParaRPr lang="en-GB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itle-2"/>
            <p:cNvSpPr/>
            <p:nvPr>
              <p:custDataLst>
                <p:tags r:id="rId2"/>
              </p:custDataLst>
            </p:nvPr>
          </p:nvSpPr>
          <p:spPr>
            <a:xfrm>
              <a:off x="5622692" y="1130195"/>
              <a:ext cx="834561" cy="235755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p>
              <a:pPr algn="ctr" defTabSz="913765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客户</a:t>
              </a:r>
              <a:endParaRPr lang="zh-CN" altLang="en-US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51460" y="699135"/>
            <a:ext cx="8816975" cy="38481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听你讲对我有什么好处？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（你宣讲使命的力量对听众有什么帮助？能产生什么结果？）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040" y="699135"/>
            <a:ext cx="8503285" cy="332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4</a:t>
            </a:r>
            <a:r>
              <a:rPr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你要讲的主题是什么？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   1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分</a:t>
            </a:r>
            <a:endParaRPr lang="zh-CN" altLang="en-US" sz="14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4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流程图: 终止 3"/>
          <p:cNvSpPr/>
          <p:nvPr/>
        </p:nvSpPr>
        <p:spPr>
          <a:xfrm>
            <a:off x="2483485" y="1347470"/>
            <a:ext cx="4112895" cy="998855"/>
          </a:xfrm>
          <a:prstGeom prst="flowChartTerminator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800" i="0" u="none" strike="noStrike" cap="none" spc="0" normalizeH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cs typeface="+mn-cs"/>
                <a:sym typeface="Calibri" panose="020F0502020204030204"/>
              </a:rPr>
              <a:t>我今天宣讲的主题是</a:t>
            </a:r>
            <a:endParaRPr kumimoji="0" lang="zh-CN" altLang="en-US" sz="2800" i="0" u="none" strike="noStrike" cap="none" spc="0" normalizeH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3" name="文本框 14"/>
          <p:cNvSpPr txBox="1"/>
          <p:nvPr>
            <p:custDataLst>
              <p:tags r:id="rId1"/>
            </p:custDataLst>
          </p:nvPr>
        </p:nvSpPr>
        <p:spPr>
          <a:xfrm>
            <a:off x="93345" y="2284095"/>
            <a:ext cx="9051290" cy="122618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p>
            <a:pPr algn="ctr">
              <a:lnSpc>
                <a:spcPct val="150000"/>
              </a:lnSpc>
            </a:pPr>
            <a:r>
              <a:rPr sz="3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使命的力量</a:t>
            </a:r>
            <a:r>
              <a:rPr lang="en-US" sz="3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—</a:t>
            </a:r>
            <a:r>
              <a:rPr lang="zh-CN" altLang="en-US" sz="3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工作观</a:t>
            </a:r>
            <a:r>
              <a:rPr lang="en-US" altLang="zh-CN" sz="3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—</a:t>
            </a:r>
            <a:r>
              <a:rPr lang="zh-CN" altLang="en-US" sz="3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建立客户幸福的体系</a:t>
            </a:r>
            <a:endParaRPr lang="zh-CN" altLang="en-US" sz="3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36830" y="1981835"/>
            <a:ext cx="92633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公司使命诠释</a:t>
            </a:r>
            <a:endParaRPr lang="zh-CN" altLang="en-US" sz="1600" b="1" kern="100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2"/>
          <p:cNvSpPr/>
          <p:nvPr>
            <p:custDataLst>
              <p:tags r:id="rId1"/>
            </p:custDataLst>
          </p:nvPr>
        </p:nvSpPr>
        <p:spPr>
          <a:xfrm>
            <a:off x="179070" y="1388110"/>
            <a:ext cx="8598535" cy="6413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4" name="圆角矩形 15"/>
          <p:cNvSpPr/>
          <p:nvPr/>
        </p:nvSpPr>
        <p:spPr>
          <a:xfrm>
            <a:off x="107315" y="611505"/>
            <a:ext cx="8547100" cy="416560"/>
          </a:xfrm>
          <a:prstGeom prst="roundRect">
            <a:avLst>
              <a:gd name="adj" fmla="val 39043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二、你企业（或部门）的使命是什么？使命的诠释。愿景是什么？愿景的诠释？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4" name="Title-2"/>
          <p:cNvSpPr/>
          <p:nvPr>
            <p:custDataLst>
              <p:tags r:id="rId2"/>
            </p:custDataLst>
          </p:nvPr>
        </p:nvSpPr>
        <p:spPr>
          <a:xfrm>
            <a:off x="179070" y="1044575"/>
            <a:ext cx="1424305" cy="327025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公司使命：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38" name="组合 37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51460" y="2355850"/>
            <a:ext cx="8608060" cy="2610935"/>
            <a:chOff x="660400" y="969143"/>
            <a:chExt cx="7200977" cy="4903618"/>
          </a:xfrm>
        </p:grpSpPr>
        <p:grpSp>
          <p:nvGrpSpPr>
            <p:cNvPr id="39" name="组合 38"/>
            <p:cNvGrpSpPr/>
            <p:nvPr/>
          </p:nvGrpSpPr>
          <p:grpSpPr>
            <a:xfrm>
              <a:off x="660400" y="970336"/>
              <a:ext cx="3526651" cy="2738207"/>
              <a:chOff x="660400" y="970336"/>
              <a:chExt cx="3526651" cy="2738207"/>
            </a:xfrm>
          </p:grpSpPr>
          <p:sp>
            <p:nvSpPr>
              <p:cNvPr id="40" name="1"/>
              <p:cNvSpPr/>
              <p:nvPr>
                <p:custDataLst>
                  <p:tags r:id="rId4"/>
                </p:custDataLst>
              </p:nvPr>
            </p:nvSpPr>
            <p:spPr>
              <a:xfrm>
                <a:off x="660400" y="1130144"/>
                <a:ext cx="3526651" cy="2578398"/>
              </a:xfrm>
              <a:prstGeom prst="roundRect">
                <a:avLst>
                  <a:gd name="adj" fmla="val 5900"/>
                </a:avLst>
              </a:prstGeom>
              <a:solidFill>
                <a:schemeClr val="accent1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2" name="Body-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400" y="1408020"/>
                <a:ext cx="3459720" cy="230052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物质幸福：</a:t>
                </a:r>
                <a:endParaRPr lang="zh-CN" altLang="en-US" sz="1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/>
                <a:endParaRPr lang="zh-CN" altLang="en-US" sz="1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/>
                <a:endParaRPr lang="zh-CN" altLang="en-US" sz="1200" dirty="0"/>
              </a:p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精神幸福：</a:t>
                </a:r>
                <a:endParaRPr lang="zh-CN" altLang="en-US" sz="1200" b="1" dirty="0">
                  <a:latin typeface="+mj-ea"/>
                  <a:ea typeface="+mj-ea"/>
                </a:endParaRPr>
              </a:p>
            </p:txBody>
          </p:sp>
          <p:sp>
            <p:nvSpPr>
              <p:cNvPr id="43" name="Title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511926" y="970336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 smtClean="0">
                    <a:solidFill>
                      <a:srgbClr val="FFFFFF"/>
                    </a:solidFill>
                    <a:latin typeface="+mn-ea"/>
                  </a:rPr>
                  <a:t>员工幸福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4326211" y="969143"/>
              <a:ext cx="3526651" cy="2737014"/>
              <a:chOff x="4326211" y="969143"/>
              <a:chExt cx="3526651" cy="2737014"/>
            </a:xfrm>
          </p:grpSpPr>
          <p:sp>
            <p:nvSpPr>
              <p:cNvPr id="46" name="2"/>
              <p:cNvSpPr/>
              <p:nvPr>
                <p:custDataLst>
                  <p:tags r:id="rId7"/>
                </p:custDataLst>
              </p:nvPr>
            </p:nvSpPr>
            <p:spPr>
              <a:xfrm>
                <a:off x="4326211" y="1130144"/>
                <a:ext cx="3526651" cy="2576013"/>
              </a:xfrm>
              <a:prstGeom prst="roundRect">
                <a:avLst>
                  <a:gd name="adj" fmla="val 5900"/>
                </a:avLst>
              </a:prstGeom>
              <a:solidFill>
                <a:schemeClr val="accent2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8" name="Body-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359664" y="1865938"/>
                <a:ext cx="3459969" cy="488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defTabSz="913765"/>
                <a:r>
                  <a:rPr lang="zh-CN" altLang="en-GB" sz="1100" b="1" dirty="0">
                    <a:solidFill>
                      <a:schemeClr val="tx1"/>
                    </a:solidFill>
                    <a:latin typeface="+mn-ea"/>
                    <a:sym typeface="+mn-ea"/>
                  </a:rPr>
                  <a:t>关键词诠释</a:t>
                </a:r>
                <a:endParaRPr lang="en-US" altLang="zh-CN" sz="1100" b="1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9" name="Title-2"/>
              <p:cNvSpPr/>
              <p:nvPr>
                <p:custDataLst>
                  <p:tags r:id="rId9"/>
                </p:custDataLst>
              </p:nvPr>
            </p:nvSpPr>
            <p:spPr>
              <a:xfrm>
                <a:off x="5255190" y="969143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客户幸福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2606323" y="3977722"/>
              <a:ext cx="5255054" cy="1895039"/>
              <a:chOff x="-1059488" y="3933434"/>
              <a:chExt cx="5255054" cy="1895039"/>
            </a:xfrm>
          </p:grpSpPr>
          <p:sp>
            <p:nvSpPr>
              <p:cNvPr id="52" name="4"/>
              <p:cNvSpPr/>
              <p:nvPr>
                <p:custDataLst>
                  <p:tags r:id="rId10"/>
                </p:custDataLst>
              </p:nvPr>
            </p:nvSpPr>
            <p:spPr>
              <a:xfrm>
                <a:off x="-1059488" y="3933434"/>
                <a:ext cx="3526651" cy="1895039"/>
              </a:xfrm>
              <a:prstGeom prst="roundRect">
                <a:avLst>
                  <a:gd name="adj" fmla="val 5900"/>
                </a:avLst>
              </a:prstGeom>
              <a:solidFill>
                <a:schemeClr val="accent4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53" name="Body-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64197" y="4435337"/>
                <a:ext cx="3431369" cy="517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zh-CN" sz="1200" b="1" dirty="0">
                    <a:solidFill>
                      <a:schemeClr val="tx1"/>
                    </a:solidFill>
                    <a:latin typeface="+mj-ea"/>
                    <a:ea typeface="+mj-ea"/>
                    <a:cs typeface="微软雅黑" panose="020B0503020204020204" charset="-122"/>
                    <a:sym typeface="+mn-lt"/>
                  </a:rPr>
                  <a:t> </a:t>
                </a:r>
                <a:endParaRPr lang="en-US" altLang="zh-CN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54" name="Title-4"/>
              <p:cNvSpPr/>
              <p:nvPr>
                <p:custDataLst>
                  <p:tags r:id="rId12"/>
                </p:custDataLst>
              </p:nvPr>
            </p:nvSpPr>
            <p:spPr>
              <a:xfrm>
                <a:off x="-139345" y="3940590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社会幸福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15875" y="1581785"/>
            <a:ext cx="92633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1600" b="1" kern="100" dirty="0">
                <a:solidFill>
                  <a:srgbClr val="C00000"/>
                </a:solidFill>
                <a:highlight>
                  <a:srgbClr val="FFFF00"/>
                </a:highlight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部门</a:t>
            </a:r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使命诠释</a:t>
            </a:r>
            <a:endParaRPr lang="zh-CN" altLang="en-US" sz="1600" b="1" kern="100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2"/>
          <p:cNvSpPr/>
          <p:nvPr>
            <p:custDataLst>
              <p:tags r:id="rId1"/>
            </p:custDataLst>
          </p:nvPr>
        </p:nvSpPr>
        <p:spPr>
          <a:xfrm>
            <a:off x="301625" y="987425"/>
            <a:ext cx="8598535" cy="7048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8620" y="995680"/>
            <a:ext cx="8795385" cy="594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304800" algn="l">
              <a:lnSpc>
                <a:spcPct val="150000"/>
              </a:lnSpc>
              <a:spcBef>
                <a:spcPts val="800"/>
              </a:spcBef>
            </a:pPr>
            <a:endParaRPr lang="zh-CN" altLang="en-US" sz="1600" b="1" kern="100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99385" y="339725"/>
            <a:ext cx="2984500" cy="3930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noAutofit/>
          </a:bodyPr>
          <a:p>
            <a:pPr marL="342900" indent="-342900" algn="just" fontAlgn="base">
              <a:lnSpc>
                <a:spcPct val="150000"/>
              </a:lnSpc>
            </a:pP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部门层级写，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经营者走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  <a:sym typeface="+mn-lt"/>
              </a:rPr>
              <a:t>49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天，本页删除</a:t>
            </a:r>
            <a:endParaRPr lang="zh-CN" altLang="en-US" sz="1200" b="1" dirty="0">
              <a:highlight>
                <a:srgbClr val="00FF00"/>
              </a:highlight>
              <a:latin typeface="+mn-ea"/>
              <a:sym typeface="+mn-lt"/>
            </a:endParaRPr>
          </a:p>
        </p:txBody>
      </p:sp>
      <p:grpSp>
        <p:nvGrpSpPr>
          <p:cNvPr id="10" name="组合 9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37185" y="2089785"/>
            <a:ext cx="8608060" cy="2939415"/>
            <a:chOff x="660400" y="1091981"/>
            <a:chExt cx="7200977" cy="5083670"/>
          </a:xfrm>
        </p:grpSpPr>
        <p:grpSp>
          <p:nvGrpSpPr>
            <p:cNvPr id="11" name="组合 10"/>
            <p:cNvGrpSpPr/>
            <p:nvPr/>
          </p:nvGrpSpPr>
          <p:grpSpPr>
            <a:xfrm>
              <a:off x="660400" y="1091981"/>
              <a:ext cx="3526877" cy="2490767"/>
              <a:chOff x="660400" y="1091981"/>
              <a:chExt cx="3526877" cy="2490767"/>
            </a:xfrm>
          </p:grpSpPr>
          <p:sp>
            <p:nvSpPr>
              <p:cNvPr id="12" name="1"/>
              <p:cNvSpPr/>
              <p:nvPr>
                <p:custDataLst>
                  <p:tags r:id="rId3"/>
                </p:custDataLst>
              </p:nvPr>
            </p:nvSpPr>
            <p:spPr>
              <a:xfrm>
                <a:off x="660400" y="1130300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1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3" name="Body-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78461" y="1599359"/>
                <a:ext cx="3459720" cy="19833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物质幸福：</a:t>
                </a:r>
                <a:endParaRPr lang="zh-CN" altLang="en-US" sz="1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/>
                <a:endParaRPr lang="zh-CN" altLang="en-US" sz="1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/>
                <a:endParaRPr lang="zh-CN" altLang="en-US" sz="1200" dirty="0"/>
              </a:p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精神幸福：</a:t>
                </a:r>
                <a:endParaRPr lang="zh-CN" altLang="en-US" sz="1200" b="1" dirty="0">
                  <a:latin typeface="+mj-ea"/>
                  <a:ea typeface="+mj-ea"/>
                </a:endParaRPr>
              </a:p>
            </p:txBody>
          </p:sp>
          <p:sp>
            <p:nvSpPr>
              <p:cNvPr id="14" name="Title-1"/>
              <p:cNvSpPr/>
              <p:nvPr>
                <p:custDataLst>
                  <p:tags r:id="rId5"/>
                </p:custDataLst>
              </p:nvPr>
            </p:nvSpPr>
            <p:spPr>
              <a:xfrm>
                <a:off x="1593731" y="1091981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员工幸福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4326211" y="1091981"/>
              <a:ext cx="3526877" cy="2484594"/>
              <a:chOff x="4326211" y="1091981"/>
              <a:chExt cx="3526877" cy="2484594"/>
            </a:xfrm>
          </p:grpSpPr>
          <p:sp>
            <p:nvSpPr>
              <p:cNvPr id="16" name="2"/>
              <p:cNvSpPr/>
              <p:nvPr>
                <p:custDataLst>
                  <p:tags r:id="rId6"/>
                </p:custDataLst>
              </p:nvPr>
            </p:nvSpPr>
            <p:spPr>
              <a:xfrm>
                <a:off x="4326211" y="1130300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2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7" name="Body-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359677" y="1532368"/>
                <a:ext cx="3459720" cy="13002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 defTabSz="913765"/>
                <a:r>
                  <a:rPr lang="zh-CN" altLang="en-US" sz="1100" dirty="0">
                    <a:solidFill>
                      <a:schemeClr val="tx1"/>
                    </a:solidFill>
                    <a:latin typeface="+mn-ea"/>
                    <a:sym typeface="+mn-ea"/>
                  </a:rPr>
                  <a:t>（诠释客户使命关键词）</a:t>
                </a:r>
                <a:endParaRPr lang="en-US" altLang="zh-CN" sz="1100" b="1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8" name="Title-2"/>
              <p:cNvSpPr/>
              <p:nvPr>
                <p:custDataLst>
                  <p:tags r:id="rId8"/>
                </p:custDataLst>
              </p:nvPr>
            </p:nvSpPr>
            <p:spPr>
              <a:xfrm>
                <a:off x="4905221" y="1091981"/>
                <a:ext cx="2089749" cy="378887"/>
              </a:xfrm>
              <a:prstGeom prst="round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客户幸福</a:t>
                </a:r>
                <a:endParaRPr lang="zh-CN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60400" y="3711773"/>
              <a:ext cx="3534659" cy="2463878"/>
              <a:chOff x="7992022" y="1109960"/>
              <a:chExt cx="3534659" cy="2463878"/>
            </a:xfrm>
          </p:grpSpPr>
          <p:sp>
            <p:nvSpPr>
              <p:cNvPr id="20" name="3"/>
              <p:cNvSpPr/>
              <p:nvPr>
                <p:custDataLst>
                  <p:tags r:id="rId9"/>
                </p:custDataLst>
              </p:nvPr>
            </p:nvSpPr>
            <p:spPr>
              <a:xfrm>
                <a:off x="7992022" y="1130300"/>
                <a:ext cx="3534659" cy="2443538"/>
              </a:xfrm>
              <a:prstGeom prst="roundRect">
                <a:avLst>
                  <a:gd name="adj" fmla="val 5900"/>
                </a:avLst>
              </a:prstGeom>
              <a:solidFill>
                <a:schemeClr val="accent3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1" name="Body-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039600" y="1898014"/>
                <a:ext cx="3440943" cy="402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/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Title-3"/>
              <p:cNvSpPr/>
              <p:nvPr>
                <p:custDataLst>
                  <p:tags r:id="rId11"/>
                </p:custDataLst>
              </p:nvPr>
            </p:nvSpPr>
            <p:spPr>
              <a:xfrm>
                <a:off x="8925353" y="1109960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公司幸福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334500" y="3711773"/>
              <a:ext cx="3526877" cy="2463063"/>
              <a:chOff x="668689" y="3667485"/>
              <a:chExt cx="3526877" cy="2463063"/>
            </a:xfrm>
          </p:grpSpPr>
          <p:sp>
            <p:nvSpPr>
              <p:cNvPr id="31" name="4"/>
              <p:cNvSpPr/>
              <p:nvPr>
                <p:custDataLst>
                  <p:tags r:id="rId12"/>
                </p:custDataLst>
              </p:nvPr>
            </p:nvSpPr>
            <p:spPr>
              <a:xfrm>
                <a:off x="668689" y="3684273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4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3" name="Body-4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64197" y="4435337"/>
                <a:ext cx="3431369" cy="476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zh-CN" sz="1200" b="1" dirty="0">
                    <a:solidFill>
                      <a:schemeClr val="tx1"/>
                    </a:solidFill>
                    <a:latin typeface="+mj-ea"/>
                    <a:ea typeface="+mj-ea"/>
                    <a:cs typeface="微软雅黑" panose="020B0503020204020204" charset="-122"/>
                    <a:sym typeface="+mn-lt"/>
                  </a:rPr>
                  <a:t> </a:t>
                </a:r>
                <a:endParaRPr lang="en-US" altLang="zh-CN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Title-4"/>
              <p:cNvSpPr/>
              <p:nvPr>
                <p:custDataLst>
                  <p:tags r:id="rId14"/>
                </p:custDataLst>
              </p:nvPr>
            </p:nvSpPr>
            <p:spPr>
              <a:xfrm>
                <a:off x="1588835" y="3667485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行业</a:t>
                </a:r>
                <a:r>
                  <a:rPr lang="en-US" altLang="zh-CN" sz="1600" b="1" dirty="0">
                    <a:solidFill>
                      <a:srgbClr val="FFFFFF"/>
                    </a:solidFill>
                    <a:latin typeface="+mn-ea"/>
                  </a:rPr>
                  <a:t>/</a:t>
                </a:r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社会幸福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  <p:sp>
        <p:nvSpPr>
          <p:cNvPr id="38" name="Title-2"/>
          <p:cNvSpPr/>
          <p:nvPr>
            <p:custDataLst>
              <p:tags r:id="rId15"/>
            </p:custDataLst>
          </p:nvPr>
        </p:nvSpPr>
        <p:spPr>
          <a:xfrm>
            <a:off x="323215" y="660400"/>
            <a:ext cx="1496060" cy="327025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部门使命：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2705" y="1778000"/>
            <a:ext cx="9131935" cy="3371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愿景诠释</a:t>
            </a:r>
            <a:r>
              <a:rPr lang="zh-CN" altLang="en-US" sz="1600" b="1" kern="100" dirty="0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（关键词诠释）</a:t>
            </a:r>
            <a:endParaRPr lang="zh-CN" altLang="en-US" sz="1600" b="1" kern="100" dirty="0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63245" y="2164080"/>
            <a:ext cx="8161020" cy="2621915"/>
            <a:chOff x="996671" y="1847280"/>
            <a:chExt cx="3268305" cy="3088043"/>
          </a:xfrm>
        </p:grpSpPr>
        <p:grpSp>
          <p:nvGrpSpPr>
            <p:cNvPr id="8" name="组合 7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15" name="1"/>
              <p:cNvSpPr/>
              <p:nvPr>
                <p:custDataLst>
                  <p:tags r:id="rId2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Title-1"/>
              <p:cNvSpPr/>
              <p:nvPr>
                <p:custDataLst>
                  <p:tags r:id="rId3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7" name="Body-1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04890" y="1862734"/>
              <a:ext cx="1560086" cy="3072589"/>
              <a:chOff x="2704890" y="1862734"/>
              <a:chExt cx="1560086" cy="3072589"/>
            </a:xfrm>
          </p:grpSpPr>
          <p:sp>
            <p:nvSpPr>
              <p:cNvPr id="10" name="2"/>
              <p:cNvSpPr/>
              <p:nvPr>
                <p:custDataLst>
                  <p:tags r:id="rId5"/>
                </p:custDataLst>
              </p:nvPr>
            </p:nvSpPr>
            <p:spPr>
              <a:xfrm>
                <a:off x="2704890" y="2394947"/>
                <a:ext cx="1543862" cy="2540376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" name="Title-2"/>
              <p:cNvSpPr/>
              <p:nvPr>
                <p:custDataLst>
                  <p:tags r:id="rId6"/>
                </p:custDataLst>
              </p:nvPr>
            </p:nvSpPr>
            <p:spPr>
              <a:xfrm>
                <a:off x="2721113" y="1862734"/>
                <a:ext cx="1524854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Body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2721113" y="2443084"/>
                <a:ext cx="1543863" cy="34820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lvl="0" algn="l" defTabSz="711200">
                  <a:lnSpc>
                    <a:spcPts val="1800"/>
                  </a:lnSpc>
                  <a:spcBef>
                    <a:spcPct val="0"/>
                  </a:spcBef>
                  <a:spcAft>
                    <a:spcPct val="35000"/>
                  </a:spcAft>
                  <a:buFont typeface="Wingdings" panose="05000000000000000000" pitchFamily="2" charset="2"/>
                </a:pPr>
                <a:endParaRPr lang="zh-CN" altLang="en-US" sz="1200" b="1" kern="1200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4" name="2"/>
          <p:cNvSpPr/>
          <p:nvPr>
            <p:custDataLst>
              <p:tags r:id="rId8"/>
            </p:custDataLst>
          </p:nvPr>
        </p:nvSpPr>
        <p:spPr>
          <a:xfrm>
            <a:off x="551815" y="1059180"/>
            <a:ext cx="8067040" cy="7048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itle-2"/>
          <p:cNvSpPr/>
          <p:nvPr>
            <p:custDataLst>
              <p:tags r:id="rId9"/>
            </p:custDataLst>
          </p:nvPr>
        </p:nvSpPr>
        <p:spPr>
          <a:xfrm>
            <a:off x="611505" y="728980"/>
            <a:ext cx="1496060" cy="327025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公司愿景：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11730" y="411480"/>
            <a:ext cx="299085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p>
            <a:pPr marL="342900" indent="-342900" algn="just" fontAlgn="base">
              <a:lnSpc>
                <a:spcPct val="150000"/>
              </a:lnSpc>
            </a:pP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部门层级写，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经营者走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  <a:sym typeface="+mn-lt"/>
              </a:rPr>
              <a:t>49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天，本页删除</a:t>
            </a:r>
            <a:endParaRPr lang="zh-CN" altLang="en-US" sz="1200" b="1" dirty="0">
              <a:highlight>
                <a:srgbClr val="00FF00"/>
              </a:highlight>
              <a:latin typeface="+mn-ea"/>
              <a:sym typeface="+mn-lt"/>
            </a:endParaRPr>
          </a:p>
        </p:txBody>
      </p:sp>
      <p:sp>
        <p:nvSpPr>
          <p:cNvPr id="4" name="2"/>
          <p:cNvSpPr/>
          <p:nvPr>
            <p:custDataLst>
              <p:tags r:id="rId1"/>
            </p:custDataLst>
          </p:nvPr>
        </p:nvSpPr>
        <p:spPr>
          <a:xfrm>
            <a:off x="551815" y="1059180"/>
            <a:ext cx="8067040" cy="7048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705" y="1778000"/>
            <a:ext cx="9131935" cy="3371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部门愿景诠释</a:t>
            </a:r>
            <a:r>
              <a:rPr lang="zh-CN" altLang="en-US" sz="1600" b="1" kern="100" dirty="0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（关键词诠释）</a:t>
            </a:r>
            <a:endParaRPr lang="zh-CN" altLang="en-US" sz="1600" b="1" kern="100" dirty="0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63245" y="2164080"/>
            <a:ext cx="8161020" cy="2621915"/>
            <a:chOff x="996671" y="1847280"/>
            <a:chExt cx="3268305" cy="3088043"/>
          </a:xfrm>
        </p:grpSpPr>
        <p:grpSp>
          <p:nvGrpSpPr>
            <p:cNvPr id="14" name="组合 13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18" name="1"/>
              <p:cNvSpPr/>
              <p:nvPr>
                <p:custDataLst>
                  <p:tags r:id="rId3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9" name="Title-1"/>
              <p:cNvSpPr/>
              <p:nvPr>
                <p:custDataLst>
                  <p:tags r:id="rId4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" name="Body-1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2704890" y="1862734"/>
              <a:ext cx="1560086" cy="3072589"/>
              <a:chOff x="2704890" y="1862734"/>
              <a:chExt cx="1560086" cy="3072589"/>
            </a:xfrm>
          </p:grpSpPr>
          <p:sp>
            <p:nvSpPr>
              <p:cNvPr id="22" name="2"/>
              <p:cNvSpPr/>
              <p:nvPr>
                <p:custDataLst>
                  <p:tags r:id="rId6"/>
                </p:custDataLst>
              </p:nvPr>
            </p:nvSpPr>
            <p:spPr>
              <a:xfrm>
                <a:off x="2704890" y="2394947"/>
                <a:ext cx="1543862" cy="2540376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3" name="Title-2"/>
              <p:cNvSpPr/>
              <p:nvPr>
                <p:custDataLst>
                  <p:tags r:id="rId7"/>
                </p:custDataLst>
              </p:nvPr>
            </p:nvSpPr>
            <p:spPr>
              <a:xfrm>
                <a:off x="2721113" y="1862734"/>
                <a:ext cx="1524854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" name="Body-2"/>
              <p:cNvSpPr/>
              <p:nvPr>
                <p:custDataLst>
                  <p:tags r:id="rId8"/>
                </p:custDataLst>
              </p:nvPr>
            </p:nvSpPr>
            <p:spPr>
              <a:xfrm flipH="1">
                <a:off x="2721113" y="2443084"/>
                <a:ext cx="1543863" cy="34820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lvl="0" algn="l" defTabSz="711200">
                  <a:lnSpc>
                    <a:spcPts val="1800"/>
                  </a:lnSpc>
                  <a:spcBef>
                    <a:spcPct val="0"/>
                  </a:spcBef>
                  <a:spcAft>
                    <a:spcPct val="35000"/>
                  </a:spcAft>
                  <a:buFont typeface="Wingdings" panose="05000000000000000000" pitchFamily="2" charset="2"/>
                </a:pPr>
                <a:endParaRPr lang="zh-CN" altLang="en-US" sz="1200" b="1" kern="1200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5" name="Title-2"/>
          <p:cNvSpPr/>
          <p:nvPr>
            <p:custDataLst>
              <p:tags r:id="rId9"/>
            </p:custDataLst>
          </p:nvPr>
        </p:nvSpPr>
        <p:spPr>
          <a:xfrm>
            <a:off x="611505" y="728980"/>
            <a:ext cx="1496060" cy="327025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部门愿景：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230647" y="1418987"/>
            <a:ext cx="6819104" cy="3561428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913765">
              <a:lnSpc>
                <a:spcPts val="2600"/>
              </a:lnSpc>
            </a:pPr>
            <a:endParaRPr lang="zh-CN" altLang="en-US" sz="16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15"/>
          <p:cNvSpPr/>
          <p:nvPr/>
        </p:nvSpPr>
        <p:spPr>
          <a:xfrm>
            <a:off x="1691363" y="1419093"/>
            <a:ext cx="3844491" cy="342549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17"/>
          <p:cNvSpPr txBox="1"/>
          <p:nvPr/>
        </p:nvSpPr>
        <p:spPr>
          <a:xfrm>
            <a:off x="3073550" y="1441463"/>
            <a:ext cx="2376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  <a:latin typeface="+mj-ea"/>
                <a:ea typeface="+mj-ea"/>
              </a:rPr>
              <a:t>故事标题</a:t>
            </a:r>
            <a:endParaRPr lang="zh-CN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79970" y="2499995"/>
            <a:ext cx="1311275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 smtClean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可配图片</a:t>
            </a:r>
            <a:endParaRPr lang="zh-CN" altLang="en-US" sz="1600" b="1" dirty="0" smtClean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 smtClean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图文并茂</a:t>
            </a:r>
            <a:endParaRPr lang="zh-CN" altLang="en-US" sz="1600" b="1" dirty="0" smtClean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 smtClean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增强画面感</a:t>
            </a: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 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27630" y="2355215"/>
            <a:ext cx="1311275" cy="335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 smtClean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格式自己调整</a:t>
            </a: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 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6370" y="3868420"/>
            <a:ext cx="2473960" cy="8610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23215" y="976630"/>
            <a:ext cx="8572500" cy="275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（本周使命聚焦客户幸福部分。要点：如：和尚为什么想看到孩子们的笑容；稻盛先生为什么要降低全体国民通讯费用？）</a:t>
            </a:r>
            <a:endParaRPr lang="en-US" altLang="zh-CN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" name="圆角矩形 15"/>
          <p:cNvSpPr/>
          <p:nvPr/>
        </p:nvSpPr>
        <p:spPr>
          <a:xfrm>
            <a:off x="251460" y="628015"/>
            <a:ext cx="6798310" cy="416560"/>
          </a:xfrm>
          <a:prstGeom prst="roundRect">
            <a:avLst>
              <a:gd name="adj" fmla="val 39043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800" dirty="0">
                <a:solidFill>
                  <a:schemeClr val="bg1"/>
                </a:solidFill>
                <a:sym typeface="+mn-ea"/>
              </a:rPr>
              <a:t>三、</a:t>
            </a:r>
            <a:r>
              <a:rPr lang="zh-CN" altLang="en-US" sz="1800" dirty="0">
                <a:solidFill>
                  <a:schemeClr val="bg1"/>
                </a:solidFill>
                <a:sym typeface="+mn-ea"/>
              </a:rPr>
              <a:t>你为什么升起这个使命？（客户幸福的发心故事）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5</a:t>
            </a:r>
            <a:r>
              <a:rPr lang="zh-CN" altLang="en-US" sz="1800" dirty="0">
                <a:solidFill>
                  <a:schemeClr val="bg1"/>
                </a:solidFill>
                <a:sym typeface="+mn-ea"/>
              </a:rPr>
              <a:t>分</a:t>
            </a:r>
            <a:r>
              <a:rPr lang="en-US" sz="1800" dirty="0">
                <a:solidFill>
                  <a:schemeClr val="tx1"/>
                </a:solidFill>
                <a:sym typeface="+mn-ea"/>
              </a:rPr>
              <a:t>   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1131570"/>
            <a:ext cx="7814310" cy="3092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kumimoji="0" lang="zh-CN" altLang="en-US" sz="13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客户</a:t>
            </a:r>
            <a:r>
              <a:rPr kumimoji="0" lang="zh-CN" altLang="en-US" sz="13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幸福指数 </a:t>
            </a:r>
            <a:r>
              <a:rPr kumimoji="0" lang="en-US" altLang="zh-CN" sz="13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0 </a:t>
            </a:r>
            <a:r>
              <a:rPr kumimoji="0" lang="zh-CN" altLang="en-US" sz="13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分的标准：（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建议不少于10条）</a:t>
            </a:r>
            <a:endParaRPr kumimoji="0" lang="zh-CN" altLang="en-US" sz="13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0910" y="97155"/>
            <a:ext cx="3215640" cy="6743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noAutofit/>
          </a:bodyPr>
          <a:p>
            <a:pPr marL="342900" indent="-342900" algn="just" fontAlgn="base">
              <a:lnSpc>
                <a:spcPct val="100000"/>
              </a:lnSpc>
            </a:pP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部门层级</a:t>
            </a:r>
            <a:r>
              <a:rPr lang="zh-CN" sz="1200" b="1" dirty="0">
                <a:highlight>
                  <a:srgbClr val="00FF00"/>
                </a:highlight>
                <a:latin typeface="+mn-ea"/>
                <a:sym typeface="+mn-lt"/>
              </a:rPr>
              <a:t>写方案时，写在公司方案的下面，</a:t>
            </a:r>
            <a:endParaRPr lang="zh-CN" sz="1200" b="1" dirty="0">
              <a:highlight>
                <a:srgbClr val="00FF00"/>
              </a:highlight>
              <a:latin typeface="+mn-ea"/>
              <a:sym typeface="+mn-lt"/>
            </a:endParaRPr>
          </a:p>
          <a:p>
            <a:pPr marL="342900" indent="-342900" algn="just" fontAlgn="base">
              <a:lnSpc>
                <a:spcPct val="100000"/>
              </a:lnSpc>
            </a:pPr>
            <a:r>
              <a:rPr lang="zh-CN" sz="1200" b="1" dirty="0">
                <a:highlight>
                  <a:srgbClr val="00FF00"/>
                </a:highlight>
                <a:latin typeface="+mn-ea"/>
                <a:sym typeface="+mn-lt"/>
              </a:rPr>
              <a:t>公司层级的方案里，部门执行时，请标注。</a:t>
            </a:r>
            <a:endParaRPr lang="zh-CN" sz="1200" b="1" dirty="0">
              <a:highlight>
                <a:srgbClr val="00FF00"/>
              </a:highlight>
              <a:latin typeface="+mn-ea"/>
              <a:sym typeface="+mn-lt"/>
            </a:endParaRPr>
          </a:p>
        </p:txBody>
      </p:sp>
      <p:sp>
        <p:nvSpPr>
          <p:cNvPr id="104" name="圆角矩形 15"/>
          <p:cNvSpPr/>
          <p:nvPr/>
        </p:nvSpPr>
        <p:spPr>
          <a:xfrm>
            <a:off x="107315" y="551815"/>
            <a:ext cx="8547100" cy="528955"/>
          </a:xfrm>
          <a:prstGeom prst="roundRect">
            <a:avLst>
              <a:gd name="adj" fmla="val 39043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四、列出客户幸福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0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分，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20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分，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50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分，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100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分的标准诠释，以及每个标准对应的行动方案，并按模版填写（部门使命要写部门的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0-100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分客户幸福标准诠释和行动方案）。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10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1"/>
            </p:custDataLst>
          </p:nvPr>
        </p:nvGraphicFramePr>
        <p:xfrm>
          <a:off x="179070" y="1491615"/>
          <a:ext cx="8582660" cy="3157220"/>
        </p:xfrm>
        <a:graphic>
          <a:graphicData uri="http://schemas.openxmlformats.org/drawingml/2006/table">
            <a:tbl>
              <a:tblPr/>
              <a:tblGrid>
                <a:gridCol w="768985"/>
                <a:gridCol w="636270"/>
                <a:gridCol w="879475"/>
                <a:gridCol w="3284220"/>
                <a:gridCol w="781050"/>
                <a:gridCol w="703580"/>
                <a:gridCol w="633095"/>
                <a:gridCol w="895985"/>
              </a:tblGrid>
              <a:tr h="3752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幸福分值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标准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诠释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sym typeface="+mn-ea"/>
                        </a:rPr>
                        <a:t>行动计划</a:t>
                      </a:r>
                      <a:endParaRPr lang="zh-CN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检视点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（时间）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责任人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检视人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完成</a:t>
                      </a: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情况</a:t>
                      </a:r>
                      <a:endParaRPr lang="zh-CN" altLang="en-US" sz="1200" b="1" dirty="0" smtClean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</a:tr>
              <a:tr h="278130">
                <a:tc rowSpan="10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r>
                        <a:rPr lang="zh-CN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  <a:endParaRPr lang="zh-CN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sz="10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接受：安心，放心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49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39792" y="780444"/>
            <a:ext cx="4602956" cy="2914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分标准成果展示：</a:t>
            </a:r>
            <a:endParaRPr lang="zh-CN" altLang="en-US" sz="13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403659" y="1707556"/>
            <a:ext cx="5256584" cy="2253936"/>
          </a:xfrm>
          <a:prstGeom prst="rect">
            <a:avLst/>
          </a:prstGeom>
          <a:noFill/>
          <a:ln w="15875" cap="flat" cmpd="sng">
            <a:noFill/>
            <a:prstDash val="sys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algn="ctr" fontAlgn="ct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ea"/>
                <a:cs typeface="微软雅黑" panose="020B0503020204020204" charset="-122"/>
                <a:sym typeface="+mn-lt"/>
              </a:rPr>
              <a:t>放</a:t>
            </a: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ea"/>
                <a:cs typeface="微软雅黑" panose="020B0503020204020204" charset="-122"/>
                <a:sym typeface="+mn-lt"/>
              </a:rPr>
              <a:t>图片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ea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605" y="699770"/>
            <a:ext cx="6260465" cy="306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4、2）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幸福指数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分的标准：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（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建议不少于8条）</a:t>
            </a:r>
            <a:endParaRPr kumimoji="0" lang="en-US" altLang="zh-CN" sz="13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10910" y="97155"/>
            <a:ext cx="3215640" cy="6743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noAutofit/>
          </a:bodyPr>
          <a:p>
            <a:pPr marL="342900" indent="-342900" algn="just" fontAlgn="base">
              <a:lnSpc>
                <a:spcPct val="100000"/>
              </a:lnSpc>
            </a:pP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部门层级</a:t>
            </a:r>
            <a:r>
              <a:rPr lang="zh-CN" sz="1200" b="1" dirty="0">
                <a:highlight>
                  <a:srgbClr val="00FF00"/>
                </a:highlight>
                <a:latin typeface="+mn-ea"/>
                <a:sym typeface="+mn-lt"/>
              </a:rPr>
              <a:t>写方案时，写在公司方案的下面，</a:t>
            </a:r>
            <a:endParaRPr lang="zh-CN" sz="1200" b="1" dirty="0">
              <a:highlight>
                <a:srgbClr val="00FF00"/>
              </a:highlight>
              <a:latin typeface="+mn-ea"/>
              <a:sym typeface="+mn-lt"/>
            </a:endParaRPr>
          </a:p>
          <a:p>
            <a:pPr marL="342900" indent="-342900" algn="just" fontAlgn="base">
              <a:lnSpc>
                <a:spcPct val="100000"/>
              </a:lnSpc>
            </a:pPr>
            <a:r>
              <a:rPr lang="zh-CN" sz="1200" b="1" dirty="0">
                <a:highlight>
                  <a:srgbClr val="00FF00"/>
                </a:highlight>
                <a:latin typeface="+mn-ea"/>
                <a:sym typeface="+mn-lt"/>
              </a:rPr>
              <a:t>公司层级的方案里，部门执行时，请标注。</a:t>
            </a:r>
            <a:endParaRPr lang="zh-CN" sz="1200" b="1" dirty="0">
              <a:highlight>
                <a:srgbClr val="00FF00"/>
              </a:highlight>
              <a:latin typeface="+mn-ea"/>
              <a:sym typeface="+mn-lt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1"/>
            </p:custDataLst>
          </p:nvPr>
        </p:nvGraphicFramePr>
        <p:xfrm>
          <a:off x="107315" y="1059815"/>
          <a:ext cx="8582660" cy="3157220"/>
        </p:xfrm>
        <a:graphic>
          <a:graphicData uri="http://schemas.openxmlformats.org/drawingml/2006/table">
            <a:tbl>
              <a:tblPr/>
              <a:tblGrid>
                <a:gridCol w="762000"/>
                <a:gridCol w="643255"/>
                <a:gridCol w="988060"/>
                <a:gridCol w="3175635"/>
                <a:gridCol w="781050"/>
                <a:gridCol w="703580"/>
                <a:gridCol w="633095"/>
                <a:gridCol w="895985"/>
              </a:tblGrid>
              <a:tr h="3752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幸福分值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标准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诠释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sym typeface="+mn-ea"/>
                        </a:rPr>
                        <a:t>行动计划</a:t>
                      </a:r>
                      <a:endParaRPr lang="zh-CN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检视点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（时间）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责任人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检视人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完成</a:t>
                      </a: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情况</a:t>
                      </a:r>
                      <a:endParaRPr lang="zh-CN" altLang="en-US" sz="1200" b="1" dirty="0" smtClean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</a:tr>
              <a:tr h="278130">
                <a:tc rowSpan="10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r>
                        <a:rPr lang="zh-CN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  <a:endParaRPr lang="zh-CN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sz="10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满意：物超所值（凡经我手必将更好）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49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5674" y="699038"/>
            <a:ext cx="4602956" cy="2914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分标准成果展示：</a:t>
            </a:r>
            <a:endParaRPr lang="zh-CN" altLang="en-US" sz="13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403659" y="1707556"/>
            <a:ext cx="5256584" cy="2253936"/>
          </a:xfrm>
          <a:prstGeom prst="rect">
            <a:avLst/>
          </a:prstGeom>
          <a:noFill/>
          <a:ln w="15875" cap="flat" cmpd="sng">
            <a:noFill/>
            <a:prstDash val="sys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algn="ctr" fontAlgn="ct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ea"/>
                <a:cs typeface="微软雅黑" panose="020B0503020204020204" charset="-122"/>
                <a:sym typeface="+mn-lt"/>
              </a:rPr>
              <a:t>放</a:t>
            </a: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ea"/>
                <a:cs typeface="微软雅黑" panose="020B0503020204020204" charset="-122"/>
                <a:sym typeface="+mn-lt"/>
              </a:rPr>
              <a:t>图片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ea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605" y="699770"/>
            <a:ext cx="8457565" cy="306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algn="l"/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客户幸福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指数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分的标准：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（建议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不少于6条）</a:t>
            </a:r>
            <a:endParaRPr kumimoji="0" lang="zh-CN" altLang="en-US" sz="13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>
              <a:defRPr/>
            </a:pPr>
            <a:endParaRPr lang="zh-CN" altLang="en-US" sz="13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10910" y="97155"/>
            <a:ext cx="3215640" cy="6743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noAutofit/>
          </a:bodyPr>
          <a:p>
            <a:pPr marL="342900" indent="-342900" algn="just" fontAlgn="base">
              <a:lnSpc>
                <a:spcPct val="100000"/>
              </a:lnSpc>
            </a:pP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部门层级</a:t>
            </a:r>
            <a:r>
              <a:rPr lang="zh-CN" sz="1200" b="1" dirty="0">
                <a:highlight>
                  <a:srgbClr val="00FF00"/>
                </a:highlight>
                <a:latin typeface="+mn-ea"/>
                <a:sym typeface="+mn-lt"/>
              </a:rPr>
              <a:t>写方案时，写在公司方案的下面，</a:t>
            </a:r>
            <a:endParaRPr lang="zh-CN" sz="1200" b="1" dirty="0">
              <a:highlight>
                <a:srgbClr val="00FF00"/>
              </a:highlight>
              <a:latin typeface="+mn-ea"/>
              <a:sym typeface="+mn-lt"/>
            </a:endParaRPr>
          </a:p>
          <a:p>
            <a:pPr marL="342900" indent="-342900" algn="just" fontAlgn="base">
              <a:lnSpc>
                <a:spcPct val="100000"/>
              </a:lnSpc>
            </a:pPr>
            <a:r>
              <a:rPr lang="zh-CN" sz="1200" b="1" dirty="0">
                <a:highlight>
                  <a:srgbClr val="00FF00"/>
                </a:highlight>
                <a:latin typeface="+mn-ea"/>
                <a:sym typeface="+mn-lt"/>
              </a:rPr>
              <a:t>公司层级的方案里，部门执行时，请标注。</a:t>
            </a:r>
            <a:endParaRPr lang="zh-CN" sz="1200" b="1" dirty="0">
              <a:highlight>
                <a:srgbClr val="00FF00"/>
              </a:highlight>
              <a:latin typeface="+mn-ea"/>
              <a:sym typeface="+mn-lt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1"/>
            </p:custDataLst>
          </p:nvPr>
        </p:nvGraphicFramePr>
        <p:xfrm>
          <a:off x="107315" y="1059815"/>
          <a:ext cx="8582660" cy="3157220"/>
        </p:xfrm>
        <a:graphic>
          <a:graphicData uri="http://schemas.openxmlformats.org/drawingml/2006/table">
            <a:tbl>
              <a:tblPr/>
              <a:tblGrid>
                <a:gridCol w="762000"/>
                <a:gridCol w="643255"/>
                <a:gridCol w="988060"/>
                <a:gridCol w="3175635"/>
                <a:gridCol w="781050"/>
                <a:gridCol w="703580"/>
                <a:gridCol w="633095"/>
                <a:gridCol w="895985"/>
              </a:tblGrid>
              <a:tr h="3752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幸福分值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标准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诠释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sym typeface="+mn-ea"/>
                        </a:rPr>
                        <a:t>行动计划</a:t>
                      </a:r>
                      <a:endParaRPr lang="zh-CN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检视点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（时间）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责任人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检视人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完成</a:t>
                      </a: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情况</a:t>
                      </a:r>
                      <a:endParaRPr lang="zh-CN" altLang="en-US" sz="1200" b="1" dirty="0" smtClean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</a:tr>
              <a:tr h="278130">
                <a:tc rowSpan="10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zh-CN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  <a:endParaRPr lang="zh-CN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sz="10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感动：不是什么而是什么，有形到无形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49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605" y="771767"/>
            <a:ext cx="4602956" cy="2914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分标准成果展示：</a:t>
            </a:r>
            <a:endParaRPr lang="zh-CN" altLang="en-US" sz="13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403659" y="1707556"/>
            <a:ext cx="5256584" cy="2253936"/>
          </a:xfrm>
          <a:prstGeom prst="rect">
            <a:avLst/>
          </a:prstGeom>
          <a:noFill/>
          <a:ln w="15875" cap="flat" cmpd="sng">
            <a:noFill/>
            <a:prstDash val="sys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algn="ctr" fontAlgn="ct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ea"/>
                <a:cs typeface="微软雅黑" panose="020B0503020204020204" charset="-122"/>
                <a:sym typeface="+mn-lt"/>
              </a:rPr>
              <a:t>放</a:t>
            </a: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ea"/>
                <a:cs typeface="微软雅黑" panose="020B0503020204020204" charset="-122"/>
                <a:sym typeface="+mn-lt"/>
              </a:rPr>
              <a:t>图片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ea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360" y="699770"/>
            <a:ext cx="7625715" cy="306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>
              <a:defRPr/>
            </a:pP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客户幸福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指数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分的标准：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（100分标准，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训练建议不少于5条）</a:t>
            </a:r>
            <a:endParaRPr kumimoji="0" lang="zh-CN" altLang="en-US" sz="13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>
              <a:defRPr/>
            </a:pPr>
            <a:endParaRPr lang="zh-CN" altLang="en-US" sz="13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10910" y="97155"/>
            <a:ext cx="3215640" cy="6743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noAutofit/>
          </a:bodyPr>
          <a:p>
            <a:pPr marL="342900" indent="-342900" algn="just" fontAlgn="base">
              <a:lnSpc>
                <a:spcPct val="100000"/>
              </a:lnSpc>
            </a:pPr>
            <a:r>
              <a:rPr lang="zh-CN" altLang="en-US" sz="1200" b="1" dirty="0">
                <a:highlight>
                  <a:srgbClr val="00FF00"/>
                </a:highlight>
                <a:latin typeface="+mn-ea"/>
                <a:sym typeface="+mn-lt"/>
              </a:rPr>
              <a:t>部门层级</a:t>
            </a:r>
            <a:r>
              <a:rPr lang="zh-CN" sz="1200" b="1" dirty="0">
                <a:highlight>
                  <a:srgbClr val="00FF00"/>
                </a:highlight>
                <a:latin typeface="+mn-ea"/>
                <a:sym typeface="+mn-lt"/>
              </a:rPr>
              <a:t>写方案时，写在公司方案的下面，</a:t>
            </a:r>
            <a:endParaRPr lang="zh-CN" sz="1200" b="1" dirty="0">
              <a:highlight>
                <a:srgbClr val="00FF00"/>
              </a:highlight>
              <a:latin typeface="+mn-ea"/>
              <a:sym typeface="+mn-lt"/>
            </a:endParaRPr>
          </a:p>
          <a:p>
            <a:pPr marL="342900" indent="-342900" algn="just" fontAlgn="base">
              <a:lnSpc>
                <a:spcPct val="100000"/>
              </a:lnSpc>
            </a:pPr>
            <a:r>
              <a:rPr lang="zh-CN" sz="1200" b="1" dirty="0">
                <a:highlight>
                  <a:srgbClr val="00FF00"/>
                </a:highlight>
                <a:latin typeface="+mn-ea"/>
                <a:sym typeface="+mn-lt"/>
              </a:rPr>
              <a:t>公司层级的方案里，部门执行时，请标注。</a:t>
            </a:r>
            <a:endParaRPr lang="zh-CN" sz="1200" b="1" dirty="0">
              <a:highlight>
                <a:srgbClr val="00FF00"/>
              </a:highlight>
              <a:latin typeface="+mn-ea"/>
              <a:sym typeface="+mn-lt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1"/>
            </p:custDataLst>
          </p:nvPr>
        </p:nvGraphicFramePr>
        <p:xfrm>
          <a:off x="107315" y="1059815"/>
          <a:ext cx="8789035" cy="3148965"/>
        </p:xfrm>
        <a:graphic>
          <a:graphicData uri="http://schemas.openxmlformats.org/drawingml/2006/table">
            <a:tbl>
              <a:tblPr/>
              <a:tblGrid>
                <a:gridCol w="780415"/>
                <a:gridCol w="658495"/>
                <a:gridCol w="1012190"/>
                <a:gridCol w="3251835"/>
                <a:gridCol w="799465"/>
                <a:gridCol w="720725"/>
                <a:gridCol w="648335"/>
                <a:gridCol w="917575"/>
              </a:tblGrid>
              <a:tr h="3752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幸福分值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标准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诠释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sym typeface="+mn-ea"/>
                        </a:rPr>
                        <a:t>行动计划</a:t>
                      </a:r>
                      <a:endParaRPr lang="zh-CN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检视点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（时间）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sz="1200" b="1" i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责任人</a:t>
                      </a:r>
                      <a:endParaRPr lang="zh-CN" sz="1200" b="1" i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检视人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完成</a:t>
                      </a:r>
                      <a:r>
                        <a:rPr lang="zh-CN" altLang="en-US" sz="1200" b="1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情况</a:t>
                      </a:r>
                      <a:endParaRPr lang="zh-CN" altLang="en-US" sz="1200" b="1" dirty="0" smtClean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/>
                    </a:solidFill>
                  </a:tcPr>
                </a:tc>
              </a:tr>
              <a:tr h="277495">
                <a:tc rowSpan="10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r>
                        <a:rPr lang="zh-CN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  <a:endParaRPr lang="zh-CN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sz="10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尊敬：善意唤醒人们的善良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49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49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49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/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49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7495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559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130">
                <a:tc vMerge="1">
                  <a:tcPr/>
                </a:tc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1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  <a:cs typeface="+mn-cs"/>
                        <a:sym typeface="Calibri" panose="020F0502020204030204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360" y="771767"/>
            <a:ext cx="4602956" cy="2914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</a:t>
            </a:r>
            <a:r>
              <a:rPr lang="zh-CN" altLang="en-US" sz="13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分标准成果展示：</a:t>
            </a:r>
            <a:endParaRPr lang="zh-CN" altLang="en-US" sz="13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403659" y="1707556"/>
            <a:ext cx="5256584" cy="2253936"/>
          </a:xfrm>
          <a:prstGeom prst="rect">
            <a:avLst/>
          </a:prstGeom>
          <a:noFill/>
          <a:ln w="15875" cap="flat" cmpd="sng">
            <a:noFill/>
            <a:prstDash val="sys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algn="ctr" fontAlgn="ctr">
              <a:lnSpc>
                <a:spcPct val="150000"/>
              </a:lnSpc>
              <a:spcAft>
                <a:spcPts val="800"/>
              </a:spcAft>
              <a:buSzPct val="100000"/>
            </a:pP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ea"/>
                <a:cs typeface="微软雅黑" panose="020B0503020204020204" charset="-122"/>
                <a:sym typeface="+mn-lt"/>
              </a:rPr>
              <a:t>放</a:t>
            </a:r>
            <a:r>
              <a: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ea"/>
                <a:cs typeface="微软雅黑" panose="020B0503020204020204" charset="-122"/>
                <a:sym typeface="+mn-lt"/>
              </a:rPr>
              <a:t>图片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ea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203575" y="1275080"/>
            <a:ext cx="1945005" cy="31178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latin typeface="Calibri" panose="020F0502020204030204" charset="0"/>
                <a:ea typeface="微软雅黑" panose="020B0503020204020204" charset="-122"/>
              </a:defRPr>
            </a:lvl2pPr>
            <a:lvl3pPr marL="1143000" indent="-228600">
              <a:defRPr>
                <a:latin typeface="Calibri" panose="020F0502020204030204" charset="0"/>
                <a:ea typeface="微软雅黑" panose="020B0503020204020204" charset="-122"/>
              </a:defRPr>
            </a:lvl3pPr>
            <a:lvl4pPr marL="1600200" indent="-228600">
              <a:defRPr>
                <a:latin typeface="Calibri" panose="020F0502020204030204" charset="0"/>
                <a:ea typeface="微软雅黑" panose="020B0503020204020204" charset="-122"/>
              </a:defRPr>
            </a:lvl4pPr>
            <a:lvl5pPr marL="2057400" indent="-228600">
              <a:defRPr>
                <a:latin typeface="Calibri" panose="020F050202020403020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9pPr>
          </a:lstStyle>
          <a:p>
            <a:pPr algn="ctr">
              <a:buNone/>
            </a:pPr>
            <a:r>
              <a:rPr lang="en-US" altLang="zh-CN" sz="1300" b="1" dirty="0">
                <a:solidFill>
                  <a:schemeClr val="bg1"/>
                </a:solidFill>
                <a:sym typeface="+mn-ea"/>
              </a:rPr>
              <a:t>XX</a:t>
            </a:r>
            <a:r>
              <a:rPr lang="zh-CN" altLang="en-US" sz="1300" b="1" dirty="0">
                <a:solidFill>
                  <a:schemeClr val="bg1"/>
                </a:solidFill>
                <a:sym typeface="+mn-ea"/>
              </a:rPr>
              <a:t>分标准</a:t>
            </a:r>
            <a:r>
              <a:rPr lang="en-US" altLang="zh-CN" sz="1300" b="1" dirty="0">
                <a:solidFill>
                  <a:schemeClr val="bg1"/>
                </a:solidFill>
                <a:sym typeface="+mn-ea"/>
              </a:rPr>
              <a:t>+</a:t>
            </a:r>
            <a:r>
              <a:rPr lang="zh-CN" altLang="en-US" sz="1300" b="1" dirty="0">
                <a:solidFill>
                  <a:schemeClr val="bg1"/>
                </a:solidFill>
                <a:sym typeface="+mn-ea"/>
              </a:rPr>
              <a:t>故</a:t>
            </a:r>
            <a:r>
              <a:rPr lang="zh-CN" altLang="en-US" sz="1300" b="1" dirty="0" smtClean="0">
                <a:solidFill>
                  <a:schemeClr val="bg1"/>
                </a:solidFill>
                <a:sym typeface="+mn-ea"/>
              </a:rPr>
              <a:t>事标题</a:t>
            </a:r>
            <a:endParaRPr lang="zh-CN" altLang="en-US" sz="1300" b="1" spc="30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45" name="Body-1"/>
          <p:cNvSpPr txBox="1"/>
          <p:nvPr>
            <p:custDataLst>
              <p:tags r:id="rId2"/>
            </p:custDataLst>
          </p:nvPr>
        </p:nvSpPr>
        <p:spPr>
          <a:xfrm>
            <a:off x="7595870" y="2308225"/>
            <a:ext cx="1538605" cy="1704975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10310"/>
                </a:solidFill>
                <a:latin typeface="+mj-ea"/>
                <a:ea typeface="+mj-ea"/>
                <a:cs typeface="微软雅黑" panose="020B0503020204020204" charset="-122"/>
                <a:sym typeface="Arial" panose="020B0604020202020204" pitchFamily="34" charset="0"/>
              </a:rPr>
              <a:t>附图片</a:t>
            </a:r>
            <a:endParaRPr lang="zh-CN" altLang="en-US" sz="3200" b="1" dirty="0">
              <a:solidFill>
                <a:srgbClr val="010310"/>
              </a:solidFill>
              <a:latin typeface="+mj-ea"/>
              <a:ea typeface="+mj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859155"/>
            <a:ext cx="8497570" cy="5873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noAutofit/>
          </a:bodyPr>
          <a:p>
            <a:pPr marL="342900" indent="-342900" algn="just" fontAlgn="base">
              <a:lnSpc>
                <a:spcPct val="100000"/>
              </a:lnSpc>
            </a:pPr>
            <a:r>
              <a:rPr lang="zh-CN" altLang="en-US" sz="1200" dirty="0">
                <a:latin typeface="+mn-ea"/>
                <a:sym typeface="+mn-ea"/>
              </a:rPr>
              <a:t>1、做了什么？要是一件具体的事情。这件事要围绕客户幸福来做。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sym typeface="+mn-ea"/>
              </a:rPr>
              <a:t>+2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sym typeface="+mn-ea"/>
              </a:rPr>
              <a:t>  </a:t>
            </a:r>
            <a:r>
              <a:rPr lang="en-US" altLang="zh-CN" sz="1200" dirty="0">
                <a:latin typeface="+mn-ea"/>
                <a:sym typeface="+mn-ea"/>
              </a:rPr>
              <a:t>          </a:t>
            </a:r>
            <a:endParaRPr lang="en-US" altLang="zh-CN" sz="1200" dirty="0">
              <a:latin typeface="+mn-ea"/>
              <a:sym typeface="+mn-ea"/>
            </a:endParaRPr>
          </a:p>
          <a:p>
            <a:pPr marL="342900" indent="-342900" algn="just" fontAlgn="base">
              <a:lnSpc>
                <a:spcPct val="100000"/>
              </a:lnSpc>
            </a:pPr>
            <a:r>
              <a:rPr lang="zh-CN" altLang="en-US" sz="1200" dirty="0">
                <a:latin typeface="+mn-ea"/>
                <a:sym typeface="+mn-ea"/>
              </a:rPr>
              <a:t>2、追问、判断这件事是不是做到极度认真/极度完美了？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sym typeface="+mn-ea"/>
              </a:rPr>
              <a:t>+2  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sym typeface="+mn-ea"/>
              </a:rPr>
              <a:t>      </a:t>
            </a:r>
            <a:r>
              <a:rPr lang="en-US" altLang="zh-CN" sz="1200" dirty="0">
                <a:latin typeface="+mn-ea"/>
                <a:sym typeface="+mn-ea"/>
              </a:rPr>
              <a:t>3</a:t>
            </a:r>
            <a:r>
              <a:rPr lang="zh-CN" altLang="en-US" sz="1200" dirty="0">
                <a:latin typeface="+mn-ea"/>
                <a:sym typeface="+mn-ea"/>
              </a:rPr>
              <a:t>、自己或客户的心性有没有因此得到提升？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sym typeface="+mn-ea"/>
              </a:rPr>
              <a:t>+1</a:t>
            </a:r>
            <a:endParaRPr lang="en-US" altLang="zh-CN" sz="1000" b="1" kern="1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04" name="圆角矩形 15"/>
          <p:cNvSpPr/>
          <p:nvPr/>
        </p:nvSpPr>
        <p:spPr>
          <a:xfrm>
            <a:off x="323215" y="558800"/>
            <a:ext cx="6563995" cy="357505"/>
          </a:xfrm>
          <a:prstGeom prst="roundRect">
            <a:avLst>
              <a:gd name="adj" fmla="val 39043"/>
            </a:avLst>
          </a:prstGeom>
          <a:solidFill>
            <a:srgbClr val="C00000"/>
          </a:solidFill>
          <a:ln w="12700">
            <a:miter lim="400000"/>
          </a:ln>
        </p:spPr>
        <p:txBody>
          <a:bodyPr lIns="0" tIns="0" rIns="0" bIns="0" anchor="ctr"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五、围绕客户幸福，现在或者近期有哪件事做到极致完美。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</a:t>
            </a:r>
            <a:endParaRPr lang="en-US" altLang="zh-CN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" name="矩形: 圆角 4"/>
          <p:cNvSpPr/>
          <p:nvPr/>
        </p:nvSpPr>
        <p:spPr>
          <a:xfrm>
            <a:off x="87630" y="1275080"/>
            <a:ext cx="7508240" cy="3746500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defTabSz="913765">
              <a:lnSpc>
                <a:spcPts val="2600"/>
              </a:lnSpc>
            </a:pPr>
            <a:endParaRPr lang="zh-CN" altLang="en-US" sz="16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3180" y="1275715"/>
            <a:ext cx="9108440" cy="5518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R="0" indent="385445" algn="ctr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陪读加分</a:t>
            </a:r>
            <a:endParaRPr kumimoji="0" lang="zh-CN" altLang="en-US" sz="2000" b="1" i="0" u="none" strike="noStrike" cap="none" spc="0" normalizeH="0" baseline="0" dirty="0" smtClean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705" y="699135"/>
            <a:ext cx="8470900" cy="6064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p>
            <a:pPr indent="385445" algn="l"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六、陪读加分：周三参课人员陪读及共同讨论达成共识。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5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indent="385445" algn="l">
              <a:lnSpc>
                <a:spcPct val="120000"/>
              </a:lnSpc>
            </a:pP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（实际陪读人数除以应陪读人数乘以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，四舍五入，精确到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0.1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分）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468630" y="2070100"/>
          <a:ext cx="8163560" cy="2655570"/>
        </p:xfrm>
        <a:graphic>
          <a:graphicData uri="http://schemas.openxmlformats.org/drawingml/2006/table">
            <a:tbl>
              <a:tblPr/>
              <a:tblGrid>
                <a:gridCol w="963930"/>
                <a:gridCol w="1799590"/>
                <a:gridCol w="1552575"/>
                <a:gridCol w="3009900"/>
                <a:gridCol w="837565"/>
              </a:tblGrid>
              <a:tr h="56261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应陪读人员名单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实际陪读名单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周三陪读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照片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陪读加分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296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第四周</a:t>
                      </a:r>
                      <a:endParaRPr lang="zh-CN" sz="11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 txBox="1">
            <a:spLocks noGrp="1"/>
          </p:cNvSpPr>
          <p:nvPr>
            <p:ph type="ctrTitle"/>
          </p:nvPr>
        </p:nvSpPr>
        <p:spPr>
          <a:xfrm>
            <a:off x="685800" y="1923677"/>
            <a:ext cx="7772400" cy="110252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明确使命模板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8" name="文本框 1"/>
          <p:cNvSpPr txBox="1"/>
          <p:nvPr/>
        </p:nvSpPr>
        <p:spPr>
          <a:xfrm>
            <a:off x="583565" y="249554"/>
            <a:ext cx="1603376" cy="33855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|成功方程式|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59" name="图片 5" descr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941" y="-15241"/>
            <a:ext cx="9199882" cy="517398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SLIDE_ID" val="diagram2021738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70"/>
  <p:tag name="KSO_WM_SLIDE_POSITION" val="0*17"/>
  <p:tag name="KSO_WM_TAG_VERSION" val="1.0"/>
  <p:tag name="KSO_WM_BEAUTIFY_FLAG" val="#wm#"/>
  <p:tag name="KSO_WM_TEMPLATE_CATEGORY" val="diagram"/>
  <p:tag name="KSO_WM_TEMPLATE_INDEX" val="20217388"/>
  <p:tag name="KSO_WM_SLIDE_LAYOUT" val="d_f"/>
  <p:tag name="KSO_WM_SLIDE_LAYOUT_CNT" val="1_1"/>
  <p:tag name="KSO_WM_SLIDE_CAN_ADD_NAVIGATION" val="1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d07e214d383dce34166719"/>
  <p:tag name="KSO_WM_CHIP_FILLPROP" val="[[{&quot;text_align&quot;:&quot;lb&quot;,&quot;text_direction&quot;:&quot;horizontal&quot;,&quot;support_big_font&quot;:false,&quot;picture_toward&quot;:0,&quot;picture_dockside&quot;:[],&quot;fill_id&quot;:&quot;57cb550cf250444db0b4ac32a85bbfee&quot;,&quot;fill_align&quot;:&quot;lb&quot;,&quot;chip_types&quot;:[&quot;text&quot;,&quot;header&quot;]},{&quot;text_align&quot;:&quot;lt&quot;,&quot;text_direction&quot;:&quot;horizontal&quot;,&quot;support_big_font&quot;:false,&quot;picture_toward&quot;:0,&quot;picture_dockside&quot;:[],&quot;fill_id&quot;:&quot;0fd6899152de4c8b85f823fc1bc4cc6c&quot;,&quot;fill_align&quot;:&quot;lt&quot;,&quot;chip_types&quot;:[&quot;diagram&quot;,&quot;text&quot;,&quot;picture&quot;,&quot;chart&quot;,&quot;table&quot;]}]]"/>
  <p:tag name="KSO_WM_CHIP_DECFILLPROP" val="[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6:21:10&quot;,&quot;maxSize&quot;:{&quot;size1&quot;:40},&quot;minSize&quot;:{&quot;size1&quot;:31.2},&quot;normalSize&quot;:{&quot;size1&quot;:31.200185185185184},&quot;subLayout&quot;:[{&quot;id&quot;:&quot;2021-04-01T16:21:10&quot;,&quot;margin&quot;:{&quot;bottom&quot;:0.8199999928474426,&quot;left&quot;:5.079999923706055,&quot;right&quot;:5.502999782562256,&quot;top&quot;:2.9629998207092285},&quot;type&quot;:0},{&quot;id&quot;:&quot;2021-04-01T16:21:10&quot;,&quot;margin&quot;:{&quot;bottom&quot;:2.997999906539917,&quot;left&quot;:5.079999923706055,&quot;right&quot;:5.502999782562256,&quot;top&quot;:0.02600000612437725},&quot;type&quot;:0}],&quot;type&quot;:0}"/>
  <p:tag name="KSO_WM_CHIP_GROUPID" val="5fd07e214d383dce34166718"/>
  <p:tag name="KSO_WM_SLIDE_BK_DARK_LIGHT" val="2"/>
  <p:tag name="KSO_WM_SLIDE_BACKGROUND_TYPE" val="general"/>
  <p:tag name="KSO_WM_SLIDE_SUPPORT_FEATURE_TYPE" val="0"/>
  <p:tag name="KSO_WM_TEMPLATE_ASSEMBLE_XID" val="606570814054ed1e2fb816a1"/>
  <p:tag name="KSO_WM_TEMPLATE_ASSEMBLE_GROUPID" val="606570814054ed1e2fb816a1"/>
</p:tagLst>
</file>

<file path=ppt/tags/tag3.xml><?xml version="1.0" encoding="utf-8"?>
<p:tagLst xmlns:p="http://schemas.openxmlformats.org/presentationml/2006/main">
  <p:tag name="OP_SCP_ITEM_INDEX" val="2"/>
</p:tagLst>
</file>

<file path=ppt/tags/tag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OP_SCP_ITEM_INDEX" val="2"/>
</p:tagLst>
</file>

<file path=ppt/tags/tag7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8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7"/>
  <p:tag name="OP_SCP_COMPONENT_INFO" val="{&quot;title&quot;:&quot;渐变4项列表PPT组件&quot;,&quot;description&quot;:&quot;渐变4项列表PPT组件&quot;,&quot;keywords&quot;:[&quot;渐变&quot;,&quot;4项&quot;,&quot;列表&quot;,&quot;PPT组件&quot;],&quot;labels&quot;:[]}"/>
  <p:tag name="OP_SCP_GROUP_ID" val="9e3c15ee-2537-8ffd-fca9-5a45ee008bc6"/>
  <p:tag name="OP_SCP_ITEM_COUNT" val="4"/>
</p:tagLst>
</file>

<file path=ppt/tags/tag9.xml><?xml version="1.0" encoding="utf-8"?>
<p:tagLst xmlns:p="http://schemas.openxmlformats.org/presentationml/2006/main">
  <p:tag name="OP_SCP_ITEM_INDEX" val="1"/>
</p:tagLst>
</file>

<file path=ppt/tags/tag10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</p:tagLst>
</file>

<file path=ppt/tags/tag11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2.xml><?xml version="1.0" encoding="utf-8"?>
<p:tagLst xmlns:p="http://schemas.openxmlformats.org/presentationml/2006/main">
  <p:tag name="OP_SCP_ITEM_INDEX" val="2"/>
</p:tagLst>
</file>

<file path=ppt/tags/tag13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1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15.xml><?xml version="1.0" encoding="utf-8"?>
<p:tagLst xmlns:p="http://schemas.openxmlformats.org/presentationml/2006/main">
  <p:tag name="OP_SCP_ITEM_INDEX" val="4"/>
</p:tagLst>
</file>

<file path=ppt/tags/tag16.xml><?xml version="1.0" encoding="utf-8"?>
<p:tagLst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，单击此处添加文本，单击此处添加文本。"/>
</p:tagLst>
</file>

<file path=ppt/tags/tag17.xml><?xml version="1.0" encoding="utf-8"?>
<p:tagLst xmlns:p="http://schemas.openxmlformats.org/presentationml/2006/main">
  <p:tag name="OP_SCP_SHAPE_TYPE" val="Title"/>
  <p:tag name="OP_SCP_ITEM_INDEX" val="4"/>
  <p:tag name="OP_SCP_DEFAULT_TEXT" val="添加标题"/>
</p:tagLst>
</file>

<file path=ppt/tags/tag18.xml><?xml version="1.0" encoding="utf-8"?>
<p:tagLst xmlns:p="http://schemas.openxmlformats.org/presentationml/2006/main">
  <p:tag name="OP_SCP_ITEM_INDEX" val="2"/>
</p:tagLst>
</file>

<file path=ppt/tags/tag19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7"/>
  <p:tag name="OP_SCP_COMPONENT_INFO" val="{&quot;title&quot;:&quot;渐变4项列表PPT组件&quot;,&quot;description&quot;:&quot;渐变4项列表PPT组件&quot;,&quot;keywords&quot;:[&quot;渐变&quot;,&quot;4项&quot;,&quot;列表&quot;,&quot;PPT组件&quot;],&quot;labels&quot;:[]}"/>
  <p:tag name="OP_SCP_GROUP_ID" val="9e3c15ee-2537-8ffd-fca9-5a45ee008bc6"/>
  <p:tag name="OP_SCP_ITEM_COUNT" val="4"/>
</p:tagLst>
</file>

<file path=ppt/tags/tag20.xml><?xml version="1.0" encoding="utf-8"?>
<p:tagLst xmlns:p="http://schemas.openxmlformats.org/presentationml/2006/main">
  <p:tag name="OP_SCP_ITEM_INDEX" val="1"/>
</p:tagLst>
</file>

<file path=ppt/tags/tag21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</p:tagLst>
</file>

<file path=ppt/tags/tag22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3.xml><?xml version="1.0" encoding="utf-8"?>
<p:tagLst xmlns:p="http://schemas.openxmlformats.org/presentationml/2006/main">
  <p:tag name="OP_SCP_ITEM_INDEX" val="2"/>
</p:tagLst>
</file>

<file path=ppt/tags/tag24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25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6.xml><?xml version="1.0" encoding="utf-8"?>
<p:tagLst xmlns:p="http://schemas.openxmlformats.org/presentationml/2006/main">
  <p:tag name="OP_SCP_ITEM_INDEX" val="3"/>
</p:tagLst>
</file>

<file path=ppt/tags/tag27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，单击此处添加文本，单击此处添加文本。"/>
</p:tagLst>
</file>

<file path=ppt/tags/tag28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29.xml><?xml version="1.0" encoding="utf-8"?>
<p:tagLst xmlns:p="http://schemas.openxmlformats.org/presentationml/2006/main">
  <p:tag name="OP_SCP_ITEM_INDEX" val="4"/>
</p:tagLst>
</file>

<file path=ppt/tags/tag30.xml><?xml version="1.0" encoding="utf-8"?>
<p:tagLst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，单击此处添加文本，单击此处添加文本。"/>
</p:tagLst>
</file>

<file path=ppt/tags/tag31.xml><?xml version="1.0" encoding="utf-8"?>
<p:tagLst xmlns:p="http://schemas.openxmlformats.org/presentationml/2006/main">
  <p:tag name="OP_SCP_SHAPE_TYPE" val="Title"/>
  <p:tag name="OP_SCP_ITEM_INDEX" val="4"/>
  <p:tag name="OP_SCP_DEFAULT_TEXT" val="添加标题"/>
</p:tagLst>
</file>

<file path=ppt/tags/tag32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33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34.xml><?xml version="1.0" encoding="utf-8"?>
<p:tagLst xmlns:p="http://schemas.openxmlformats.org/presentationml/2006/main">
  <p:tag name="OP_SCP_ITEM_INDEX" val="1"/>
</p:tagLst>
</file>

<file path=ppt/tags/tag35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36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37.xml><?xml version="1.0" encoding="utf-8"?>
<p:tagLst xmlns:p="http://schemas.openxmlformats.org/presentationml/2006/main">
  <p:tag name="OP_SCP_ITEM_INDEX" val="2"/>
</p:tagLst>
</file>

<file path=ppt/tags/tag38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39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40.xml><?xml version="1.0" encoding="utf-8"?>
<p:tagLst xmlns:p="http://schemas.openxmlformats.org/presentationml/2006/main">
  <p:tag name="OP_SCP_ITEM_INDEX" val="2"/>
</p:tagLst>
</file>

<file path=ppt/tags/tag41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42.xml><?xml version="1.0" encoding="utf-8"?>
<p:tagLst xmlns:p="http://schemas.openxmlformats.org/presentationml/2006/main">
  <p:tag name="OP_SCP_ITEM_INDEX" val="2"/>
</p:tagLst>
</file>

<file path=ppt/tags/tag43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44.xml><?xml version="1.0" encoding="utf-8"?>
<p:tagLst xmlns:p="http://schemas.openxmlformats.org/presentationml/2006/main">
  <p:tag name="OP_SCP_ITEM_INDEX" val="1"/>
</p:tagLst>
</file>

<file path=ppt/tags/tag45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46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47.xml><?xml version="1.0" encoding="utf-8"?>
<p:tagLst xmlns:p="http://schemas.openxmlformats.org/presentationml/2006/main">
  <p:tag name="OP_SCP_ITEM_INDEX" val="2"/>
</p:tagLst>
</file>

<file path=ppt/tags/tag48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49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50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51.xml><?xml version="1.0" encoding="utf-8"?>
<p:tagLst xmlns:p="http://schemas.openxmlformats.org/presentationml/2006/main">
  <p:tag name="TABLE_ENDDRAG_ORIGIN_RECT" val="675*248"/>
  <p:tag name="TABLE_ENDDRAG_RECT" val="14*107*675*248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TABLE_ENDDRAG_ORIGIN_RECT" val="675*248"/>
  <p:tag name="TABLE_ENDDRAG_RECT" val="14*107*675*248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TABLE_ENDDRAG_ORIGIN_RECT" val="675*248"/>
  <p:tag name="TABLE_ENDDRAG_RECT" val="14*107*675*248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TABLE_ENDDRAG_ORIGIN_RECT" val="692*247"/>
  <p:tag name="TABLE_ENDDRAG_RECT" val="8*83*692*247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170857_2*l_h_a*1_1_1"/>
  <p:tag name="KSO_WM_TEMPLATE_CATEGORY" val="diagram"/>
  <p:tag name="KSO_WM_TEMPLATE_INDEX" val="20170857"/>
  <p:tag name="KSO_WM_UNIT_LAYERLEVEL" val="1_1_1"/>
  <p:tag name="KSO_WM_TAG_VERSION" val="1.0"/>
  <p:tag name="KSO_WM_BEAUTIFY_FLAG" val=""/>
  <p:tag name="KSO_WM_UNIT_PRESET_TEXT" val="单击此处添加标题"/>
  <p:tag name="KSO_WM_UNIT_TEXT_FILL_FORE_SCHEMECOLOR_INDEX" val="14"/>
  <p:tag name="KSO_WM_UNIT_TEXT_FILL_TYPE" val="1"/>
  <p:tag name="KSO_WM_DIAGRAM_VIRTUALLY_FRAME" val="{&quot;height&quot;:142.84078740157483,&quot;left&quot;:60.672440944881885,&quot;top&quot;:251.85921259842516,&quot;width&quot;:284.18913602093073}"/>
</p:tagLst>
</file>

<file path=ppt/tags/tag60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  <p:tag name="KSO_WM_DIAGRAM_VIRTUALLY_FRAME" val="{&quot;height&quot;:225.92850393700783,&quot;left&quot;:31.014094488188977,&quot;top&quot;:128.25338582677165,&quot;width&quot;:661.5214960629921}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TABLE_ENDDRAG_ORIGIN_RECT" val="642*209"/>
  <p:tag name="TABLE_ENDDRAG_RECT" val="36*163*642*209"/>
</p:tagLst>
</file>

<file path=ppt/tags/tag63.xml><?xml version="1.0" encoding="utf-8"?>
<p:tagLst xmlns:p="http://schemas.openxmlformats.org/presentationml/2006/main">
  <p:tag name="KSO_WPP_MARK_KEY" val="75ef3084-2269-4a5a-8e7c-04e96579cd8d"/>
  <p:tag name="COMMONDATA" val="eyJoZGlkIjoiMzEwNTM5NzYwMDRjMzkwZTVkZjY2ODkwMGIxNGU0OTUifQ=="/>
  <p:tag name="commondata" val="eyJoZGlkIjoiMGFkMTdkZDA0NTg2ODNkZjJhZTczZDJmOTVjNDVhNzU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rbfcov3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vertOverflow="overflow" horzOverflow="overflow" vert="horz" wrap="square" lIns="45719" tIns="45719" rIns="45719" bIns="45719" numCol="1" spcCol="38100" rtlCol="0" anchor="t" forceAA="0">
        <a:spAutoFit/>
      </a:bodyPr>
      <a:lstStyle>
        <a:defPPr marL="342900" indent="-342900" algn="just" fontAlgn="base">
          <a:lnSpc>
            <a:spcPct val="150000"/>
          </a:lnSpc>
          <a:defRPr sz="1200" dirty="0">
            <a:latin typeface="+mn-ea"/>
            <a:sym typeface="+mn-l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2072</Words>
  <Application>WPS 演示</Application>
  <PresentationFormat>全屏显示(16:9)</PresentationFormat>
  <Paragraphs>470</Paragraphs>
  <Slides>21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Calibri Light</vt:lpstr>
      <vt:lpstr>Arial</vt:lpstr>
      <vt:lpstr>Avenir Next Medium</vt:lpstr>
      <vt:lpstr>Trebuchet MS</vt:lpstr>
      <vt:lpstr>微软雅黑</vt:lpstr>
      <vt:lpstr>Calibri</vt:lpstr>
      <vt:lpstr>Helvetica Neue</vt:lpstr>
      <vt:lpstr>Times New Roman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明确使命模板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景博</cp:lastModifiedBy>
  <cp:revision>1302</cp:revision>
  <dcterms:created xsi:type="dcterms:W3CDTF">2023-12-24T08:10:00Z</dcterms:created>
  <dcterms:modified xsi:type="dcterms:W3CDTF">2025-12-03T06:13:27Z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250231C4D66B44EFAE73056C71C941C0_13</vt:lpwstr>
  </property>
</Properties>
</file>