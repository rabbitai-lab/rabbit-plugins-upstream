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384" r:id="rId3"/>
    <p:sldId id="659" r:id="rId5"/>
    <p:sldId id="660" r:id="rId6"/>
    <p:sldId id="589" r:id="rId7"/>
    <p:sldId id="662" r:id="rId8"/>
    <p:sldId id="670" r:id="rId9"/>
    <p:sldId id="681" r:id="rId10"/>
    <p:sldId id="724" r:id="rId11"/>
    <p:sldId id="725" r:id="rId12"/>
    <p:sldId id="726" r:id="rId13"/>
    <p:sldId id="727" r:id="rId14"/>
    <p:sldId id="729" r:id="rId15"/>
    <p:sldId id="730" r:id="rId16"/>
    <p:sldId id="731" r:id="rId17"/>
    <p:sldId id="732" r:id="rId18"/>
    <p:sldId id="733" r:id="rId19"/>
    <p:sldId id="734" r:id="rId20"/>
    <p:sldId id="735" r:id="rId21"/>
    <p:sldId id="269" r:id="rId22"/>
  </p:sldIdLst>
  <p:sldSz cx="9144000" cy="5143500" type="screen16x9"/>
  <p:notesSz cx="6858000" cy="9144000"/>
  <p:custDataLst>
    <p:tags r:id="rId28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022" userDrawn="1">
          <p15:clr>
            <a:srgbClr val="A4A3A4"/>
          </p15:clr>
        </p15:guide>
        <p15:guide id="2" pos="289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微软用户" initials="微软用户" lastIdx="0" clrIdx="0"/>
  <p:cmAuthor id="1" name="杜彬彬" initials="杜" lastIdx="1" clrIdx="0"/>
  <p:cmAuthor id="2" name="刘 逸凡" initials="刘" lastIdx="1" clrIdx="1"/>
  <p:cmAuthor id="3" name="86180" initials="8" lastIdx="2" clrIdx="2"/>
  <p:cmAuthor id="4" name="81349" initials="8" lastIdx="2" clrIdx="3"/>
  <p:cmAuthor id="5" name="宋洁然" initials="宋" lastIdx="2" clrIdx="1"/>
  <p:cmAuthor id="6" name="Administrator" initials="A" lastIdx="1" clrIdx="5"/>
  <p:cmAuthor id="7" name="266369" initials="2" lastIdx="1" clrIdx="6"/>
  <p:cmAuthor id="8" name="陆彦蓉" initials="陆" lastIdx="1" clrIdx="7"/>
  <p:cmAuthor id="9" name="lenovo" initials="l" lastIdx="1" clrIdx="8"/>
  <p:cmAuthor id="10" name="陈 琦" initials="琦陈" lastIdx="1" clrIdx="9"/>
  <p:cmAuthor id="11" name="Love SiSi" initials="L" lastIdx="1" clrIdx="10"/>
  <p:cmAuthor id="13" name="0160278" initials="0" lastIdx="0" clrIdx="1"/>
  <p:cmAuthor id="75" name="作者" initials="A" lastIdx="0" clrIdx="24"/>
  <p:cmAuthor id="76" name="37786632@qq.com" initials="" lastIdx="1" clrIdx="2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A8E2C5"/>
    <a:srgbClr val="D4F1E2"/>
    <a:srgbClr val="010310"/>
    <a:srgbClr val="1F74AD"/>
    <a:srgbClr val="F8EBDA"/>
    <a:srgbClr val="FEF6EB"/>
    <a:srgbClr val="92D050"/>
    <a:srgbClr val="4BBFDC"/>
    <a:srgbClr val="E55D2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244" autoAdjust="0"/>
  </p:normalViewPr>
  <p:slideViewPr>
    <p:cSldViewPr showGuides="1">
      <p:cViewPr varScale="1">
        <p:scale>
          <a:sx n="152" d="100"/>
          <a:sy n="152" d="100"/>
        </p:scale>
        <p:origin x="-444" y="-90"/>
      </p:cViewPr>
      <p:guideLst>
        <p:guide orient="horz" pos="2022"/>
        <p:guide pos="289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40.xml"/><Relationship Id="rId27" Type="http://schemas.openxmlformats.org/officeDocument/2006/relationships/commentAuthors" Target="commentAuthors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8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90" name="Shape 9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tags" Target="../tags/tag1.xm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1143000" y="841920"/>
            <a:ext cx="6858000" cy="1791013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2702000"/>
            <a:ext cx="6858000" cy="124204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1800"/>
            </a:lvl1pPr>
            <a:lvl2pPr marL="0" indent="342900" algn="ctr">
              <a:buSzTx/>
              <a:buFontTx/>
              <a:buNone/>
              <a:defRPr sz="1800"/>
            </a:lvl2pPr>
            <a:lvl3pPr marL="0" indent="685800" algn="ctr">
              <a:buSzTx/>
              <a:buFontTx/>
              <a:buNone/>
              <a:defRPr sz="1800"/>
            </a:lvl3pPr>
            <a:lvl4pPr marL="0" indent="1028700" algn="ctr">
              <a:buSzTx/>
              <a:buFontTx/>
              <a:buNone/>
              <a:defRPr sz="1800"/>
            </a:lvl4pPr>
            <a:lvl5pPr marL="0" indent="1371600" algn="ctr">
              <a:buSzTx/>
              <a:buFontTx/>
              <a:buNone/>
              <a:defRPr sz="1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3887" y="1282528"/>
            <a:ext cx="7886701" cy="2139927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t>标题文本</a:t>
            </a:r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3887" y="3442699"/>
            <a:ext cx="7886701" cy="112533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800">
                <a:solidFill>
                  <a:srgbClr val="888888"/>
                </a:solidFill>
              </a:defRPr>
            </a:lvl1pPr>
            <a:lvl2pPr marL="0" indent="342900">
              <a:buSzTx/>
              <a:buFontTx/>
              <a:buNone/>
              <a:defRPr sz="1800">
                <a:solidFill>
                  <a:srgbClr val="888888"/>
                </a:solidFill>
              </a:defRPr>
            </a:lvl2pPr>
            <a:lvl3pPr marL="0" indent="685800">
              <a:buSzTx/>
              <a:buFontTx/>
              <a:buNone/>
              <a:defRPr sz="1800">
                <a:solidFill>
                  <a:srgbClr val="888888"/>
                </a:solidFill>
              </a:defRPr>
            </a:lvl3pPr>
            <a:lvl4pPr marL="0" indent="1028700">
              <a:buSzTx/>
              <a:buFontTx/>
              <a:buNone/>
              <a:defRPr sz="1800">
                <a:solidFill>
                  <a:srgbClr val="888888"/>
                </a:solidFill>
              </a:defRPr>
            </a:lvl4pPr>
            <a:lvl5pPr marL="0" indent="1371600">
              <a:buSzTx/>
              <a:buFontTx/>
              <a:buNone/>
              <a:defRPr sz="18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28650" y="1369457"/>
            <a:ext cx="3886200" cy="3264075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273892"/>
            <a:ext cx="7886701" cy="994346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90081" y="1334061"/>
            <a:ext cx="3655182" cy="618044"/>
          </a:xfrm>
          <a:prstGeom prst="rect">
            <a:avLst/>
          </a:prstGeom>
        </p:spPr>
        <p:txBody>
          <a:bodyPr anchor="ctr"/>
          <a:lstStyle>
            <a:lvl1pPr marL="0" indent="0">
              <a:buSzTx/>
              <a:buFontTx/>
              <a:buNone/>
            </a:lvl1pPr>
            <a:lvl2pPr marL="0" indent="342900">
              <a:buSzTx/>
              <a:buFontTx/>
              <a:buNone/>
            </a:lvl2pPr>
            <a:lvl3pPr marL="0" indent="685800">
              <a:buSzTx/>
              <a:buFontTx/>
              <a:buNone/>
            </a:lvl3pPr>
            <a:lvl4pPr marL="0" indent="1028700">
              <a:buSzTx/>
              <a:buFontTx/>
              <a:buNone/>
            </a:lvl4pPr>
            <a:lvl5pPr marL="0" indent="1371600">
              <a:buSzTx/>
              <a:buFontTx/>
              <a:buNone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文本占位符 4"/>
          <p:cNvSpPr>
            <a:spLocks noGrp="1"/>
          </p:cNvSpPr>
          <p:nvPr>
            <p:ph type="body" sz="quarter" idx="13"/>
          </p:nvPr>
        </p:nvSpPr>
        <p:spPr>
          <a:xfrm>
            <a:off x="4692703" y="1334061"/>
            <a:ext cx="3673183" cy="618044"/>
          </a:xfrm>
          <a:prstGeom prst="rect">
            <a:avLst/>
          </a:prstGeom>
        </p:spPr>
        <p:txBody>
          <a:bodyPr anchor="ctr"/>
          <a:lstStyle/>
          <a:p>
            <a:pPr marL="0" indent="0">
              <a:buSzTx/>
              <a:buFontTx/>
              <a:buNone/>
            </a:pPr>
          </a:p>
        </p:txBody>
      </p:sp>
      <p:sp>
        <p:nvSpPr>
          <p:cNvPr id="5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29841" y="342960"/>
            <a:ext cx="3124013" cy="120036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3" name="图片占位符 2"/>
          <p:cNvSpPr>
            <a:spLocks noGrp="1"/>
          </p:cNvSpPr>
          <p:nvPr>
            <p:ph type="pic" sz="half" idx="13"/>
          </p:nvPr>
        </p:nvSpPr>
        <p:spPr>
          <a:xfrm>
            <a:off x="3887391" y="342960"/>
            <a:ext cx="4629151" cy="4053599"/>
          </a:xfrm>
          <a:prstGeom prst="rect">
            <a:avLst/>
          </a:prstGeom>
        </p:spPr>
        <p:txBody>
          <a:bodyPr lIns="91439" rIns="91439">
            <a:noAutofit/>
          </a:bodyPr>
          <a:lstStyle/>
          <a:p/>
        </p:txBody>
      </p:sp>
      <p:sp>
        <p:nvSpPr>
          <p:cNvPr id="7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29841" y="1543320"/>
            <a:ext cx="3124013" cy="285919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500"/>
            </a:lvl1pPr>
            <a:lvl2pPr marL="0" indent="342900">
              <a:buSzTx/>
              <a:buFontTx/>
              <a:buNone/>
              <a:defRPr sz="1500"/>
            </a:lvl2pPr>
            <a:lvl3pPr marL="0" indent="685800">
              <a:buSzTx/>
              <a:buFontTx/>
              <a:buNone/>
              <a:defRPr sz="1500"/>
            </a:lvl3pPr>
            <a:lvl4pPr marL="0" indent="1028700">
              <a:buSzTx/>
              <a:buFontTx/>
              <a:buNone/>
              <a:defRPr sz="1500"/>
            </a:lvl4pPr>
            <a:lvl5pPr marL="0" indent="1371600">
              <a:buSzTx/>
              <a:buFontTx/>
              <a:buNone/>
              <a:defRPr sz="15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628650" y="273892"/>
            <a:ext cx="7886700" cy="4359641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演示文稿标题"/>
          <p:cNvSpPr txBox="1">
            <a:spLocks noGrp="1"/>
          </p:cNvSpPr>
          <p:nvPr>
            <p:ph type="title" hasCustomPrompt="1"/>
          </p:nvPr>
        </p:nvSpPr>
        <p:spPr>
          <a:xfrm>
            <a:off x="476250" y="1233488"/>
            <a:ext cx="8191500" cy="1454795"/>
          </a:xfrm>
          <a:prstGeom prst="rect">
            <a:avLst/>
          </a:prstGeom>
        </p:spPr>
        <p:txBody>
          <a:bodyPr/>
          <a:lstStyle>
            <a:lvl1pPr defTabSz="914400">
              <a:lnSpc>
                <a:spcPct val="90000"/>
              </a:lnSpc>
              <a:defRPr sz="4350" spc="-131">
                <a:gradFill flip="none" rotWithShape="1">
                  <a:gsLst>
                    <a:gs pos="0">
                      <a:srgbClr val="1E98FD"/>
                    </a:gs>
                    <a:gs pos="100000">
                      <a:srgbClr val="FF00F7"/>
                    </a:gs>
                  </a:gsLst>
                  <a:lin ang="3960000" scaled="0"/>
                </a:gra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2" name="作者和日期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476250" y="4560161"/>
            <a:ext cx="8191500" cy="260271"/>
          </a:xfrm>
          <a:prstGeom prst="rect">
            <a:avLst/>
          </a:prstGeom>
        </p:spPr>
        <p:txBody>
          <a:bodyPr/>
          <a:lstStyle>
            <a:lvl1pPr marL="0" indent="0" algn="ctr" defTabSz="297180">
              <a:spcBef>
                <a:spcPts val="0"/>
              </a:spcBef>
              <a:buClrTx/>
              <a:buSzTx/>
              <a:buNone/>
              <a:defRPr sz="126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</a:lstStyle>
          <a:p>
            <a:r>
              <a:t>作者和日期</a:t>
            </a:r>
          </a:p>
        </p:txBody>
      </p:sp>
      <p:sp>
        <p:nvSpPr>
          <p:cNvPr id="1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76250" y="2619375"/>
            <a:ext cx="8191500" cy="942132"/>
          </a:xfrm>
          <a:prstGeom prst="rect">
            <a:avLst/>
          </a:prstGeom>
        </p:spPr>
        <p:txBody>
          <a:bodyPr/>
          <a:lstStyle>
            <a:lvl1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1pPr>
            <a:lvl2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2pPr>
            <a:lvl3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3pPr>
            <a:lvl4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4pPr>
            <a:lvl5pPr marL="0" indent="0" algn="ctr" defTabSz="309880">
              <a:spcBef>
                <a:spcPts val="0"/>
              </a:spcBef>
              <a:buClrTx/>
              <a:buSzTx/>
              <a:buNone/>
              <a:defRPr sz="2400">
                <a:latin typeface="Avenir Next Medium" panose="020B0803020202020204"/>
                <a:ea typeface="Avenir Next Medium" panose="020B0803020202020204"/>
                <a:cs typeface="Avenir Next Medium" panose="020B0803020202020204"/>
                <a:sym typeface="Avenir Next Medium" panose="020B0803020202020204"/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81955" y="4789627"/>
            <a:ext cx="233396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25398"/>
          <a:stretch>
            <a:fillRect/>
          </a:stretch>
        </p:blipFill>
        <p:spPr>
          <a:xfrm>
            <a:off x="0" y="0"/>
            <a:ext cx="9262745" cy="5210175"/>
          </a:xfrm>
          <a:prstGeom prst="rect">
            <a:avLst/>
          </a:prstGeom>
        </p:spPr>
      </p:pic>
    </p:spTree>
  </p:cSld>
  <p:clrMapOvr>
    <a:masterClrMapping/>
  </p:clrMapOvr>
  <p:transition advClick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</p:spPr>
        <p:txBody>
          <a:bodyPr lIns="68580" tIns="34290" rIns="68580" bIns="34290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2" y="1333829"/>
            <a:ext cx="3655181" cy="617934"/>
          </a:xfrm>
          <a:prstGeom prst="rect">
            <a:avLst/>
          </a:prstGeom>
        </p:spPr>
        <p:txBody>
          <a:bodyPr lIns="68580" tIns="34290" rIns="68580" bIns="34290"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2" y="1999034"/>
            <a:ext cx="3655181" cy="2643213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333829"/>
            <a:ext cx="3673182" cy="617934"/>
          </a:xfrm>
          <a:prstGeom prst="rect">
            <a:avLst/>
          </a:prstGeom>
        </p:spPr>
        <p:txBody>
          <a:bodyPr lIns="68580" tIns="34290" rIns="68580" bIns="34290"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  <a:lvl6pPr marL="1714500" indent="0">
              <a:buNone/>
              <a:defRPr sz="1400"/>
            </a:lvl6pPr>
            <a:lvl7pPr marL="2057400" indent="0">
              <a:buNone/>
              <a:defRPr sz="1400"/>
            </a:lvl7pPr>
            <a:lvl8pPr marL="2400300" indent="0">
              <a:buNone/>
              <a:defRPr sz="1400"/>
            </a:lvl8pPr>
            <a:lvl9pPr marL="27432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1999034"/>
            <a:ext cx="3673182" cy="2643213"/>
          </a:xfrm>
          <a:prstGeom prst="rect">
            <a:avLst/>
          </a:prstGeom>
        </p:spPr>
        <p:txBody>
          <a:bodyPr lIns="68580" tIns="34290" rIns="68580" bIns="34290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日期占位符 10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8" name="页脚占位符 102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x-none">
              <a:solidFill>
                <a:srgbClr val="000000"/>
              </a:solidFill>
            </a:endParaRPr>
          </a:p>
        </p:txBody>
      </p:sp>
      <p:sp>
        <p:nvSpPr>
          <p:cNvPr id="9" name="灯片编号占位符 1029"/>
          <p:cNvSpPr>
            <a:spLocks noGrp="1"/>
          </p:cNvSpPr>
          <p:nvPr>
            <p:ph type="sldNum" sz="quarter" idx="12"/>
          </p:nvPr>
        </p:nvSpPr>
        <p:spPr>
          <a:xfrm>
            <a:off x="8288367" y="4789627"/>
            <a:ext cx="226984" cy="23083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0B27BE-B276-41D1-8A5B-7124FEB6ACA6}" type="slidenum">
              <a:rPr lang="en-US" altLang="zh-CN">
                <a:solidFill>
                  <a:srgbClr val="000000"/>
                </a:solidFill>
              </a:rPr>
            </a:fld>
            <a:endParaRPr lang="en-US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38261"/>
          </a:xfrm>
          <a:prstGeom prst="rect">
            <a:avLst/>
          </a:prstGeom>
        </p:spPr>
      </p:pic>
      <p:pic>
        <p:nvPicPr>
          <p:cNvPr id="2" name="图片 1" descr="稻盛和夫(1)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8460106" y="3953828"/>
            <a:ext cx="664845" cy="11844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png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图片 13" descr="图片 13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297"/>
            <a:ext cx="9204326" cy="51765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628650" y="1369457"/>
            <a:ext cx="7886700" cy="326407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291328" y="4795822"/>
            <a:ext cx="224023" cy="2184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/>
  <p:txStyles>
    <p:titleStyle>
      <a:lvl1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685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33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171450" marR="0" indent="-17145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542925" marR="0" indent="-200025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925830" marR="0" indent="-24003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3055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1648460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19919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23348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26777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3020695" marR="0" indent="-276860" algn="l" defTabSz="685800" rtl="0" latinLnBrk="0">
        <a:lnSpc>
          <a:spcPct val="9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21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9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5" Type="http://schemas.openxmlformats.org/officeDocument/2006/relationships/notesSlide" Target="../notesSlides/notesSlide3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4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" y="-20320"/>
            <a:ext cx="9184005" cy="5243195"/>
          </a:xfrm>
          <a:prstGeom prst="rect">
            <a:avLst/>
          </a:prstGeom>
        </p:spPr>
      </p:pic>
      <p:sp>
        <p:nvSpPr>
          <p:cNvPr id="6" name="标题 1"/>
          <p:cNvSpPr txBox="1"/>
          <p:nvPr/>
        </p:nvSpPr>
        <p:spPr>
          <a:xfrm>
            <a:off x="539115" y="771525"/>
            <a:ext cx="7772400" cy="232092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algn="ctr"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>
              <a:lnSpc>
                <a:spcPct val="120000"/>
              </a:lnSpc>
            </a:pPr>
            <a:r>
              <a:rPr lang="zh-CN" altLang="en-US" sz="5400" b="1" dirty="0">
                <a:solidFill>
                  <a:schemeClr val="bg1"/>
                </a:solidFill>
                <a:sym typeface="微软雅黑" panose="020B0503020204020204" charset="-122"/>
              </a:rPr>
              <a:t>成功方程式</a:t>
            </a:r>
            <a:endParaRPr lang="zh-CN" altLang="en-US" sz="60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cs typeface="宋体" panose="02010600030101010101" pitchFamily="2" charset="-122"/>
                <a:sym typeface="+mn-ea"/>
              </a:rPr>
              <a:t>49</a:t>
            </a:r>
            <a:r>
              <a:rPr lang="zh-CN" altLang="en-US" sz="3200" b="1" dirty="0">
                <a:cs typeface="宋体" panose="02010600030101010101" pitchFamily="2" charset="-122"/>
                <a:sym typeface="+mn-ea"/>
              </a:rPr>
              <a:t>天使命血肉化训练营</a:t>
            </a:r>
            <a:endParaRPr lang="zh-CN" altLang="en-US" sz="3200" b="1" dirty="0"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20000"/>
              </a:lnSpc>
            </a:pPr>
            <a:r>
              <a:rPr sz="3200" b="1" dirty="0">
                <a:solidFill>
                  <a:schemeClr val="bg1"/>
                </a:solidFill>
                <a:sym typeface="+mn-ea"/>
              </a:rPr>
              <a:t>第</a:t>
            </a: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五</a:t>
            </a:r>
            <a:r>
              <a:rPr sz="3200" b="1" dirty="0">
                <a:solidFill>
                  <a:schemeClr val="bg1"/>
                </a:solidFill>
                <a:sym typeface="+mn-ea"/>
              </a:rPr>
              <a:t>周</a:t>
            </a:r>
            <a:r>
              <a:rPr lang="en-US" sz="3200" b="1" dirty="0">
                <a:solidFill>
                  <a:schemeClr val="bg1"/>
                </a:solidFill>
                <a:sym typeface="+mn-ea"/>
              </a:rPr>
              <a:t>—</a:t>
            </a: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奋斗</a:t>
            </a:r>
            <a:r>
              <a:rPr lang="zh-CN" altLang="zh-CN" sz="3200" b="1" dirty="0">
                <a:solidFill>
                  <a:schemeClr val="bg1"/>
                </a:solidFill>
                <a:sym typeface="+mn-ea"/>
              </a:rPr>
              <a:t>观</a:t>
            </a:r>
            <a:r>
              <a:rPr lang="en-US" altLang="zh-CN" sz="3200" b="1" dirty="0">
                <a:solidFill>
                  <a:schemeClr val="bg1"/>
                </a:solidFill>
                <a:sym typeface="+mn-ea"/>
              </a:rPr>
              <a:t>—</a:t>
            </a:r>
            <a:r>
              <a:rPr lang="zh-CN" altLang="en-US" sz="3200" b="1" dirty="0">
                <a:solidFill>
                  <a:schemeClr val="bg1"/>
                </a:solidFill>
                <a:sym typeface="+mn-ea"/>
              </a:rPr>
              <a:t>愿景桃花源 挑战高目标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sz="3200" b="1" dirty="0">
              <a:cs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800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7" name="标题 4"/>
          <p:cNvSpPr>
            <a:spLocks noGrp="1"/>
          </p:cNvSpPr>
          <p:nvPr/>
        </p:nvSpPr>
        <p:spPr>
          <a:xfrm>
            <a:off x="683260" y="3092450"/>
            <a:ext cx="6953250" cy="1162050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>
            <a:normAutofit fontScale="70000"/>
          </a:bodyPr>
          <a:lstStyle>
            <a:lvl1pPr marL="0" marR="0" indent="0" algn="ctr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45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  <a:lvl2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2pPr>
            <a:lvl3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3pPr>
            <a:lvl4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4pPr>
            <a:lvl5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5pPr>
            <a:lvl6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6pPr>
            <a:lvl7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7pPr>
            <a:lvl8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8pPr>
            <a:lvl9pPr marL="0" marR="0" indent="0" algn="l" defTabSz="6858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3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9pPr>
          </a:lstStyle>
          <a:p>
            <a:pPr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br>
              <a:rPr lang="zh-CN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分享人：赣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班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XX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XXX</a:t>
            </a:r>
            <a:b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</a:b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年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</a:t>
            </a:r>
            <a:r>
              <a:rPr lang="en-US" altLang="zh-CN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lang="zh-CN" altLang="en-US" sz="2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lang="zh-CN" altLang="en-US" sz="2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51460" y="699135"/>
            <a:ext cx="8613140" cy="88963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一、一分钟自我介绍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.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围绕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问：（标准：完整讲清楚并吸引听众）</a:t>
            </a:r>
            <a:r>
              <a:rPr lang="en-US" altLang="zh-CN" sz="13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3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、我是谁？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、为什么我要听你讲？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、听你讲对我有什么好处？</a:t>
            </a:r>
            <a:r>
              <a:rPr lang="en-US" altLang="zh-CN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lang="zh-CN" altLang="en-US" sz="13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、你要讲的主题是什么？</a:t>
            </a: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3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、我是谁</a:t>
            </a: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? 1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68020" y="1850390"/>
            <a:ext cx="5407660" cy="3024505"/>
            <a:chOff x="4061456" y="1130300"/>
            <a:chExt cx="3574987" cy="2446412"/>
          </a:xfrm>
        </p:grpSpPr>
        <p:sp>
          <p:nvSpPr>
            <p:cNvPr id="5" name="2"/>
            <p:cNvSpPr/>
            <p:nvPr>
              <p:custDataLst>
                <p:tags r:id="rId1"/>
              </p:custDataLst>
            </p:nvPr>
          </p:nvSpPr>
          <p:spPr>
            <a:xfrm>
              <a:off x="4061456" y="1130300"/>
              <a:ext cx="3049905" cy="2446412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endParaRPr lang="en-GB" sz="16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3" name="Body-2"/>
            <p:cNvSpPr txBox="1"/>
            <p:nvPr>
              <p:custDataLst>
                <p:tags r:id="rId2"/>
              </p:custDataLst>
            </p:nvPr>
          </p:nvSpPr>
          <p:spPr>
            <a:xfrm>
              <a:off x="4443161" y="1841145"/>
              <a:ext cx="3193282" cy="4473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fontAlgn="base"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tx1"/>
                  </a:solidFill>
                  <a:latin typeface="+mj-ea"/>
                  <a:ea typeface="+mj-ea"/>
                </a:rPr>
                <a:t>     </a:t>
              </a:r>
              <a:endParaRPr lang="en-US" altLang="zh-CN" sz="2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8" name="文本框 7"/>
          <p:cNvSpPr txBox="1"/>
          <p:nvPr/>
        </p:nvSpPr>
        <p:spPr>
          <a:xfrm>
            <a:off x="5234305" y="2643505"/>
            <a:ext cx="3333750" cy="11068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r" eaLnBrk="1">
              <a:lnSpc>
                <a:spcPct val="150000"/>
              </a:lnSpc>
            </a:pPr>
            <a:r>
              <a:rPr lang="zh-CN" altLang="en-US" sz="4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附个人照片</a:t>
            </a:r>
            <a:endParaRPr lang="zh-CN" altLang="en-US" sz="4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460" y="699135"/>
            <a:ext cx="8424545" cy="3670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为什么我要听你讲？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2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（使命的力量对你有什么触动，产生了什么好的结果？ ）</a:t>
            </a:r>
            <a:endParaRPr kumimoji="0" lang="zh-CN" altLang="en-US" sz="1400" i="0" u="none" strike="noStrike" cap="none" spc="0" normalizeH="0" baseline="0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Helvetica Neue" panose="02000503000000020004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3" name="矩形 14"/>
          <p:cNvSpPr/>
          <p:nvPr/>
        </p:nvSpPr>
        <p:spPr>
          <a:xfrm>
            <a:off x="610870" y="1732280"/>
            <a:ext cx="3456305" cy="312737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" name="组合 15"/>
          <p:cNvGrpSpPr/>
          <p:nvPr/>
        </p:nvGrpSpPr>
        <p:grpSpPr>
          <a:xfrm>
            <a:off x="1424680" y="1471966"/>
            <a:ext cx="1748270" cy="369475"/>
            <a:chOff x="1209415" y="1113191"/>
            <a:chExt cx="1748270" cy="369475"/>
          </a:xfrm>
        </p:grpSpPr>
        <p:sp>
          <p:nvSpPr>
            <p:cNvPr id="4" name="矩形 15"/>
            <p:cNvSpPr/>
            <p:nvPr/>
          </p:nvSpPr>
          <p:spPr>
            <a:xfrm>
              <a:off x="1209415" y="114011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7"/>
            <p:cNvSpPr txBox="1"/>
            <p:nvPr/>
          </p:nvSpPr>
          <p:spPr>
            <a:xfrm>
              <a:off x="1594674" y="111319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使命前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" name="燕尾形箭头 9"/>
          <p:cNvSpPr/>
          <p:nvPr/>
        </p:nvSpPr>
        <p:spPr>
          <a:xfrm flipV="1">
            <a:off x="4428587" y="2859782"/>
            <a:ext cx="440690" cy="530994"/>
          </a:xfrm>
          <a:prstGeom prst="notchedRightArrow">
            <a:avLst/>
          </a:prstGeom>
          <a:gradFill>
            <a:gsLst>
              <a:gs pos="14000">
                <a:srgbClr val="F9680D"/>
              </a:gs>
              <a:gs pos="100000">
                <a:schemeClr val="bg1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146675" y="1732280"/>
            <a:ext cx="3456305" cy="3127375"/>
          </a:xfrm>
          <a:prstGeom prst="rect">
            <a:avLst/>
          </a:prstGeom>
          <a:noFill/>
          <a:ln w="571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6082903" y="1494710"/>
            <a:ext cx="1748270" cy="369475"/>
            <a:chOff x="1209415" y="1175421"/>
            <a:chExt cx="1748270" cy="369475"/>
          </a:xfrm>
        </p:grpSpPr>
        <p:sp>
          <p:nvSpPr>
            <p:cNvPr id="18" name="矩形 15"/>
            <p:cNvSpPr/>
            <p:nvPr/>
          </p:nvSpPr>
          <p:spPr>
            <a:xfrm>
              <a:off x="1209415" y="1202347"/>
              <a:ext cx="1680787" cy="342549"/>
            </a:xfrm>
            <a:prstGeom prst="rect">
              <a:avLst/>
            </a:prstGeom>
            <a:solidFill>
              <a:srgbClr val="F959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7"/>
            <p:cNvSpPr txBox="1"/>
            <p:nvPr/>
          </p:nvSpPr>
          <p:spPr>
            <a:xfrm>
              <a:off x="1594674" y="1175421"/>
              <a:ext cx="13630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使命后</a:t>
              </a:r>
              <a:endParaRPr lang="zh-CN" altLang="en-US" b="1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718813" y="2079318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个人：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03116" y="2064186"/>
            <a:ext cx="3300067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个人：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54380" y="3044600"/>
            <a:ext cx="3273431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团队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54380" y="4012908"/>
            <a:ext cx="3240360" cy="73596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1400" b="1" dirty="0">
                <a:solidFill>
                  <a:srgbClr val="C00000"/>
                </a:solidFill>
              </a:rPr>
              <a:t>公司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(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例如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)</a:t>
            </a: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1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、伙伴幸福指数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,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公司经营结果</a:t>
            </a:r>
            <a:r>
              <a:rPr kumimoji="0" lang="en-US" altLang="zh-CN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.....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303116" y="3021246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zh-CN" altLang="en-US" sz="1400" b="1" dirty="0">
                <a:solidFill>
                  <a:srgbClr val="C00000"/>
                </a:solidFill>
              </a:rPr>
              <a:t>团队</a:t>
            </a:r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289736" y="3978306"/>
            <a:ext cx="3240360" cy="3054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kumimoji="0" lang="zh-CN" altLang="en-US" sz="1400" b="1" i="0" u="none" strike="noStrike" cap="none" spc="0" normalizeH="0" baseline="0" dirty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+mn-lt"/>
                <a:ea typeface="+mn-ea"/>
                <a:cs typeface="+mn-cs"/>
                <a:sym typeface="Calibri" panose="020F0502020204030204"/>
              </a:rPr>
              <a:t>公司：</a:t>
            </a: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C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152288" y="3691990"/>
            <a:ext cx="993286" cy="10147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XXX</a:t>
            </a:r>
            <a:r>
              <a:rPr lang="zh-CN" altLang="en-US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年</a:t>
            </a:r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</a:t>
            </a:r>
            <a:r>
              <a:rPr lang="zh-CN" altLang="en-US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月</a:t>
            </a:r>
            <a:r>
              <a:rPr lang="en-US" altLang="zh-CN" sz="1200" b="1" noProof="0" dirty="0">
                <a:solidFill>
                  <a:srgbClr val="FF0000"/>
                </a:solidFill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XX</a:t>
            </a:r>
            <a:r>
              <a:rPr lang="zh-CN" altLang="en-US" sz="1200" b="1" noProof="0" dirty="0">
                <a:uLnTx/>
                <a:latin typeface="Arial" panose="020B0604020202020204"/>
                <a:ea typeface="微软雅黑" panose="020B0503020204020204" charset="-122"/>
                <a:sym typeface="Calibri" panose="020F0502020204030204"/>
              </a:rPr>
              <a:t>日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参加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49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天使命血肉化训练营</a:t>
            </a:r>
            <a:endParaRPr lang="zh-CN" altLang="en-US" sz="1200" dirty="0"/>
          </a:p>
        </p:txBody>
      </p:sp>
      <p:sp>
        <p:nvSpPr>
          <p:cNvPr id="26" name="文本框 25"/>
          <p:cNvSpPr txBox="1"/>
          <p:nvPr/>
        </p:nvSpPr>
        <p:spPr>
          <a:xfrm>
            <a:off x="4152288" y="1923678"/>
            <a:ext cx="993286" cy="6451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年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月</a:t>
            </a: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XX</a:t>
            </a:r>
            <a:r>
              <a: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  <a:sym typeface="Calibri" panose="020F0502020204030204"/>
              </a:rPr>
              <a:t>日加入盛和塾</a:t>
            </a:r>
            <a:endParaRPr lang="zh-CN" altLang="en-US" sz="1200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51460" y="699135"/>
            <a:ext cx="8816975" cy="38481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</a:t>
            </a:r>
            <a:r>
              <a:rPr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听你讲对我有什么好处？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r>
              <a:rPr lang="zh-CN" altLang="en-US" sz="14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（你宣讲使命的力量对听众有什么帮助？能产生什么结果？）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170473" y="1563255"/>
            <a:ext cx="6912768" cy="3024466"/>
            <a:chOff x="4317719" y="1130195"/>
            <a:chExt cx="3526877" cy="2446380"/>
          </a:xfrm>
        </p:grpSpPr>
        <p:sp>
          <p:nvSpPr>
            <p:cNvPr id="12" name="2"/>
            <p:cNvSpPr/>
            <p:nvPr>
              <p:custDataLst>
                <p:tags r:id="rId1"/>
              </p:custDataLst>
            </p:nvPr>
          </p:nvSpPr>
          <p:spPr>
            <a:xfrm>
              <a:off x="4317719" y="1130300"/>
              <a:ext cx="3526877" cy="2446275"/>
            </a:xfrm>
            <a:prstGeom prst="roundRect">
              <a:avLst>
                <a:gd name="adj" fmla="val 5900"/>
              </a:avLst>
            </a:prstGeom>
            <a:solidFill>
              <a:schemeClr val="accent2">
                <a:alpha val="10000"/>
              </a:schemeClr>
            </a:solidFill>
            <a:ln w="12700" cap="rnd">
              <a:gradFill>
                <a:gsLst>
                  <a:gs pos="0">
                    <a:schemeClr val="accent2"/>
                  </a:gs>
                  <a:gs pos="100000">
                    <a:schemeClr val="accent2">
                      <a:lumMod val="60000"/>
                      <a:lumOff val="40000"/>
                    </a:schemeClr>
                  </a:gs>
                </a:gsLst>
                <a:lin ang="2700000" scaled="0"/>
              </a:gradFill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l" defTabSz="913765"/>
              <a:endParaRPr lang="en-GB" sz="1000" b="1" dirty="0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14" name="Title-2"/>
            <p:cNvSpPr/>
            <p:nvPr>
              <p:custDataLst>
                <p:tags r:id="rId2"/>
              </p:custDataLst>
            </p:nvPr>
          </p:nvSpPr>
          <p:spPr>
            <a:xfrm>
              <a:off x="5622692" y="1130195"/>
              <a:ext cx="834561" cy="235755"/>
            </a:xfrm>
            <a:prstGeom prst="roundRect">
              <a:avLst/>
            </a:prstGeom>
            <a:gradFill>
              <a:gsLst>
                <a:gs pos="0">
                  <a:schemeClr val="accent2">
                    <a:lumMod val="60000"/>
                    <a:lumOff val="40000"/>
                  </a:schemeClr>
                </a:gs>
                <a:gs pos="60000">
                  <a:schemeClr val="accent2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non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3765"/>
              <a:r>
                <a:rPr lang="zh-CN" altLang="en-US" b="1" dirty="0" smtClean="0">
                  <a:solidFill>
                    <a:srgbClr val="FFFFFF"/>
                  </a:solidFill>
                  <a:latin typeface="+mn-ea"/>
                </a:rPr>
                <a:t>员工</a:t>
              </a:r>
              <a:endParaRPr lang="zh-CN" altLang="en-US" b="1" dirty="0">
                <a:solidFill>
                  <a:srgbClr val="FFFFFF"/>
                </a:solidFill>
                <a:latin typeface="+mn-ea"/>
              </a:endParaRPr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040" y="699135"/>
            <a:ext cx="8503285" cy="33274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noAutofit/>
          </a:bodyPr>
          <a:lstStyle/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4</a:t>
            </a:r>
            <a:r>
              <a:rPr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、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你要讲的主题是什么？</a:t>
            </a:r>
            <a:r>
              <a:rPr lang="en-US" altLang="zh-CN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   1</a:t>
            </a:r>
            <a:r>
              <a:rPr lang="zh-CN" altLang="en-US" sz="1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Helvetica Neue" panose="02000503000000020004"/>
              </a:rPr>
              <a:t>分</a:t>
            </a:r>
            <a:endParaRPr lang="zh-CN" altLang="en-US" sz="1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marL="0" marR="0" indent="0" algn="l" defTabSz="914400" rtl="0" eaLnBrk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sz="1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流程图: 终止 3"/>
          <p:cNvSpPr/>
          <p:nvPr/>
        </p:nvSpPr>
        <p:spPr>
          <a:xfrm>
            <a:off x="2411730" y="1275715"/>
            <a:ext cx="4112895" cy="730250"/>
          </a:xfrm>
          <a:prstGeom prst="flowChartTerminator">
            <a:avLst/>
          </a:prstGeom>
          <a:solidFill>
            <a:srgbClr val="C00000"/>
          </a:solidFill>
          <a:ln w="12700" cap="flat">
            <a:solidFill>
              <a:srgbClr val="C00000"/>
            </a:solidFill>
            <a:prstDash val="solid"/>
            <a:miter lim="8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ctr" forceAA="0">
            <a:noAutofit/>
          </a:bodyPr>
          <a:p>
            <a:pPr marL="0" marR="0" indent="0" algn="ct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kumimoji="0" lang="zh-CN" altLang="en-US" sz="2800" i="0" u="none" strike="noStrike" cap="none" spc="0" normalizeH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n-lt"/>
                <a:cs typeface="+mn-cs"/>
                <a:sym typeface="Calibri" panose="020F0502020204030204"/>
              </a:rPr>
              <a:t>我今天宣讲的主题是</a:t>
            </a:r>
            <a:endParaRPr kumimoji="0" lang="zh-CN" altLang="en-US" sz="2800" i="0" u="none" strike="noStrike" cap="none" spc="0" normalizeH="0">
              <a:ln>
                <a:noFill/>
              </a:ln>
              <a:solidFill>
                <a:schemeClr val="bg1"/>
              </a:solidFill>
              <a:effectLst/>
              <a:uFillTx/>
              <a:latin typeface="+mn-lt"/>
              <a:cs typeface="+mn-cs"/>
              <a:sym typeface="Calibri" panose="020F0502020204030204"/>
            </a:endParaRPr>
          </a:p>
        </p:txBody>
      </p:sp>
      <p:sp>
        <p:nvSpPr>
          <p:cNvPr id="3" name="文本框 14"/>
          <p:cNvSpPr txBox="1"/>
          <p:nvPr>
            <p:custDataLst>
              <p:tags r:id="rId1"/>
            </p:custDataLst>
          </p:nvPr>
        </p:nvSpPr>
        <p:spPr>
          <a:xfrm>
            <a:off x="22225" y="1986915"/>
            <a:ext cx="9121775" cy="1697355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p>
            <a:pPr algn="ctr">
              <a:lnSpc>
                <a:spcPct val="150000"/>
              </a:lnSpc>
            </a:pPr>
            <a:r>
              <a:rPr lang="zh-CN" altLang="en-US" sz="35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使命的力量</a:t>
            </a:r>
            <a:r>
              <a:rPr lang="en-US" altLang="zh-CN" sz="3500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-</a:t>
            </a:r>
            <a:r>
              <a:rPr lang="zh-CN" altLang="en-US" sz="3600" b="1" dirty="0">
                <a:solidFill>
                  <a:srgbClr val="FF0000"/>
                </a:solidFill>
                <a:sym typeface="+mn-ea"/>
              </a:rPr>
              <a:t>奋斗</a:t>
            </a:r>
            <a:r>
              <a:rPr lang="zh-CN" altLang="zh-CN" sz="3600" b="1" dirty="0">
                <a:solidFill>
                  <a:srgbClr val="FF0000"/>
                </a:solidFill>
                <a:sym typeface="+mn-ea"/>
              </a:rPr>
              <a:t>观</a:t>
            </a:r>
            <a:r>
              <a:rPr lang="en-US" altLang="zh-CN" sz="3600" b="1" dirty="0">
                <a:solidFill>
                  <a:srgbClr val="FF0000"/>
                </a:solidFill>
                <a:sym typeface="+mn-ea"/>
              </a:rPr>
              <a:t>—</a:t>
            </a:r>
            <a:r>
              <a:rPr lang="zh-CN" altLang="en-US" sz="3600" b="1" dirty="0">
                <a:solidFill>
                  <a:srgbClr val="FF0000"/>
                </a:solidFill>
                <a:sym typeface="+mn-ea"/>
              </a:rPr>
              <a:t>愿景桃花源 挑战高目标</a:t>
            </a:r>
            <a:endParaRPr sz="3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algn="ctr">
              <a:lnSpc>
                <a:spcPct val="150000"/>
              </a:lnSpc>
            </a:pPr>
            <a:endParaRPr lang="zh-CN" altLang="zh-CN" sz="3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605" y="699135"/>
            <a:ext cx="6138545" cy="297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二、你企业（或部门）的使命是什么？+2 </a:t>
            </a:r>
            <a:r>
              <a:rPr lang="zh-CN"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。</a:t>
            </a:r>
            <a:r>
              <a:rPr lang="en-US"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  </a:t>
            </a:r>
            <a:r>
              <a:rPr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使命诠释+1。</a:t>
            </a:r>
            <a:r>
              <a:rPr lang="en-US" sz="15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   </a:t>
            </a:r>
            <a:r>
              <a:rPr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3分</a:t>
            </a:r>
            <a:endParaRPr sz="1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-108585" y="1877060"/>
            <a:ext cx="908304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公司使命诠释</a:t>
            </a:r>
            <a:endParaRPr lang="zh-CN" altLang="en-US" sz="1600" b="1" kern="100" dirty="0">
              <a:solidFill>
                <a:srgbClr val="C00000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grpSp>
        <p:nvGrpSpPr>
          <p:cNvPr id="23" name="组合 22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91465" y="2315845"/>
            <a:ext cx="8608060" cy="2834640"/>
            <a:chOff x="660400" y="1091981"/>
            <a:chExt cx="7200977" cy="5082855"/>
          </a:xfrm>
        </p:grpSpPr>
        <p:grpSp>
          <p:nvGrpSpPr>
            <p:cNvPr id="24" name="组合 23"/>
            <p:cNvGrpSpPr/>
            <p:nvPr/>
          </p:nvGrpSpPr>
          <p:grpSpPr>
            <a:xfrm>
              <a:off x="660400" y="1091981"/>
              <a:ext cx="3526877" cy="2484594"/>
              <a:chOff x="660400" y="1091981"/>
              <a:chExt cx="3526877" cy="2484594"/>
            </a:xfrm>
          </p:grpSpPr>
          <p:sp>
            <p:nvSpPr>
              <p:cNvPr id="41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660400" y="1130300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1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1"/>
                    </a:gs>
                    <a:gs pos="100000">
                      <a:schemeClr val="accent1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44" name="Body-1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660400" y="1939332"/>
                <a:ext cx="3459969" cy="8255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物质幸福：</a:t>
                </a:r>
                <a:endParaRPr lang="zh-CN" altLang="en-US" sz="1200" dirty="0"/>
              </a:p>
              <a:p>
                <a:pPr lvl="0"/>
                <a:r>
                  <a:rPr lang="zh-CN" altLang="en-US" sz="1200" b="1" dirty="0">
                    <a:solidFill>
                      <a:srgbClr val="FF000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精神幸福：</a:t>
                </a:r>
                <a:endParaRPr lang="zh-CN" altLang="en-US" sz="1200" b="1" dirty="0">
                  <a:latin typeface="+mj-ea"/>
                  <a:ea typeface="+mj-ea"/>
                </a:endParaRPr>
              </a:p>
            </p:txBody>
          </p:sp>
          <p:sp>
            <p:nvSpPr>
              <p:cNvPr id="47" name="Title-1"/>
              <p:cNvSpPr/>
              <p:nvPr>
                <p:custDataLst>
                  <p:tags r:id="rId4"/>
                </p:custDataLst>
              </p:nvPr>
            </p:nvSpPr>
            <p:spPr>
              <a:xfrm>
                <a:off x="1593731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1600" b="1" smtClean="0">
                    <a:solidFill>
                      <a:srgbClr val="FFFFFF"/>
                    </a:solidFill>
                    <a:latin typeface="+mn-ea"/>
                  </a:rPr>
                  <a:t>员工幸福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326211" y="1091981"/>
              <a:ext cx="3526877" cy="2484593"/>
              <a:chOff x="4326211" y="1091981"/>
              <a:chExt cx="3526877" cy="2484593"/>
            </a:xfrm>
          </p:grpSpPr>
          <p:sp>
            <p:nvSpPr>
              <p:cNvPr id="5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4326211" y="1130299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2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2"/>
                    </a:gs>
                    <a:gs pos="100000">
                      <a:schemeClr val="accent2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6" name="Body-2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4359664" y="1865938"/>
                <a:ext cx="3459969" cy="4668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3765"/>
                <a:r>
                  <a:rPr lang="zh-CN" altLang="en-GB" sz="1100" b="1" dirty="0">
                    <a:solidFill>
                      <a:schemeClr val="tx1"/>
                    </a:solidFill>
                    <a:latin typeface="+mn-ea"/>
                    <a:sym typeface="+mn-ea"/>
                  </a:rPr>
                  <a:t>关键词诠释</a:t>
                </a:r>
                <a:endParaRPr lang="en-US" altLang="zh-CN" sz="1100" b="1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7" name="Title-2"/>
              <p:cNvSpPr/>
              <p:nvPr>
                <p:custDataLst>
                  <p:tags r:id="rId7"/>
                </p:custDataLst>
              </p:nvPr>
            </p:nvSpPr>
            <p:spPr>
              <a:xfrm>
                <a:off x="5255190" y="1091981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</a:schemeClr>
                  </a:gs>
                  <a:gs pos="60000">
                    <a:schemeClr val="accent2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客户幸福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  <p:sp>
          <p:nvSpPr>
            <p:cNvPr id="36" name="Body-3"/>
            <p:cNvSpPr txBox="1"/>
            <p:nvPr>
              <p:custDataLst>
                <p:tags r:id="rId8"/>
              </p:custDataLst>
            </p:nvPr>
          </p:nvSpPr>
          <p:spPr>
            <a:xfrm>
              <a:off x="707978" y="4499828"/>
              <a:ext cx="3440943" cy="4025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l"/>
              <a:endParaRPr lang="zh-CN" altLang="en-US" sz="1200" dirty="0">
                <a:solidFill>
                  <a:srgbClr val="FF0000"/>
                </a:solidFill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2365373" y="3711773"/>
              <a:ext cx="5496004" cy="2463063"/>
              <a:chOff x="-1300438" y="3667485"/>
              <a:chExt cx="5496004" cy="2463063"/>
            </a:xfrm>
          </p:grpSpPr>
          <p:sp>
            <p:nvSpPr>
              <p:cNvPr id="28" name="4"/>
              <p:cNvSpPr/>
              <p:nvPr>
                <p:custDataLst>
                  <p:tags r:id="rId9"/>
                </p:custDataLst>
              </p:nvPr>
            </p:nvSpPr>
            <p:spPr>
              <a:xfrm>
                <a:off x="-1300438" y="3684273"/>
                <a:ext cx="3526877" cy="2446275"/>
              </a:xfrm>
              <a:prstGeom prst="roundRect">
                <a:avLst>
                  <a:gd name="adj" fmla="val 5900"/>
                </a:avLst>
              </a:prstGeom>
              <a:solidFill>
                <a:schemeClr val="accent4">
                  <a:alpha val="10000"/>
                </a:schemeClr>
              </a:solidFill>
              <a:ln w="12700" cap="rnd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60000"/>
                        <a:lumOff val="40000"/>
                        <a:alpha val="20000"/>
                      </a:schemeClr>
                    </a:gs>
                  </a:gsLst>
                  <a:lin ang="2700000" scaled="0"/>
                </a:gra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9" name="Body-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64197" y="4435337"/>
                <a:ext cx="3431369" cy="494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sz="1200" b="1" dirty="0">
                    <a:solidFill>
                      <a:schemeClr val="tx1"/>
                    </a:solidFill>
                    <a:latin typeface="+mj-ea"/>
                    <a:ea typeface="+mj-ea"/>
                    <a:cs typeface="微软雅黑" panose="020B0503020204020204" charset="-122"/>
                    <a:sym typeface="+mn-lt"/>
                  </a:rPr>
                  <a:t> </a:t>
                </a:r>
                <a:endParaRPr lang="en-US" altLang="zh-CN" sz="1200" b="1" dirty="0">
                  <a:solidFill>
                    <a:schemeClr val="tx1"/>
                  </a:solidFill>
                  <a:latin typeface="+mj-ea"/>
                  <a:ea typeface="+mj-ea"/>
                </a:endParaRPr>
              </a:p>
            </p:txBody>
          </p:sp>
          <p:sp>
            <p:nvSpPr>
              <p:cNvPr id="32" name="Title-4"/>
              <p:cNvSpPr/>
              <p:nvPr>
                <p:custDataLst>
                  <p:tags r:id="rId11"/>
                </p:custDataLst>
              </p:nvPr>
            </p:nvSpPr>
            <p:spPr>
              <a:xfrm>
                <a:off x="-380295" y="3667485"/>
                <a:ext cx="1668917" cy="378932"/>
              </a:xfrm>
              <a:prstGeom prst="roundRect">
                <a:avLst/>
              </a:prstGeom>
              <a:gradFill>
                <a:gsLst>
                  <a:gs pos="0">
                    <a:schemeClr val="accent4">
                      <a:lumMod val="60000"/>
                      <a:lumOff val="40000"/>
                    </a:schemeClr>
                  </a:gs>
                  <a:gs pos="60000">
                    <a:schemeClr val="accent4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4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行业</a:t>
                </a:r>
                <a:r>
                  <a:rPr lang="en-US" altLang="zh-CN" sz="1600" b="1" dirty="0">
                    <a:solidFill>
                      <a:srgbClr val="FFFFFF"/>
                    </a:solidFill>
                    <a:latin typeface="+mn-ea"/>
                  </a:rPr>
                  <a:t>/</a:t>
                </a:r>
                <a:r>
                  <a:rPr lang="zh-CN" altLang="en-US" sz="1600" b="1" dirty="0">
                    <a:solidFill>
                      <a:srgbClr val="FFFFFF"/>
                    </a:solidFill>
                    <a:latin typeface="+mn-ea"/>
                  </a:rPr>
                  <a:t>社会幸福</a:t>
                </a:r>
                <a:endParaRPr lang="zh-CN" altLang="en-US" sz="1600" b="1" dirty="0">
                  <a:solidFill>
                    <a:srgbClr val="FFFFFF"/>
                  </a:solidFill>
                  <a:latin typeface="+mn-ea"/>
                </a:endParaRPr>
              </a:p>
            </p:txBody>
          </p:sp>
        </p:grpSp>
      </p:grpSp>
      <p:sp>
        <p:nvSpPr>
          <p:cNvPr id="3" name="2"/>
          <p:cNvSpPr/>
          <p:nvPr>
            <p:custDataLst>
              <p:tags r:id="rId12"/>
            </p:custDataLst>
          </p:nvPr>
        </p:nvSpPr>
        <p:spPr>
          <a:xfrm>
            <a:off x="179070" y="1264285"/>
            <a:ext cx="8598535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itle-2"/>
          <p:cNvSpPr/>
          <p:nvPr>
            <p:custDataLst>
              <p:tags r:id="rId13"/>
            </p:custDataLst>
          </p:nvPr>
        </p:nvSpPr>
        <p:spPr>
          <a:xfrm>
            <a:off x="179070" y="962025"/>
            <a:ext cx="1370330" cy="302260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公司使命：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52705" y="1778000"/>
            <a:ext cx="9131935" cy="337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ctr"/>
            <a:r>
              <a:rPr lang="zh-CN" altLang="en-US" sz="1600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愿景诠释</a:t>
            </a:r>
            <a:r>
              <a:rPr lang="zh-CN" altLang="en-US" sz="1600" b="1" kern="100" dirty="0">
                <a:solidFill>
                  <a:schemeClr val="tx1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</a:rPr>
              <a:t>（关键词诠释）</a:t>
            </a:r>
            <a:endParaRPr lang="zh-CN" altLang="en-US" sz="1600" b="1" kern="100" dirty="0">
              <a:solidFill>
                <a:schemeClr val="tx1"/>
              </a:solidFill>
              <a:latin typeface="Calibri" panose="020F0502020204030204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pSp>
        <p:nvGrpSpPr>
          <p:cNvPr id="6" name="组合 5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63245" y="2164080"/>
            <a:ext cx="8161020" cy="2621915"/>
            <a:chOff x="996671" y="1847280"/>
            <a:chExt cx="3268305" cy="3088043"/>
          </a:xfrm>
        </p:grpSpPr>
        <p:grpSp>
          <p:nvGrpSpPr>
            <p:cNvPr id="8" name="组合 7"/>
            <p:cNvGrpSpPr/>
            <p:nvPr/>
          </p:nvGrpSpPr>
          <p:grpSpPr>
            <a:xfrm>
              <a:off x="996671" y="1847280"/>
              <a:ext cx="1567711" cy="3088043"/>
              <a:chOff x="996671" y="1847280"/>
              <a:chExt cx="1567711" cy="3088043"/>
            </a:xfrm>
          </p:grpSpPr>
          <p:sp>
            <p:nvSpPr>
              <p:cNvPr id="15" name="1"/>
              <p:cNvSpPr/>
              <p:nvPr>
                <p:custDataLst>
                  <p:tags r:id="rId2"/>
                </p:custDataLst>
              </p:nvPr>
            </p:nvSpPr>
            <p:spPr>
              <a:xfrm>
                <a:off x="996671" y="2371071"/>
                <a:ext cx="1543862" cy="2564252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6" name="Title-1"/>
              <p:cNvSpPr/>
              <p:nvPr>
                <p:custDataLst>
                  <p:tags r:id="rId3"/>
                </p:custDataLst>
              </p:nvPr>
            </p:nvSpPr>
            <p:spPr>
              <a:xfrm>
                <a:off x="1016039" y="1847280"/>
                <a:ext cx="1524494" cy="398346"/>
              </a:xfrm>
              <a:prstGeom prst="roundRect">
                <a:avLst>
                  <a:gd name="adj" fmla="val 0"/>
                </a:avLst>
              </a:prstGeom>
              <a:solidFill>
                <a:schemeClr val="accent1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1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lvl="0" algn="ctr"/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7" name="Body-1"/>
              <p:cNvSpPr/>
              <p:nvPr>
                <p:custDataLst>
                  <p:tags r:id="rId4"/>
                </p:custDataLst>
              </p:nvPr>
            </p:nvSpPr>
            <p:spPr>
              <a:xfrm flipH="1">
                <a:off x="996671" y="2394947"/>
                <a:ext cx="1567711" cy="49793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marL="171450" lvl="0" indent="-171450">
                  <a:lnSpc>
                    <a:spcPct val="200000"/>
                  </a:lnSpc>
                  <a:buFont typeface="Wingdings" panose="05000000000000000000" pitchFamily="2" charset="2"/>
                  <a:buChar char="l"/>
                </a:pPr>
                <a:endParaRPr lang="zh-CN" altLang="en-US" sz="1200" b="1" kern="120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2704890" y="1862734"/>
              <a:ext cx="1560086" cy="3072589"/>
              <a:chOff x="2704890" y="1862734"/>
              <a:chExt cx="1560086" cy="3072589"/>
            </a:xfrm>
          </p:grpSpPr>
          <p:sp>
            <p:nvSpPr>
              <p:cNvPr id="10" name="2"/>
              <p:cNvSpPr/>
              <p:nvPr>
                <p:custDataLst>
                  <p:tags r:id="rId5"/>
                </p:custDataLst>
              </p:nvPr>
            </p:nvSpPr>
            <p:spPr>
              <a:xfrm>
                <a:off x="2704890" y="2394947"/>
                <a:ext cx="1543862" cy="2540376"/>
              </a:xfrm>
              <a:prstGeom prst="roundRect">
                <a:avLst>
                  <a:gd name="adj" fmla="val 0"/>
                </a:avLst>
              </a:prstGeom>
              <a:solidFill>
                <a:schemeClr val="tx1">
                  <a:lumMod val="25000"/>
                  <a:lumOff val="75000"/>
                  <a:alpha val="20000"/>
                </a:schemeClr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4400"/>
                <a:endParaRPr lang="zh-CN" altLang="en-US" sz="2000" b="1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11" name="Title-2"/>
              <p:cNvSpPr/>
              <p:nvPr>
                <p:custDataLst>
                  <p:tags r:id="rId6"/>
                </p:custDataLst>
              </p:nvPr>
            </p:nvSpPr>
            <p:spPr>
              <a:xfrm>
                <a:off x="2721113" y="1862734"/>
                <a:ext cx="1524854" cy="367439"/>
              </a:xfrm>
              <a:prstGeom prst="roundRect">
                <a:avLst>
                  <a:gd name="adj" fmla="val 0"/>
                </a:avLst>
              </a:prstGeom>
              <a:solidFill>
                <a:schemeClr val="accent2"/>
              </a:solidFill>
              <a:ln w="12700" cap="rnd">
                <a:noFill/>
                <a:prstDash val="solid"/>
                <a:round/>
              </a:ln>
              <a:effectLst>
                <a:outerShdw blurRad="254000" dist="127000" algn="ctr" rotWithShape="0">
                  <a:schemeClr val="accent2"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sp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marL="0" lvl="0" algn="ctr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kumimoji="0" lang="zh-CN" altLang="en-US" sz="1800" b="1" i="0" u="none" strike="noStrike" kern="1200" cap="none" spc="0" normalizeH="0" baseline="0" dirty="0"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12" name="Body-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2721113" y="2443084"/>
                <a:ext cx="1543863" cy="34820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91440" tIns="45720" rIns="91440" bIns="45720" anchor="t">
                <a:spAutoFit/>
              </a:bodyPr>
              <a:lstStyle/>
              <a:p>
                <a:pPr lvl="0" algn="l" defTabSz="711200">
                  <a:lnSpc>
                    <a:spcPts val="1800"/>
                  </a:lnSpc>
                  <a:spcBef>
                    <a:spcPct val="0"/>
                  </a:spcBef>
                  <a:spcAft>
                    <a:spcPct val="35000"/>
                  </a:spcAft>
                  <a:buFont typeface="Wingdings" panose="05000000000000000000" pitchFamily="2" charset="2"/>
                </a:pPr>
                <a:endParaRPr lang="zh-CN" altLang="en-US" sz="1200" b="1" kern="1200" dirty="0">
                  <a:solidFill>
                    <a:srgbClr val="000000"/>
                  </a:solidFill>
                  <a:latin typeface="+mj-ea"/>
                  <a:ea typeface="+mj-ea"/>
                  <a:cs typeface="微软雅黑" panose="020B0503020204020204" charset="-122"/>
                </a:endParaRPr>
              </a:p>
            </p:txBody>
          </p:sp>
        </p:grpSp>
      </p:grpSp>
      <p:sp>
        <p:nvSpPr>
          <p:cNvPr id="4" name="2"/>
          <p:cNvSpPr/>
          <p:nvPr>
            <p:custDataLst>
              <p:tags r:id="rId8"/>
            </p:custDataLst>
          </p:nvPr>
        </p:nvSpPr>
        <p:spPr>
          <a:xfrm>
            <a:off x="538480" y="1064895"/>
            <a:ext cx="8067040" cy="704850"/>
          </a:xfrm>
          <a:prstGeom prst="roundRect">
            <a:avLst>
              <a:gd name="adj" fmla="val 5900"/>
            </a:avLst>
          </a:prstGeom>
          <a:solidFill>
            <a:schemeClr val="accent2">
              <a:alpha val="10000"/>
            </a:schemeClr>
          </a:solidFill>
          <a:ln w="12700" cap="rnd">
            <a:gradFill>
              <a:gsLst>
                <a:gs pos="0">
                  <a:schemeClr val="accent2"/>
                </a:gs>
                <a:gs pos="100000">
                  <a:schemeClr val="accent2">
                    <a:lumMod val="60000"/>
                    <a:lumOff val="40000"/>
                  </a:schemeClr>
                </a:gs>
              </a:gsLst>
              <a:lin ang="2700000" scaled="0"/>
            </a:gra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" name="Title-2"/>
          <p:cNvSpPr/>
          <p:nvPr>
            <p:custDataLst>
              <p:tags r:id="rId9"/>
            </p:custDataLst>
          </p:nvPr>
        </p:nvSpPr>
        <p:spPr>
          <a:xfrm>
            <a:off x="563245" y="729615"/>
            <a:ext cx="1496060" cy="327025"/>
          </a:xfrm>
          <a:prstGeom prst="roundRect">
            <a:avLst/>
          </a:prstGeom>
          <a:gradFill>
            <a:gsLst>
              <a:gs pos="0">
                <a:schemeClr val="accent2">
                  <a:lumMod val="60000"/>
                  <a:lumOff val="40000"/>
                </a:schemeClr>
              </a:gs>
              <a:gs pos="60000">
                <a:schemeClr val="accent2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p>
            <a:pPr algn="ctr" defTabSz="913765"/>
            <a:r>
              <a:rPr lang="zh-CN" altLang="en-US" b="1" kern="100" dirty="0">
                <a:solidFill>
                  <a:srgbClr val="C00000"/>
                </a:solidFill>
                <a:latin typeface="Calibri" panose="020F0502020204030204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公司愿景：</a:t>
            </a:r>
            <a:endParaRPr lang="zh-CN" altLang="en-US" b="1" dirty="0">
              <a:solidFill>
                <a:srgbClr val="FFFFFF"/>
              </a:solidFill>
              <a:latin typeface="+mn-ea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95605" y="704215"/>
            <a:ext cx="8477250" cy="34925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三、围绕愿景描述桃花源（部门要有部门桃花源）。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11505" y="1851660"/>
            <a:ext cx="772858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3215" y="1203325"/>
            <a:ext cx="3152775" cy="39878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桃花源员工篇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83895" y="1718310"/>
            <a:ext cx="772858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771525"/>
            <a:ext cx="3154045" cy="706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桃花源客户篇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drape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12140" y="1707515"/>
            <a:ext cx="772858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83260" y="771525"/>
            <a:ext cx="3369310" cy="706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桃花源公司篇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drape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677545" y="1718310"/>
            <a:ext cx="7950835" cy="2168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b="1" i="0" u="none" strike="noStrike" kern="1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kumimoji="0" lang="zh-CN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kumimoji="0" lang="en-US" altLang="zh-CN" b="1" i="0" u="none" strike="noStrike" kern="1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kern="100" noProof="0" dirty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坚信有一天</a:t>
            </a:r>
            <a:r>
              <a:rPr lang="zh-CN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en-US" altLang="zh-CN" b="1" kern="100" noProof="0" dirty="0" smtClean="0">
                <a:solidFill>
                  <a:srgbClr val="FF0000"/>
                </a:solidFill>
                <a:uLnTx/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  <a:sym typeface="+mn-ea"/>
              </a:rPr>
              <a:t>...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......(</a:t>
            </a:r>
            <a:r>
              <a:rPr lang="zh-CN" altLang="en-US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根据自己的理解写多少条。</a:t>
            </a:r>
            <a:r>
              <a:rPr lang="en-US" altLang="zh-CN" b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kumimoji="0" lang="en-US" altLang="zh-CN" b="1" i="0" u="none" strike="noStrike" kern="1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5650" y="771525"/>
            <a:ext cx="3662680" cy="7067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defRPr/>
            </a:pPr>
            <a:r>
              <a:rPr lang="zh-CN" altLang="en-US" sz="20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</a:rPr>
              <a:t>桃花源社会篇</a:t>
            </a: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defRPr/>
            </a:pPr>
            <a:endParaRPr lang="zh-CN" altLang="en-US" sz="2000" b="1" dirty="0">
              <a:solidFill>
                <a:srgbClr val="FF006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 advClick="0" advTm="0">
        <p15:prstTrans prst="drape"/>
      </p:transition>
    </mc:Choice>
    <mc:Fallback>
      <p:transition spd="slow" advClick="0" advTm="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3528" y="963747"/>
            <a:ext cx="791464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4-1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、企业愿景、实现中期愿景的策略、行动方案是什么？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  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en-US" altLang="zh-CN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192405" y="1308735"/>
          <a:ext cx="8832215" cy="3622675"/>
        </p:xfrm>
        <a:graphic>
          <a:graphicData uri="http://schemas.openxmlformats.org/drawingml/2006/table">
            <a:tbl>
              <a:tblPr/>
              <a:tblGrid>
                <a:gridCol w="1147445"/>
                <a:gridCol w="2531110"/>
                <a:gridCol w="2917825"/>
                <a:gridCol w="962660"/>
                <a:gridCol w="1273175"/>
              </a:tblGrid>
              <a:tr h="51562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愿景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聚焦使命落地的关键策略（成为哪方面第一名最重要的做哪几件事；以下分类仅供参考）1分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聚焦关键策略，有哪些关键行动措施1分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预计实施时间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2025要做的打勾☑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231140">
                <a:tc rowSpan="12">
                  <a:txBody>
                    <a:bodyPr/>
                    <a:lstStyle/>
                    <a:p>
                      <a:pPr marL="12700" indent="0" algn="l" fontAlgn="ctr"/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要做一家什么样的公司（</a:t>
                      </a:r>
                      <a:r>
                        <a:rPr lang="zh-CN" altLang="en-US" sz="100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公司愿景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）：</a:t>
                      </a:r>
                      <a:endParaRPr lang="zh-CN" altLang="en-US" sz="1000" b="0" i="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marL="12700" indent="0" algn="l" fontAlgn="ctr"/>
                      <a:b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</a:b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什么时候成为哪方面第一名（</a:t>
                      </a:r>
                      <a:r>
                        <a:rPr lang="zh-CN" altLang="en-US" sz="1000" b="0" dirty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中期目标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）：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、（基于使命的模式上的创新类）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543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12700" algn="l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、（客户服务标准的提升类）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162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89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员工成长类）</a:t>
                      </a:r>
                      <a:b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080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225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971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、（其他重要策略）</a:t>
                      </a:r>
                      <a:endParaRPr lang="zh-CN" altLang="en-US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0985">
                <a:tc vMerge="1"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" name="文本框 4"/>
          <p:cNvSpPr txBox="1"/>
          <p:nvPr/>
        </p:nvSpPr>
        <p:spPr>
          <a:xfrm>
            <a:off x="292879" y="627534"/>
            <a:ext cx="8463915" cy="396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fontAlgn="base"/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四、落地方案（按模版填写）：</a:t>
            </a:r>
            <a:r>
              <a:rPr lang="en-US" altLang="zh-CN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20</a:t>
            </a:r>
            <a:r>
              <a:rPr lang="zh-CN" altLang="en-US" sz="1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分</a:t>
            </a:r>
            <a:endParaRPr lang="zh-CN" altLang="en-US" sz="1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250826" y="1347615"/>
          <a:ext cx="8713661" cy="1944216"/>
        </p:xfrm>
        <a:graphic>
          <a:graphicData uri="http://schemas.openxmlformats.org/drawingml/2006/table">
            <a:tbl>
              <a:tblPr/>
              <a:tblGrid>
                <a:gridCol w="779234"/>
                <a:gridCol w="515454"/>
                <a:gridCol w="577258"/>
                <a:gridCol w="586815"/>
                <a:gridCol w="574709"/>
                <a:gridCol w="588089"/>
                <a:gridCol w="689396"/>
                <a:gridCol w="641610"/>
                <a:gridCol w="644796"/>
                <a:gridCol w="649893"/>
                <a:gridCol w="630778"/>
                <a:gridCol w="626318"/>
                <a:gridCol w="619947"/>
                <a:gridCol w="589364"/>
              </a:tblGrid>
              <a:tr h="38800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目标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年度预定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5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6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7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8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9</a:t>
                      </a:r>
                      <a:r>
                        <a:rPr lang="zh-CN" altLang="en-US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10</a:t>
                      </a:r>
                      <a:r>
                        <a:rPr lang="zh-CN" altLang="en-US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11</a:t>
                      </a:r>
                      <a:r>
                        <a:rPr lang="zh-CN" altLang="en-US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12</a:t>
                      </a:r>
                      <a:r>
                        <a:rPr lang="zh-CN" altLang="en-US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月份</a:t>
                      </a:r>
                      <a:endParaRPr lang="zh-CN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sz="700" b="1" dirty="0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预定（万元）</a:t>
                      </a:r>
                      <a:endParaRPr lang="zh-CN" altLang="en-US" sz="700" b="1" dirty="0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32716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业绩目标</a:t>
                      </a:r>
                      <a:endParaRPr lang="zh-CN" altLang="en-US" sz="1000" b="1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361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1000" b="1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利润目标</a:t>
                      </a:r>
                      <a:endParaRPr lang="zh-CN" altLang="en-US" sz="1000" b="1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业绩达成率</a:t>
                      </a:r>
                      <a:r>
                        <a:rPr lang="en-US" altLang="zh-CN" sz="1000" b="1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%</a:t>
                      </a:r>
                      <a:endParaRPr lang="en-US" altLang="zh-CN" sz="1000" b="1" dirty="0" smtClean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800" b="1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根据实绩核算</a:t>
                      </a:r>
                      <a:endParaRPr lang="en-US" altLang="zh-CN" sz="800" b="1" dirty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FF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/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771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000" b="1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利润达成率</a:t>
                      </a:r>
                      <a:r>
                        <a:rPr lang="en-US" altLang="zh-CN" sz="1000" b="1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%</a:t>
                      </a:r>
                      <a:r>
                        <a:rPr lang="zh-CN" altLang="en-US" sz="800" b="1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根据实绩核算</a:t>
                      </a:r>
                      <a:endParaRPr lang="en-US" altLang="zh-CN" sz="800" b="1" dirty="0" smtClean="0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en-US" sz="1000" b="1" dirty="0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ct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9525" indent="0" algn="r" fontAlgn="b">
                        <a:buNone/>
                      </a:pPr>
                      <a:endParaRPr lang="en-US" altLang="zh-CN" sz="1100" b="1" i="0" dirty="0">
                        <a:solidFill>
                          <a:srgbClr val="000000"/>
                        </a:solidFill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9842" marR="9842" marT="9842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395605" y="699770"/>
            <a:ext cx="783399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4-2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202X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年企业的愿景目标、策略、行动方案是什么？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3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980440"/>
            <a:ext cx="783399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chemeClr val="tx1"/>
                </a:solidFill>
                <a:latin typeface="+mn-ea"/>
                <a:sym typeface="+mn-lt"/>
              </a:rPr>
              <a:t>202X</a:t>
            </a:r>
            <a:r>
              <a:rPr lang="zh-CN" altLang="en-US" sz="1200" b="1" dirty="0">
                <a:solidFill>
                  <a:schemeClr val="tx1"/>
                </a:solidFill>
                <a:latin typeface="+mn-ea"/>
                <a:sym typeface="+mn-lt"/>
              </a:rPr>
              <a:t>年</a:t>
            </a:r>
            <a:r>
              <a:rPr lang="zh-CN" sz="1200" b="1" dirty="0">
                <a:solidFill>
                  <a:schemeClr val="tx1"/>
                </a:solidFill>
                <a:latin typeface="+mn-ea"/>
                <a:sym typeface="+mn-lt"/>
              </a:rPr>
              <a:t>业绩、利润目标的预定及达成率分解</a:t>
            </a:r>
            <a:endParaRPr lang="zh-CN" sz="1200" b="1" dirty="0">
              <a:solidFill>
                <a:schemeClr val="tx1"/>
              </a:solidFill>
              <a:latin typeface="+mn-ea"/>
              <a:sym typeface="+mn-lt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8465" y="843915"/>
            <a:ext cx="7833995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4-2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202X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年企业的愿景目标、策略、行动方案是什么？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3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31140" y="1355090"/>
          <a:ext cx="8796655" cy="3463925"/>
        </p:xfrm>
        <a:graphic>
          <a:graphicData uri="http://schemas.openxmlformats.org/drawingml/2006/table">
            <a:tbl>
              <a:tblPr/>
              <a:tblGrid>
                <a:gridCol w="1177925"/>
                <a:gridCol w="2435225"/>
                <a:gridCol w="3538855"/>
                <a:gridCol w="1037590"/>
                <a:gridCol w="607060"/>
              </a:tblGrid>
              <a:tr h="398145">
                <a:tc>
                  <a:txBody>
                    <a:bodyPr/>
                    <a:lstStyle/>
                    <a:p>
                      <a:pPr marL="12700" indent="0" algn="l" fontAlgn="ctr"/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2025年愿景目标（经营目标）1分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 fontAlgn="ctr"/>
                      <a:r>
                        <a:rPr lang="zh-CN" altLang="en-US" sz="1000" b="1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达成经营目标的关键策略（尽量目标分解，标注增长点；举例内容写时请删掉）1分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indent="0" algn="ctr" fontAlgn="ctr"/>
                      <a:r>
                        <a:rPr lang="zh-CN" altLang="en-US" sz="1000" b="1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落地关键策略的具体行动措施1分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预计实施时间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marL="12700"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责任部门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251460">
                <a:tc rowSpan="12">
                  <a:txBody>
                    <a:bodyPr/>
                    <a:lstStyle/>
                    <a:p>
                      <a:pPr algn="l" rtl="0" fontAlgn="ctr"/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业绩目标：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rtl="0" fontAlgn="ctr"/>
                      <a:b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</a:br>
                      <a:r>
                        <a:rPr lang="zh-CN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</a:rPr>
                        <a:t>利润目标：</a:t>
                      </a:r>
                      <a:endParaRPr lang="en-US" altLang="zh-CN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  <a:p>
                      <a:pPr algn="l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9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销售最大化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举例：常规某业务通过提升服务标准提升业绩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10%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，达到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2000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万，利润率提升到</a:t>
                      </a: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12%</a:t>
                      </a:r>
                      <a:r>
                        <a:rPr lang="zh-CN" altLang="en-US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）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146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6416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3845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9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费用最小化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（例如：优化各项费用，什么费用降低多少）</a:t>
                      </a: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003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6695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7175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</a:t>
                      </a:r>
                      <a:r>
                        <a:rPr lang="zh-CN" altLang="en-US" sz="900" dirty="0" smtClean="0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效能提升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（例如：人均产能、单位附加价值、工时等）</a:t>
                      </a:r>
                      <a:b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765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733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5270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en-US" altLang="zh-CN" sz="9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4</a:t>
                      </a:r>
                      <a:r>
                        <a:rPr lang="zh-CN" altLang="en-US" sz="900" dirty="0" smtClean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、其他方面（根据目标的达成其他方面的策略）</a:t>
                      </a:r>
                      <a:br>
                        <a:rPr lang="zh-CN" altLang="en-US" sz="900" b="1" dirty="0">
                          <a:solidFill>
                            <a:srgbClr val="000000"/>
                          </a:solidFill>
                          <a:effectLst/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</a:b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7340">
                <a:tc vMerge="1">
                  <a:tcPr/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53365">
                <a:tc vMerge="1">
                  <a:tcPr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9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540" marR="3540" marT="354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8465" y="772160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4-3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、客户幸福目标及行动方案是什么？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67335" y="1210310"/>
          <a:ext cx="8712835" cy="3332480"/>
        </p:xfrm>
        <a:graphic>
          <a:graphicData uri="http://schemas.openxmlformats.org/drawingml/2006/table">
            <a:tbl>
              <a:tblPr/>
              <a:tblGrid>
                <a:gridCol w="963930"/>
                <a:gridCol w="1066800"/>
                <a:gridCol w="4373245"/>
                <a:gridCol w="745490"/>
                <a:gridCol w="966470"/>
                <a:gridCol w="596900"/>
              </a:tblGrid>
              <a:tr h="48831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本年客户幸福3件核心的事1分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客户幸福目标（细分目标，量化，可检查）2分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具体行动方案2分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责任部门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</a:tr>
              <a:tr h="25463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1、举例：提升客户满意度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1、举例：大众点评网评分从3.8提升到4.6</a:t>
                      </a:r>
                      <a:endParaRPr lang="zh-CN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8295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718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35915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</a:t>
                      </a:r>
                      <a:endParaRPr lang="zh-CN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0675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785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zh-CN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115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8770"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3680" marR="3680" marT="3680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18465" y="772160"/>
            <a:ext cx="4572000" cy="3670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50000"/>
              </a:lnSpc>
            </a:pP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4-4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、员工幸福目标及行动方案是什么？</a:t>
            </a:r>
            <a:r>
              <a:rPr lang="en-US" altLang="zh-CN" sz="1200" b="1" dirty="0">
                <a:solidFill>
                  <a:srgbClr val="C00000"/>
                </a:solidFill>
                <a:latin typeface="+mn-ea"/>
                <a:sym typeface="+mn-lt"/>
              </a:rPr>
              <a:t>5</a:t>
            </a:r>
            <a:r>
              <a:rPr lang="zh-CN" altLang="en-US" sz="1200" b="1" dirty="0">
                <a:solidFill>
                  <a:srgbClr val="C00000"/>
                </a:solidFill>
                <a:latin typeface="+mn-ea"/>
                <a:sym typeface="+mn-lt"/>
              </a:rPr>
              <a:t>分</a:t>
            </a:r>
            <a:endParaRPr lang="zh-CN" altLang="en-US" sz="1200" b="1" dirty="0">
              <a:solidFill>
                <a:srgbClr val="C00000"/>
              </a:solidFill>
              <a:latin typeface="+mn-ea"/>
              <a:sym typeface="+mn-lt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07645" y="1248410"/>
          <a:ext cx="8825865" cy="3593339"/>
        </p:xfrm>
        <a:graphic>
          <a:graphicData uri="http://schemas.openxmlformats.org/drawingml/2006/table">
            <a:tbl>
              <a:tblPr/>
              <a:tblGrid>
                <a:gridCol w="889000"/>
                <a:gridCol w="1456055"/>
                <a:gridCol w="4485640"/>
                <a:gridCol w="725170"/>
                <a:gridCol w="791845"/>
                <a:gridCol w="478155"/>
              </a:tblGrid>
              <a:tr h="36957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本年度员工幸福目标1分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员工幸福细分目标</a:t>
                      </a:r>
                      <a:endParaRPr lang="zh-CN" altLang="en-US" sz="1000" b="1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  <a:sym typeface="+mn-ea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（量化，可检查）2分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 dirty="0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具体行动方案2分</a:t>
                      </a:r>
                      <a:endParaRPr lang="zh-CN" altLang="en-US" sz="100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完成时间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责任部门</a:t>
                      </a:r>
                      <a:r>
                        <a:rPr lang="en-US" altLang="zh-CN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zh-CN" altLang="en-US" sz="10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ED7D31"/>
                          </a:highlight>
                          <a:latin typeface="微软雅黑" panose="020B0503020204020204" charset="-122"/>
                          <a:ea typeface="微软雅黑" panose="020B0503020204020204" charset="-122"/>
                        </a:rPr>
                        <a:t>检视人</a:t>
                      </a:r>
                      <a:endParaRPr lang="zh-CN" altLang="en-US" sz="1000" b="1" i="0" u="none" strike="noStrike">
                        <a:solidFill>
                          <a:srgbClr val="FFFFFF"/>
                        </a:solidFill>
                        <a:effectLst/>
                        <a:highlight>
                          <a:srgbClr val="ED7D31"/>
                        </a:highlight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D7D31"/>
                    </a:solidFill>
                  </a:tcPr>
                </a:tc>
              </a:tr>
              <a:tr h="343535">
                <a:tc rowSpan="11"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1、员工幸福表测评值增长目标：</a:t>
                      </a:r>
                      <a:endParaRPr lang="zh-CN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  <a:p>
                      <a:pPr algn="l">
                        <a:buNone/>
                      </a:pPr>
                      <a:endParaRPr lang="zh-CN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>
                        <a:buNone/>
                      </a:pP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2、培养使命教练/宣讲师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l" rtl="0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003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6070">
                <a:tc vMerge="1">
                  <a:tcPr/>
                </a:tc>
                <a:tc vMerge="1">
                  <a:tcPr/>
                </a:tc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0">
                <a:tc vMerge="1">
                  <a:tcPr/>
                </a:tc>
                <a:tc rowSpan="4"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  <a:tc vMerge="1">
                  <a:tcPr/>
                </a:tc>
              </a:tr>
              <a:tr h="32385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43535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3210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</a:t>
                      </a:r>
                      <a:r>
                        <a:rPr 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、</a:t>
                      </a:r>
                      <a:endParaRPr lang="zh-CN" altLang="en-US" sz="1000" b="1" i="0" u="none" strike="noStrike" dirty="0">
                        <a:solidFill>
                          <a:srgbClr val="FF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80670">
                <a:tc vMerge="1">
                  <a:tcPr/>
                </a:tc>
                <a:tc rowSpan="3"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en-US" altLang="zh-CN" sz="1000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fontAlgn="ctr">
                        <a:buNone/>
                      </a:pPr>
                      <a:endParaRPr lang="en-US" altLang="zh-CN" sz="1000" i="0" u="none" strike="noStrike" dirty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1、</a:t>
                      </a:r>
                      <a:endParaRPr lang="en-US" altLang="zh-CN" sz="1000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33375">
                <a:tc vMerge="1">
                  <a:tcPr/>
                </a:tc>
                <a:tc vMerge="1">
                  <a:tcPr marL="4954" marR="4954" marT="4954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2、</a:t>
                      </a:r>
                      <a:endParaRPr lang="en-US" altLang="zh-CN" sz="1000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01625">
                <a:tc vMerge="1">
                  <a:tcPr/>
                </a:tc>
                <a:tc vMerge="1"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zh-CN" sz="100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3、</a:t>
                      </a:r>
                      <a:endParaRPr lang="en-US" altLang="zh-CN" sz="1000" i="0" u="none" strike="noStrike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4954" marR="4954" marT="4954" marB="0" anchor="ctr"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97510">
                <a:tc vMerge="1">
                  <a:tcPr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zh-CN" sz="1000" dirty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4、培养多少使命教练/宣讲师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4954" marR="4954" marT="4954" marB="0"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1"/>
            </p:custDataLst>
          </p:nvPr>
        </p:nvSpPr>
        <p:spPr>
          <a:xfrm>
            <a:off x="396240" y="1473835"/>
            <a:ext cx="7070725" cy="3474720"/>
          </a:xfrm>
          <a:prstGeom prst="rect">
            <a:avLst/>
          </a:prstGeom>
          <a:solidFill>
            <a:schemeClr val="accent4">
              <a:lumMod val="60000"/>
              <a:lumOff val="40000"/>
              <a:alpha val="25000"/>
            </a:schemeClr>
          </a:solidFill>
          <a:ln w="19050" cap="flat" cmpd="dbl" algn="ctr">
            <a:solidFill>
              <a:schemeClr val="accent1"/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r>
              <a:rPr lang="en-US" altLang="zh-CN" sz="1080" b="1" dirty="0">
                <a:solidFill>
                  <a:srgbClr val="010310"/>
                </a:solidFill>
              </a:rPr>
              <a:t> </a:t>
            </a:r>
            <a:r>
              <a:rPr lang="en-US" altLang="zh-CN" sz="1080" b="1" dirty="0" smtClean="0">
                <a:solidFill>
                  <a:srgbClr val="010310"/>
                </a:solidFill>
              </a:rPr>
              <a:t>      </a:t>
            </a:r>
            <a:endParaRPr lang="en-US" altLang="zh-CN" sz="1080" b="1" dirty="0" smtClean="0">
              <a:solidFill>
                <a:srgbClr val="010310"/>
              </a:solidFill>
            </a:endParaRPr>
          </a:p>
          <a:p>
            <a:pPr algn="ctr"/>
            <a:endParaRPr lang="zh-CN" altLang="en-US" sz="1080" b="1" dirty="0" smtClean="0">
              <a:solidFill>
                <a:srgbClr val="0103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zh-CN" sz="1030" dirty="0">
              <a:solidFill>
                <a:srgbClr val="0103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zh-CN" sz="1030" dirty="0">
              <a:solidFill>
                <a:srgbClr val="01031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3203575" y="1203960"/>
            <a:ext cx="1945005" cy="311785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Autofit/>
          </a:bodyPr>
          <a:lstStyle>
            <a:defPPr>
              <a:defRPr lang="zh-CN"/>
            </a:defPPr>
            <a:lvl1pPr algn="ctr" fontAlgn="base">
              <a:spcBef>
                <a:spcPct val="0"/>
              </a:spcBef>
              <a:spcAft>
                <a:spcPct val="0"/>
              </a:spcAft>
              <a:defRPr sz="240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latin typeface="Calibri" panose="020F0502020204030204" charset="0"/>
                <a:ea typeface="微软雅黑" panose="020B0503020204020204" charset="-122"/>
              </a:defRPr>
            </a:lvl2pPr>
            <a:lvl3pPr marL="1143000" indent="-228600">
              <a:defRPr>
                <a:latin typeface="Calibri" panose="020F0502020204030204" charset="0"/>
                <a:ea typeface="微软雅黑" panose="020B0503020204020204" charset="-122"/>
              </a:defRPr>
            </a:lvl3pPr>
            <a:lvl4pPr marL="1600200" indent="-228600">
              <a:defRPr>
                <a:latin typeface="Calibri" panose="020F0502020204030204" charset="0"/>
                <a:ea typeface="微软雅黑" panose="020B0503020204020204" charset="-122"/>
              </a:defRPr>
            </a:lvl4pPr>
            <a:lvl5pPr marL="2057400" indent="-228600">
              <a:defRPr>
                <a:latin typeface="Calibri" panose="020F050202020403020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latin typeface="Calibri" panose="020F0502020204030204" charset="0"/>
                <a:ea typeface="微软雅黑" panose="020B0503020204020204" charset="-122"/>
              </a:defRPr>
            </a:lvl9pPr>
          </a:lstStyle>
          <a:p>
            <a:pPr algn="ctr">
              <a:buNone/>
            </a:pPr>
            <a:r>
              <a:rPr lang="zh-CN" altLang="en-US" sz="1300" b="1" dirty="0" smtClean="0">
                <a:solidFill>
                  <a:schemeClr val="bg1"/>
                </a:solidFill>
                <a:sym typeface="+mn-ea"/>
              </a:rPr>
              <a:t>故事</a:t>
            </a:r>
            <a:r>
              <a:rPr lang="zh-CN" altLang="en-US" sz="1300" b="1" dirty="0" smtClean="0">
                <a:solidFill>
                  <a:schemeClr val="bg1"/>
                </a:solidFill>
                <a:sym typeface="+mn-ea"/>
              </a:rPr>
              <a:t>标题</a:t>
            </a:r>
            <a:endParaRPr lang="zh-CN" altLang="en-US" sz="1300" b="1" spc="300" dirty="0">
              <a:solidFill>
                <a:srgbClr val="FFFFFF"/>
              </a:solidFill>
              <a:sym typeface="+mn-ea"/>
            </a:endParaRPr>
          </a:p>
        </p:txBody>
      </p:sp>
      <p:sp>
        <p:nvSpPr>
          <p:cNvPr id="45" name="Body-1"/>
          <p:cNvSpPr txBox="1"/>
          <p:nvPr>
            <p:custDataLst>
              <p:tags r:id="rId3"/>
            </p:custDataLst>
          </p:nvPr>
        </p:nvSpPr>
        <p:spPr>
          <a:xfrm>
            <a:off x="7595870" y="2139315"/>
            <a:ext cx="1538605" cy="1704975"/>
          </a:xfrm>
          <a:prstGeom prst="rect">
            <a:avLst/>
          </a:prstGeom>
          <a:noFill/>
          <a:ln>
            <a:solidFill>
              <a:schemeClr val="lt1"/>
            </a:solidFill>
          </a:ln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10310"/>
                </a:solidFill>
                <a:latin typeface="+mj-ea"/>
                <a:ea typeface="+mj-ea"/>
                <a:cs typeface="微软雅黑" panose="020B0503020204020204" charset="-122"/>
                <a:sym typeface="Arial" panose="020B0604020202020204" pitchFamily="34" charset="0"/>
              </a:rPr>
              <a:t>附图片</a:t>
            </a:r>
            <a:endParaRPr lang="zh-CN" altLang="en-US" sz="3200" b="1" dirty="0">
              <a:solidFill>
                <a:srgbClr val="010310"/>
              </a:solidFill>
              <a:latin typeface="+mj-ea"/>
              <a:ea typeface="+mj-ea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699770"/>
            <a:ext cx="8684260" cy="61277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indent="-342900" algn="just" fontAlgn="base">
              <a:lnSpc>
                <a:spcPct val="100000"/>
              </a:lnSpc>
            </a:pPr>
            <a:r>
              <a:rPr lang="zh-CN" altLang="en-US" sz="1400" b="1" kern="1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五、围绕愿景和目标今天或者近期做了哪件极致完美的事。</a:t>
            </a:r>
            <a:r>
              <a:rPr lang="en-US" altLang="zh-CN" sz="1400" b="1" kern="100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r>
              <a:rPr lang="en-US" altLang="zh-CN" sz="14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5</a:t>
            </a:r>
            <a:r>
              <a:rPr lang="zh-CN" altLang="en-US" sz="14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</a:t>
            </a:r>
            <a:r>
              <a:rPr lang="en-US" altLang="zh-CN" sz="14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100" b="1" kern="100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1000" dirty="0">
                <a:latin typeface="+mn-ea"/>
                <a:sym typeface="+mn-ea"/>
              </a:rPr>
              <a:t>1</a:t>
            </a:r>
            <a:r>
              <a:rPr lang="zh-CN" altLang="en-US" sz="1000" dirty="0">
                <a:latin typeface="+mn-ea"/>
                <a:sym typeface="+mn-ea"/>
              </a:rPr>
              <a:t>、做了什么？要是一件具体的事情。这件事要围绕上题因目标或果目标来做。</a:t>
            </a:r>
            <a:r>
              <a:rPr lang="en-US" altLang="zh-CN" sz="1000" dirty="0">
                <a:latin typeface="+mn-ea"/>
                <a:sym typeface="+mn-ea"/>
              </a:rPr>
              <a:t>+2     2</a:t>
            </a:r>
            <a:r>
              <a:rPr lang="zh-CN" altLang="en-US" sz="1000" dirty="0">
                <a:latin typeface="+mn-ea"/>
                <a:sym typeface="+mn-ea"/>
              </a:rPr>
              <a:t>、追问、判断这件事是不是做到极度认真</a:t>
            </a:r>
            <a:r>
              <a:rPr lang="en-US" altLang="zh-CN" sz="1000" dirty="0">
                <a:latin typeface="+mn-ea"/>
                <a:sym typeface="+mn-ea"/>
              </a:rPr>
              <a:t>/</a:t>
            </a:r>
            <a:r>
              <a:rPr lang="zh-CN" altLang="en-US" sz="1000" dirty="0">
                <a:latin typeface="+mn-ea"/>
                <a:sym typeface="+mn-ea"/>
              </a:rPr>
              <a:t>极度完美了？</a:t>
            </a:r>
            <a:r>
              <a:rPr lang="en-US" altLang="zh-CN" sz="1000" dirty="0">
                <a:latin typeface="+mn-ea"/>
                <a:sym typeface="+mn-ea"/>
              </a:rPr>
              <a:t>+2  </a:t>
            </a:r>
            <a:r>
              <a:rPr lang="zh-CN" altLang="en-US" sz="1000" dirty="0">
                <a:latin typeface="+mn-ea"/>
                <a:sym typeface="+mn-ea"/>
              </a:rPr>
              <a:t>目的是有意注意地提醒自己，养成做事极度认真、追求完美的习惯，这就是延续第二周在工作中修行。</a:t>
            </a:r>
            <a:r>
              <a:rPr lang="en-US" altLang="zh-CN" sz="1000" dirty="0">
                <a:latin typeface="+mn-ea"/>
                <a:sym typeface="+mn-ea"/>
              </a:rPr>
              <a:t>+1</a:t>
            </a:r>
            <a:endParaRPr lang="en-US" altLang="zh-CN" sz="1000" dirty="0">
              <a:latin typeface="+mn-ea"/>
              <a:sym typeface="+mn-ea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635" y="1275080"/>
            <a:ext cx="9229090" cy="5518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 forceAA="0">
            <a:spAutoFit/>
          </a:bodyPr>
          <a:lstStyle/>
          <a:p>
            <a:pPr marR="0" indent="385445" algn="ctr" defTabSz="914400" rtl="0" eaLnBrk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spc="0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uFillTx/>
                <a:latin typeface="微软雅黑" panose="020B0503020204020204" charset="-122"/>
                <a:ea typeface="微软雅黑" panose="020B0503020204020204" charset="-122"/>
                <a:sym typeface="Calibri" panose="020F0502020204030204"/>
              </a:rPr>
              <a:t>陪读加分</a:t>
            </a:r>
            <a:endParaRPr kumimoji="0" lang="zh-CN" altLang="en-US" sz="2000" b="1" i="0" u="none" strike="noStrike" cap="none" spc="0" normalizeH="0" baseline="0" dirty="0" smtClean="0">
              <a:ln>
                <a:noFill/>
              </a:ln>
              <a:solidFill>
                <a:srgbClr val="C00000"/>
              </a:solidFill>
              <a:effectLst/>
              <a:uFillTx/>
              <a:latin typeface="微软雅黑" panose="020B0503020204020204" charset="-122"/>
              <a:ea typeface="微软雅黑" panose="020B0503020204020204" charset="-122"/>
              <a:sym typeface="Calibri" panose="020F05020202040302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93370" y="699135"/>
            <a:ext cx="8734425" cy="6438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indent="385445" algn="l">
              <a:lnSpc>
                <a:spcPct val="120000"/>
              </a:lnSpc>
            </a:pPr>
            <a:r>
              <a:rPr lang="zh-CN" altLang="en-US" sz="15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六、陪读加分：周三参课人员陪读及共同讨论达成共识。</a:t>
            </a:r>
            <a:r>
              <a:rPr lang="en-US" altLang="zh-CN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5</a:t>
            </a:r>
            <a:r>
              <a:rPr lang="zh-CN" altLang="en-US" sz="15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</a:t>
            </a:r>
            <a:endParaRPr lang="zh-CN" altLang="en-US" sz="15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 indent="385445" algn="l">
              <a:lnSpc>
                <a:spcPct val="120000"/>
              </a:lnSpc>
            </a:pP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（实际陪读人数除以应陪读人数乘以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5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，四舍五入，精确到</a:t>
            </a:r>
            <a:r>
              <a:rPr lang="en-US" altLang="zh-CN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0.1</a:t>
            </a:r>
            <a:r>
              <a:rPr lang="zh-CN" altLang="en-US" sz="1500" dirty="0">
                <a:solidFill>
                  <a:schemeClr val="accent5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分）</a:t>
            </a:r>
            <a:endParaRPr lang="zh-CN" altLang="en-US" sz="1500" dirty="0">
              <a:solidFill>
                <a:schemeClr val="accent5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aphicFrame>
        <p:nvGraphicFramePr>
          <p:cNvPr id="5" name="表格 4"/>
          <p:cNvGraphicFramePr/>
          <p:nvPr>
            <p:custDataLst>
              <p:tags r:id="rId2"/>
            </p:custDataLst>
          </p:nvPr>
        </p:nvGraphicFramePr>
        <p:xfrm>
          <a:off x="468630" y="2070100"/>
          <a:ext cx="8163560" cy="2655570"/>
        </p:xfrm>
        <a:graphic>
          <a:graphicData uri="http://schemas.openxmlformats.org/drawingml/2006/table">
            <a:tbl>
              <a:tblPr/>
              <a:tblGrid>
                <a:gridCol w="963930"/>
                <a:gridCol w="1799590"/>
                <a:gridCol w="1552575"/>
                <a:gridCol w="3009900"/>
                <a:gridCol w="837565"/>
              </a:tblGrid>
              <a:tr h="56261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周</a:t>
                      </a: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次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应陪读人员名单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实际陪读名单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zh-CN" altLang="en-US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周三陪读照片</a:t>
                      </a:r>
                      <a:endParaRPr lang="zh-CN" altLang="en-US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2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陪读加分</a:t>
                      </a:r>
                      <a:endParaRPr lang="zh-CN" sz="12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929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 </a:t>
                      </a:r>
                      <a:r>
                        <a:rPr lang="zh-CN" sz="11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第五周</a:t>
                      </a:r>
                      <a:endParaRPr lang="zh-CN" sz="11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2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 </a:t>
                      </a:r>
                      <a:endParaRPr lang="en-US" altLang="zh-CN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lang="zh-CN" altLang="en-US"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12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标题 1"/>
          <p:cNvSpPr txBox="1">
            <a:spLocks noGrp="1"/>
          </p:cNvSpPr>
          <p:nvPr>
            <p:ph type="ctrTitle"/>
          </p:nvPr>
        </p:nvSpPr>
        <p:spPr>
          <a:xfrm>
            <a:off x="685800" y="1923677"/>
            <a:ext cx="7772400" cy="1102520"/>
          </a:xfrm>
          <a:prstGeom prst="rect">
            <a:avLst/>
          </a:prstGeom>
        </p:spPr>
        <p:txBody>
          <a:bodyPr/>
          <a:lstStyle>
            <a:lvl1pPr>
              <a:defRPr sz="4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明确使命模板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8" name="文本框 1"/>
          <p:cNvSpPr txBox="1"/>
          <p:nvPr/>
        </p:nvSpPr>
        <p:spPr>
          <a:xfrm>
            <a:off x="583565" y="249554"/>
            <a:ext cx="1603376" cy="3385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>
                <a:latin typeface="+mn-lt"/>
                <a:ea typeface="+mn-ea"/>
                <a:cs typeface="+mn-ea"/>
                <a:sym typeface="+mn-lt"/>
              </a:rPr>
              <a:t>|成功方程式|</a:t>
            </a:r>
            <a:endParaRPr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59" name="图片 5" descr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7941" y="-15241"/>
            <a:ext cx="9199882" cy="517398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OP_SCP_ITEM_INDEX" val="2"/>
</p:tagLst>
</file>

<file path=ppt/tags/tag3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4.xml><?xml version="1.0" encoding="utf-8"?>
<p:tagLst xmlns:p="http://schemas.openxmlformats.org/presentationml/2006/main">
  <p:tag name="KSO_WM_SLIDE_ID" val="diagram20217388_1"/>
  <p:tag name="KSO_WM_TEMPLATE_SUBCATEGORY" val="21"/>
  <p:tag name="KSO_WM_TEMPLATE_MASTER_TYPE" val="0"/>
  <p:tag name="KSO_WM_TEMPLATE_COLOR_TYPE" val="1"/>
  <p:tag name="KSO_WM_SLIDE_TYPE" val="text"/>
  <p:tag name="KSO_WM_SLIDE_SUBTYPE" val="picTxt"/>
  <p:tag name="KSO_WM_SLIDE_ITEM_CNT" val="0"/>
  <p:tag name="KSO_WM_SLIDE_INDEX" val="1"/>
  <p:tag name="KSO_WM_SLIDE_SIZE" val="960*470"/>
  <p:tag name="KSO_WM_SLIDE_POSITION" val="0*17"/>
  <p:tag name="KSO_WM_TAG_VERSION" val="1.0"/>
  <p:tag name="KSO_WM_BEAUTIFY_FLAG" val="#wm#"/>
  <p:tag name="KSO_WM_TEMPLATE_CATEGORY" val="diagram"/>
  <p:tag name="KSO_WM_TEMPLATE_INDEX" val="20217388"/>
  <p:tag name="KSO_WM_SLIDE_LAYOUT" val="d_f"/>
  <p:tag name="KSO_WM_SLIDE_LAYOUT_CNT" val="1_1"/>
  <p:tag name="KSO_WM_SLIDE_CAN_ADD_NAVIGATION" val="1"/>
  <p:tag name="KSO_WM_SLIDE_BACKGROUND" val="[&quot;general&quot;]"/>
  <p:tag name="KSO_WM_SLIDE_RATIO" val="1.777778"/>
  <p:tag name="KSO_WM_CHIP_INFOS" val="{&quot;type&quot;:0,&quot;layout_type&quot;:&quot;topbottom&quot;,&quot;layout_feature&quot;:1,&quot;aspect_ratio&quot;:&quot;16:9&quot;,&quot;same_font_size&quot;:false,&quot;diagram&quot;:{&quot;type&quot;:[],&quot;direction&quot;:0,&quot;isSupportDecBetweenItems&quot;:false},&quot;tags&quot;:{&quot;style&quot;:[&quot;商务&quot;,&quot;简约&quot;,&quot;文艺清新&quot;,&quot;中国风&quot;,&quot;卡通&quot;,&quot;欧美风&quot;,&quot;黑板风&quot;,&quot;渐变风&quot;,&quot;党政风&quot;]},&quot;slide_type&quot;:[&quot;text&quot;]}"/>
  <p:tag name="KSO_WM_CHIP_XID" val="5fd07e214d383dce34166719"/>
  <p:tag name="KSO_WM_CHIP_FILLPROP" val="[[{&quot;text_align&quot;:&quot;lb&quot;,&quot;text_direction&quot;:&quot;horizontal&quot;,&quot;support_big_font&quot;:false,&quot;picture_toward&quot;:0,&quot;picture_dockside&quot;:[],&quot;fill_id&quot;:&quot;57cb550cf250444db0b4ac32a85bbfee&quot;,&quot;fill_align&quot;:&quot;lb&quot;,&quot;chip_types&quot;:[&quot;text&quot;,&quot;header&quot;]},{&quot;text_align&quot;:&quot;lt&quot;,&quot;text_direction&quot;:&quot;horizontal&quot;,&quot;support_big_font&quot;:false,&quot;picture_toward&quot;:0,&quot;picture_dockside&quot;:[],&quot;fill_id&quot;:&quot;0fd6899152de4c8b85f823fc1bc4cc6c&quot;,&quot;fill_align&quot;:&quot;lt&quot;,&quot;chip_types&quot;:[&quot;diagram&quot;,&quot;text&quot;,&quot;picture&quot;,&quot;chart&quot;,&quot;table&quot;]}]]"/>
  <p:tag name="KSO_WM_CHIP_DECFILLPROP" val="[]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id&quot;:&quot;2021-04-01T16:21:10&quot;,&quot;maxSize&quot;:{&quot;size1&quot;:40},&quot;minSize&quot;:{&quot;size1&quot;:31.2},&quot;normalSize&quot;:{&quot;size1&quot;:31.200185185185184},&quot;subLayout&quot;:[{&quot;id&quot;:&quot;2021-04-01T16:21:10&quot;,&quot;margin&quot;:{&quot;bottom&quot;:0.8199999928474426,&quot;left&quot;:5.079999923706055,&quot;right&quot;:5.502999782562256,&quot;top&quot;:2.9629998207092285},&quot;type&quot;:0},{&quot;id&quot;:&quot;2021-04-01T16:21:10&quot;,&quot;margin&quot;:{&quot;bottom&quot;:2.997999906539917,&quot;left&quot;:5.079999923706055,&quot;right&quot;:5.502999782562256,&quot;top&quot;:0.02600000612437725},&quot;type&quot;:0}],&quot;type&quot;:0}"/>
  <p:tag name="KSO_WM_CHIP_GROUPID" val="5fd07e214d383dce34166718"/>
  <p:tag name="KSO_WM_SLIDE_BK_DARK_LIGHT" val="2"/>
  <p:tag name="KSO_WM_SLIDE_BACKGROUND_TYPE" val="general"/>
  <p:tag name="KSO_WM_SLIDE_SUPPORT_FEATURE_TYPE" val="0"/>
  <p:tag name="KSO_WM_TEMPLATE_ASSEMBLE_XID" val="606570814054ed1e2fb816a1"/>
  <p:tag name="KSO_WM_TEMPLATE_ASSEMBLE_GROUPID" val="606570814054ed1e2fb816a1"/>
</p:tagLst>
</file>

<file path=ppt/tags/tag5.xml><?xml version="1.0" encoding="utf-8"?>
<p:tagLst xmlns:p="http://schemas.openxmlformats.org/presentationml/2006/main">
  <p:tag name="OP_SCP_ITEM_INDEX" val="2"/>
</p:tagLst>
</file>

<file path=ppt/tags/tag6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47"/>
  <p:tag name="OP_SCP_COMPONENT_INFO" val="{&quot;title&quot;:&quot;渐变4项列表PPT组件&quot;,&quot;description&quot;:&quot;渐变4项列表PPT组件&quot;,&quot;keywords&quot;:[&quot;渐变&quot;,&quot;4项&quot;,&quot;列表&quot;,&quot;PPT组件&quot;],&quot;labels&quot;:[]}"/>
  <p:tag name="OP_SCP_GROUP_ID" val="9e3c15ee-2537-8ffd-fca9-5a45ee008bc6"/>
  <p:tag name="OP_SCP_ITEM_COUNT" val="4"/>
</p:tagLst>
</file>

<file path=ppt/tags/tag9.xml><?xml version="1.0" encoding="utf-8"?>
<p:tagLst xmlns:p="http://schemas.openxmlformats.org/presentationml/2006/main">
  <p:tag name="OP_SCP_ITEM_INDEX" val="1"/>
</p:tagLst>
</file>

<file path=ppt/tags/tag10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11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12.xml><?xml version="1.0" encoding="utf-8"?>
<p:tagLst xmlns:p="http://schemas.openxmlformats.org/presentationml/2006/main">
  <p:tag name="OP_SCP_ITEM_INDEX" val="2"/>
</p:tagLst>
</file>

<file path=ppt/tags/tag13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14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15.xml><?xml version="1.0" encoding="utf-8"?>
<p:tagLst xmlns:p="http://schemas.openxmlformats.org/presentationml/2006/main">
  <p:tag name="OP_SCP_SHAPE_TYPE" val="Body"/>
  <p:tag name="OP_SCP_ITEM_INDEX" val="3"/>
  <p:tag name="OP_SCP_DEFAULT_TEXT" val="单击此处添加文本，单击此处添加文本，单击此处添加文本，单击此处添加文本，单击此处添加文本，单击此处添加文本。"/>
</p:tagLst>
</file>

<file path=ppt/tags/tag16.xml><?xml version="1.0" encoding="utf-8"?>
<p:tagLst xmlns:p="http://schemas.openxmlformats.org/presentationml/2006/main">
  <p:tag name="OP_SCP_ITEM_INDEX" val="4"/>
</p:tagLst>
</file>

<file path=ppt/tags/tag17.xml><?xml version="1.0" encoding="utf-8"?>
<p:tagLst xmlns:p="http://schemas.openxmlformats.org/presentationml/2006/main">
  <p:tag name="OP_SCP_SHAPE_TYPE" val="Body"/>
  <p:tag name="OP_SCP_ITEM_INDEX" val="4"/>
  <p:tag name="OP_SCP_DEFAULT_TEXT" val="单击此处添加文本，单击此处添加文本，单击此处添加文本，单击此处添加文本，单击此处添加文本，单击此处添加文本。"/>
</p:tagLst>
</file>

<file path=ppt/tags/tag18.xml><?xml version="1.0" encoding="utf-8"?>
<p:tagLst xmlns:p="http://schemas.openxmlformats.org/presentationml/2006/main">
  <p:tag name="OP_SCP_SHAPE_TYPE" val="Title"/>
  <p:tag name="OP_SCP_ITEM_INDEX" val="4"/>
  <p:tag name="OP_SCP_DEFAULT_TEXT" val="添加标题"/>
</p:tagLst>
</file>

<file path=ppt/tags/tag19.xml><?xml version="1.0" encoding="utf-8"?>
<p:tagLst xmlns:p="http://schemas.openxmlformats.org/presentationml/2006/main">
  <p:tag name="OP_SCP_ITEM_INDEX" val="2"/>
</p:tagLst>
</file>

<file path=ppt/tags/tag20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1.xml><?xml version="1.0" encoding="utf-8"?>
<p:tagLst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115"/>
  <p:tag name="OP_SCP_COMPONENT_INFO" val="{&quot;title&quot;:&quot;渐变阴影2项列表PPT组件&quot;,&quot;description&quot;:&quot;渐变阴影2项列表PPT组件&quot;,&quot;keywords&quot;:[&quot;渐变&quot;,&quot;阴影&quot;,&quot;2项&quot;,&quot;列表&quot;,&quot;PPT组件&quot;],&quot;labels&quot;:[]}"/>
  <p:tag name="OP_SCP_GROUP_ID" val="4e0a05e2-5735-67a8-5e4f-b68a6483770e"/>
  <p:tag name="OP_SCP_ITEM_COUNT" val="2"/>
</p:tagLst>
</file>

<file path=ppt/tags/tag22.xml><?xml version="1.0" encoding="utf-8"?>
<p:tagLst xmlns:p="http://schemas.openxmlformats.org/presentationml/2006/main">
  <p:tag name="OP_SCP_ITEM_INDEX" val="1"/>
</p:tagLst>
</file>

<file path=ppt/tags/tag23.xml><?xml version="1.0" encoding="utf-8"?>
<p:tagLst xmlns:p="http://schemas.openxmlformats.org/presentationml/2006/main">
  <p:tag name="OP_SCP_SHAPE_TYPE" val="Title"/>
  <p:tag name="OP_SCP_ITEM_INDEX" val="1"/>
  <p:tag name="OP_SCP_DEFAULT_TEXT" val="添加标题"/>
</p:tagLst>
</file>

<file path=ppt/tags/tag24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。"/>
</p:tagLst>
</file>

<file path=ppt/tags/tag25.xml><?xml version="1.0" encoding="utf-8"?>
<p:tagLst xmlns:p="http://schemas.openxmlformats.org/presentationml/2006/main">
  <p:tag name="OP_SCP_ITEM_INDEX" val="2"/>
</p:tagLst>
</file>

<file path=ppt/tags/tag26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27.xml><?xml version="1.0" encoding="utf-8"?>
<p:tagLst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。"/>
</p:tagLst>
</file>

<file path=ppt/tags/tag28.xml><?xml version="1.0" encoding="utf-8"?>
<p:tagLst xmlns:p="http://schemas.openxmlformats.org/presentationml/2006/main">
  <p:tag name="OP_SCP_ITEM_INDEX" val="2"/>
</p:tagLst>
</file>

<file path=ppt/tags/tag29.xml><?xml version="1.0" encoding="utf-8"?>
<p:tagLst xmlns:p="http://schemas.openxmlformats.org/presentationml/2006/main">
  <p:tag name="OP_SCP_SHAPE_TYPE" val="Title"/>
  <p:tag name="OP_SCP_ITEM_INDEX" val="2"/>
  <p:tag name="OP_SCP_DEFAULT_TEXT" val="添加标题"/>
</p:tagLst>
</file>

<file path=ppt/tags/tag30.xml><?xml version="1.0" encoding="utf-8"?>
<p:tagLst xmlns:p="http://schemas.openxmlformats.org/presentationml/2006/main">
  <p:tag name="TABLE_ENDDRAG_ORIGIN_RECT" val="695*287"/>
  <p:tag name="TABLE_ENDDRAG_RECT" val="15*106*695*287"/>
</p:tagLst>
</file>

<file path=ppt/tags/tag31.xml><?xml version="1.0" encoding="utf-8"?>
<p:tagLst xmlns:p="http://schemas.openxmlformats.org/presentationml/2006/main">
  <p:tag name="TABLE_ENDDRAG_ORIGIN_RECT" val="704*131"/>
  <p:tag name="TABLE_ENDDRAG_RECT" val="2*110*704*131"/>
</p:tagLst>
</file>

<file path=ppt/tags/tag32.xml><?xml version="1.0" encoding="utf-8"?>
<p:tagLst xmlns:p="http://schemas.openxmlformats.org/presentationml/2006/main">
  <p:tag name="TABLE_ENDDRAG_ORIGIN_RECT" val="692*272"/>
  <p:tag name="TABLE_ENDDRAG_RECT" val="18*106*692*272"/>
</p:tagLst>
</file>

<file path=ppt/tags/tag33.xml><?xml version="1.0" encoding="utf-8"?>
<p:tagLst xmlns:p="http://schemas.openxmlformats.org/presentationml/2006/main">
  <p:tag name="TABLE_ENDDRAG_ORIGIN_RECT" val="686*262"/>
  <p:tag name="TABLE_ENDDRAG_RECT" val="21*106*686*262"/>
</p:tagLst>
</file>

<file path=ppt/tags/tag34.xml><?xml version="1.0" encoding="utf-8"?>
<p:tagLst xmlns:p="http://schemas.openxmlformats.org/presentationml/2006/main">
  <p:tag name="TABLE_ENDDRAG_ORIGIN_RECT" val="694*276"/>
  <p:tag name="TABLE_ENDDRAG_RECT" val="16*100*694*276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170857_2*l_h_i*1_1_1"/>
  <p:tag name="KSO_WM_TEMPLATE_CATEGORY" val="diagram"/>
  <p:tag name="KSO_WM_TEMPLATE_INDEX" val="20170857"/>
  <p:tag name="KSO_WM_UNIT_LAYERLEVEL" val="1_1_1"/>
  <p:tag name="KSO_WM_TAG_VERSION" val="1.0"/>
  <p:tag name="KSO_WM_BEAUTIFY_FLAG" val=""/>
  <p:tag name="KSO_WM_UNIT_LINE_FORE_SCHEMECOLOR_INDEX" val="14"/>
  <p:tag name="KSO_WM_UNIT_LINE_FILL_TYPE" val="2"/>
  <p:tag name="KSO_WM_DIAGRAM_VIRTUALLY_FRAME" val="{&quot;height&quot;:142.84078740157483,&quot;left&quot;:60.672440944881885,&quot;top&quot;:251.85921259842516,&quot;width&quot;:284.18913602093073}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170857_2*l_h_a*1_1_1"/>
  <p:tag name="KSO_WM_TEMPLATE_CATEGORY" val="diagram"/>
  <p:tag name="KSO_WM_TEMPLATE_INDEX" val="20170857"/>
  <p:tag name="KSO_WM_UNIT_LAYERLEVEL" val="1_1_1"/>
  <p:tag name="KSO_WM_TAG_VERSION" val="1.0"/>
  <p:tag name="KSO_WM_BEAUTIFY_FLAG" val=""/>
  <p:tag name="KSO_WM_UNIT_PRESET_TEXT" val="单击此处添加标题"/>
  <p:tag name="KSO_WM_UNIT_TEXT_FILL_FORE_SCHEMECOLOR_INDEX" val="14"/>
  <p:tag name="KSO_WM_UNIT_TEXT_FILL_TYPE" val="1"/>
  <p:tag name="KSO_WM_DIAGRAM_VIRTUALLY_FRAME" val="{&quot;height&quot;:142.84078740157483,&quot;left&quot;:60.672440944881885,&quot;top&quot;:251.85921259842516,&quot;width&quot;:284.18913602093073}"/>
</p:tagLst>
</file>

<file path=ppt/tags/tag37.xml><?xml version="1.0" encoding="utf-8"?>
<p:tagLst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。"/>
  <p:tag name="KSO_WM_DIAGRAM_VIRTUALLY_FRAME" val="{&quot;height&quot;:225.92850393700783,&quot;left&quot;:31.014094488188977,&quot;top&quot;:128.25338582677165,&quot;width&quot;:661.5214960629921}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TABLE_ENDDRAG_ORIGIN_RECT" val="642*209"/>
  <p:tag name="TABLE_ENDDRAG_RECT" val="36*163*642*209"/>
</p:tagLst>
</file>

<file path=ppt/tags/tag40.xml><?xml version="1.0" encoding="utf-8"?>
<p:tagLst xmlns:p="http://schemas.openxmlformats.org/presentationml/2006/main">
  <p:tag name="KSO_WPP_MARK_KEY" val="75ef3084-2269-4a5a-8e7c-04e96579cd8d"/>
  <p:tag name="COMMONDATA" val="eyJoZGlkIjoiMzEwNTM5NzYwMDRjMzkwZTVkZjY2ODkwMGIxNGU0OTUifQ=="/>
  <p:tag name="commondata" val="eyJoZGlkIjoiMGFkMTdkZDA0NTg2ODNkZjJhZTczZDJmOTVjNDVhNzUifQ==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rbfcov3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vertOverflow="overflow" horzOverflow="overflow" vert="horz" wrap="square" lIns="45719" tIns="45719" rIns="45719" bIns="45719" numCol="1" spcCol="38100" rtlCol="0" anchor="t" forceAA="0">
        <a:spAutoFit/>
      </a:bodyPr>
      <a:lstStyle>
        <a:defPPr marL="342900" indent="-342900" algn="just" fontAlgn="base">
          <a:lnSpc>
            <a:spcPct val="150000"/>
          </a:lnSpc>
          <a:defRPr sz="1200" dirty="0">
            <a:latin typeface="+mn-ea"/>
            <a:sym typeface="+mn-lt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3181</Words>
  <Application>WPS 演示</Application>
  <PresentationFormat>全屏显示(16:9)</PresentationFormat>
  <Paragraphs>538</Paragraphs>
  <Slides>19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4" baseType="lpstr">
      <vt:lpstr>Arial</vt:lpstr>
      <vt:lpstr>宋体</vt:lpstr>
      <vt:lpstr>Wingdings</vt:lpstr>
      <vt:lpstr>Calibri</vt:lpstr>
      <vt:lpstr>Calibri Light</vt:lpstr>
      <vt:lpstr>Arial</vt:lpstr>
      <vt:lpstr>Avenir Next Medium</vt:lpstr>
      <vt:lpstr>Trebuchet MS</vt:lpstr>
      <vt:lpstr>微软雅黑</vt:lpstr>
      <vt:lpstr>Helvetica Neue</vt:lpstr>
      <vt:lpstr>Calibri</vt:lpstr>
      <vt:lpstr>Times New Roman</vt:lpstr>
      <vt:lpstr>等线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明确使命模板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明确使命模板</dc:title>
  <dc:creator>刘逸凡</dc:creator>
  <cp:lastModifiedBy>景博</cp:lastModifiedBy>
  <cp:revision>1312</cp:revision>
  <dcterms:created xsi:type="dcterms:W3CDTF">2023-12-24T08:10:00Z</dcterms:created>
  <dcterms:modified xsi:type="dcterms:W3CDTF">2025-12-10T02:10:36Z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B02E88A46657460BA96F5B1891A20264_13</vt:lpwstr>
  </property>
</Properties>
</file>