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23" r:id="rId3"/>
    <p:sldId id="9945" r:id="rId5"/>
    <p:sldId id="9998" r:id="rId6"/>
    <p:sldId id="9999" r:id="rId7"/>
    <p:sldId id="10000" r:id="rId8"/>
    <p:sldId id="10001" r:id="rId9"/>
    <p:sldId id="10002" r:id="rId10"/>
    <p:sldId id="10005" r:id="rId11"/>
    <p:sldId id="10006" r:id="rId12"/>
    <p:sldId id="10004" r:id="rId13"/>
    <p:sldId id="10003" r:id="rId14"/>
  </p:sldIdLst>
  <p:sldSz cx="9144000" cy="5143500" type="screen16x9"/>
  <p:notesSz cx="6858000" cy="9144000"/>
  <p:custDataLst>
    <p:tags r:id="rId1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1770" userDrawn="1">
          <p15:clr>
            <a:srgbClr val="A4A3A4"/>
          </p15:clr>
        </p15:guide>
        <p15:guide id="2" pos="27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  <p:cmAuthor id="1" name="杜彬彬" initials="杜" lastIdx="1" clrIdx="0"/>
  <p:cmAuthor id="2" name="刘 逸凡" initials="刘" lastIdx="1" clrIdx="1"/>
  <p:cmAuthor id="3" name="86180" initials="8" lastIdx="2" clrIdx="2"/>
  <p:cmAuthor id="4" name="81349" initials="8" lastIdx="2" clrIdx="3"/>
  <p:cmAuthor id="5" name="林 娜" initials="林" lastIdx="1" clrIdx="4"/>
  <p:cmAuthor id="6" name="Administrator" initials="A" lastIdx="1" clrIdx="5"/>
  <p:cmAuthor id="7" name="266369" initials="2" lastIdx="1" clrIdx="6"/>
  <p:cmAuthor id="8" name="陆彦蓉" initials="陆" lastIdx="1" clrIdx="7"/>
  <p:cmAuthor id="9" name="zhu" initials="z" lastIdx="1" clrIdx="0"/>
  <p:cmAuthor id="10" name="d'f" initials="d" lastIdx="1" clrIdx="9"/>
  <p:cmAuthor id="11" name="地 瓜" initials="地" lastIdx="1" clrIdx="1"/>
  <p:cmAuthor id="12" name="LEGION" initials="L" lastIdx="1" clrIdx="11"/>
  <p:cmAuthor id="13" name="0160278" initials="0" lastIdx="0" clrIdx="1"/>
  <p:cmAuthor id="75" name="作者" initials="A" lastIdx="0" clrIdx="24"/>
  <p:cmAuthor id="76" name="37786632@qq.com" initials="" lastIdx="3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0066"/>
    <a:srgbClr val="00FF00"/>
    <a:srgbClr val="CC66FF"/>
    <a:srgbClr val="FF66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44" autoAdjust="0"/>
  </p:normalViewPr>
  <p:slideViewPr>
    <p:cSldViewPr showGuides="1">
      <p:cViewPr varScale="1">
        <p:scale>
          <a:sx n="117" d="100"/>
          <a:sy n="117" d="100"/>
        </p:scale>
        <p:origin x="162" y="54"/>
      </p:cViewPr>
      <p:guideLst>
        <p:guide orient="horz" pos="1770"/>
        <p:guide pos="278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9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44538"/>
            <a:ext cx="6619875" cy="3724275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1619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979" tIns="45990" rIns="91979" bIns="4599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05250" y="9431338"/>
            <a:ext cx="2987675" cy="496887"/>
          </a:xfrm>
          <a:prstGeom prst="rect">
            <a:avLst/>
          </a:prstGeom>
          <a:noFill/>
          <a:ln w="9525">
            <a:noFill/>
          </a:ln>
        </p:spPr>
        <p:txBody>
          <a:bodyPr lIns="91979" tIns="45990" rIns="91979" bIns="45990" anchor="b" anchorCtr="0"/>
          <a:lstStyle/>
          <a:p>
            <a:pPr lvl="0" algn="r" defTabSz="919480" eaLnBrk="1" hangingPunct="1">
              <a:buChar char="•"/>
            </a:pPr>
            <a:r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*</a:t>
            </a:r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3000" y="841920"/>
            <a:ext cx="6858000" cy="179101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2702000"/>
            <a:ext cx="6858000" cy="124204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3887" y="1282528"/>
            <a:ext cx="7886701" cy="213992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7" y="3442699"/>
            <a:ext cx="7886701" cy="11253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8650" y="1369457"/>
            <a:ext cx="3886200" cy="32640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273892"/>
            <a:ext cx="7886701" cy="99434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90081" y="1334061"/>
            <a:ext cx="3655182" cy="61804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342900">
              <a:buSzTx/>
              <a:buFontTx/>
              <a:buNone/>
            </a:lvl2pPr>
            <a:lvl3pPr marL="0" indent="685800">
              <a:buSzTx/>
              <a:buFontTx/>
              <a:buNone/>
            </a:lvl3pPr>
            <a:lvl4pPr marL="0" indent="1028700">
              <a:buSzTx/>
              <a:buFontTx/>
              <a:buNone/>
            </a:lvl4pPr>
            <a:lvl5pPr marL="0" indent="13716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92703" y="1334061"/>
            <a:ext cx="3673183" cy="618044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342960"/>
            <a:ext cx="3124013" cy="120036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13"/>
          </p:nvPr>
        </p:nvSpPr>
        <p:spPr>
          <a:xfrm>
            <a:off x="3887391" y="342960"/>
            <a:ext cx="4629151" cy="405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320"/>
            <a:ext cx="3124013" cy="28591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00"/>
            </a:lvl1pPr>
            <a:lvl2pPr marL="0" indent="342900">
              <a:buSzTx/>
              <a:buFontTx/>
              <a:buNone/>
              <a:defRPr sz="1500"/>
            </a:lvl2pPr>
            <a:lvl3pPr marL="0" indent="685800">
              <a:buSzTx/>
              <a:buFontTx/>
              <a:buNone/>
              <a:defRPr sz="1500"/>
            </a:lvl3pPr>
            <a:lvl4pPr marL="0" indent="1028700">
              <a:buSzTx/>
              <a:buFontTx/>
              <a:buNone/>
              <a:defRPr sz="1500"/>
            </a:lvl4pPr>
            <a:lvl5pPr marL="0" indent="1371600">
              <a:buSzTx/>
              <a:buFontTx/>
              <a:buNone/>
              <a:defRPr sz="1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273892"/>
            <a:ext cx="7886700" cy="435964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476250" y="1233488"/>
            <a:ext cx="8191500" cy="1454795"/>
          </a:xfrm>
          <a:prstGeom prst="rect">
            <a:avLst/>
          </a:prstGeom>
        </p:spPr>
        <p:txBody>
          <a:bodyPr/>
          <a:lstStyle>
            <a:lvl1pPr defTabSz="914400">
              <a:lnSpc>
                <a:spcPct val="90000"/>
              </a:lnSpc>
              <a:defRPr sz="4350" spc="-131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" y="4560161"/>
            <a:ext cx="8191500" cy="260271"/>
          </a:xfrm>
          <a:prstGeom prst="rect">
            <a:avLst/>
          </a:prstGeom>
        </p:spPr>
        <p:txBody>
          <a:bodyPr/>
          <a:lstStyle>
            <a:lvl1pPr marL="0" indent="0" algn="ctr" defTabSz="297180">
              <a:spcBef>
                <a:spcPts val="0"/>
              </a:spcBef>
              <a:buClrTx/>
              <a:buSzTx/>
              <a:buNone/>
              <a:defRPr sz="126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76250" y="2619375"/>
            <a:ext cx="8191500" cy="942132"/>
          </a:xfrm>
          <a:prstGeom prst="rect">
            <a:avLst/>
          </a:prstGeom>
        </p:spPr>
        <p:txBody>
          <a:bodyPr/>
          <a:lstStyle>
            <a:lvl1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  <a:lvl2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2pPr>
            <a:lvl3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3pPr>
            <a:lvl4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4pPr>
            <a:lvl5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81955" y="4789627"/>
            <a:ext cx="233396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CBEB-8597-4EA4-9D29-E1D7025CFAA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281955" y="4789627"/>
            <a:ext cx="233396" cy="230832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297"/>
            <a:ext cx="9204326" cy="5176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28650" y="1369457"/>
            <a:ext cx="7886700" cy="326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91328" y="4795822"/>
            <a:ext cx="224023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9919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23348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26777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30206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-29795"/>
            <a:ext cx="9144000" cy="5163820"/>
          </a:xfrm>
          <a:prstGeom prst="rect">
            <a:avLst/>
          </a:prstGeom>
        </p:spPr>
      </p:pic>
      <p:sp>
        <p:nvSpPr>
          <p:cNvPr id="7" name="标题 1"/>
          <p:cNvSpPr/>
          <p:nvPr/>
        </p:nvSpPr>
        <p:spPr>
          <a:xfrm>
            <a:off x="261620" y="688975"/>
            <a:ext cx="8576310" cy="40093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4800" b="1" dirty="0">
                <a:solidFill>
                  <a:schemeClr val="bg1"/>
                </a:solidFill>
                <a:sym typeface="微软雅黑" panose="020B0503020204020204" charset="-122"/>
              </a:rPr>
              <a:t>成功方程式</a:t>
            </a:r>
            <a:endParaRPr lang="zh-CN" altLang="en-US" sz="4800" b="1" dirty="0">
              <a:solidFill>
                <a:schemeClr val="bg1"/>
              </a:solidFill>
              <a:sym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en-US" sz="2800" b="1" dirty="0"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cs typeface="宋体" panose="02010600030101010101" pitchFamily="2" charset="-122"/>
              </a:rPr>
              <a:t>49</a:t>
            </a:r>
            <a:r>
              <a:rPr lang="zh-CN" altLang="en-US" sz="2800" b="1" dirty="0">
                <a:cs typeface="宋体" panose="02010600030101010101" pitchFamily="2" charset="-122"/>
              </a:rPr>
              <a:t>天使命血肉化训练营</a:t>
            </a:r>
            <a:endParaRPr lang="zh-CN" altLang="en-US" sz="2800" b="1" dirty="0"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sz="2800" b="1" dirty="0">
                <a:cs typeface="宋体" panose="02010600030101010101" pitchFamily="2" charset="-122"/>
              </a:rPr>
              <a:t>第一周：明确人生的目的和意义</a:t>
            </a:r>
            <a:endParaRPr lang="zh-CN" sz="2800" b="1" dirty="0"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br>
              <a:rPr 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800" b="1" dirty="0">
                <a:cs typeface="宋体" panose="02010600030101010101" pitchFamily="2" charset="-122"/>
              </a:rPr>
              <a:t>             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  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标题 4"/>
          <p:cNvSpPr>
            <a:spLocks noGrp="1"/>
          </p:cNvSpPr>
          <p:nvPr>
            <p:ph type="title"/>
          </p:nvPr>
        </p:nvSpPr>
        <p:spPr>
          <a:xfrm>
            <a:off x="683895" y="3346450"/>
            <a:ext cx="7567295" cy="1351915"/>
          </a:xfrm>
        </p:spPr>
        <p:txBody>
          <a:bodyPr>
            <a:normAutofit/>
          </a:bodyPr>
          <a:p>
            <a:r>
              <a:rPr lang="zh-CN" sz="24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分享人：</a:t>
            </a:r>
            <a:r>
              <a:rPr lang="en-US" altLang="zh-CN" sz="24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辽52期A班X组</a:t>
            </a:r>
            <a:r>
              <a:rPr lang="en-US" altLang="zh-CN" sz="24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</a:t>
            </a:r>
            <a:br>
              <a:rPr lang="en-US" altLang="zh-CN" sz="24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en-US" altLang="zh-CN" sz="24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2026</a:t>
            </a:r>
            <a:r>
              <a:rPr lang="zh-CN" altLang="en-US" sz="24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年</a:t>
            </a:r>
            <a:r>
              <a:rPr lang="en-US" altLang="zh-CN" sz="24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24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月</a:t>
            </a:r>
            <a:r>
              <a:rPr lang="en-US" altLang="zh-CN" sz="24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12</a:t>
            </a:r>
            <a:r>
              <a:rPr lang="zh-CN" altLang="en-US" sz="24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</a:t>
            </a:r>
            <a:endParaRPr lang="zh-CN" altLang="en-US" sz="24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5"/>
          <p:cNvSpPr/>
          <p:nvPr/>
        </p:nvSpPr>
        <p:spPr>
          <a:xfrm>
            <a:off x="611505" y="771525"/>
            <a:ext cx="3794760" cy="416560"/>
          </a:xfrm>
          <a:prstGeom prst="roundRect">
            <a:avLst>
              <a:gd name="adj" fmla="val 39043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sz="2400">
                <a:solidFill>
                  <a:srgbClr val="FFFFFF"/>
                </a:solidFill>
              </a:rPr>
              <a:t>一、</a:t>
            </a:r>
            <a:r>
              <a:rPr lang="zh-CN" altLang="en-US" sz="2400">
                <a:solidFill>
                  <a:srgbClr val="FFFFFF"/>
                </a:solidFill>
              </a:rPr>
              <a:t>一分钟自我介绍</a:t>
            </a:r>
            <a:r>
              <a:rPr lang="en-US" altLang="zh-CN" sz="2400">
                <a:solidFill>
                  <a:srgbClr val="FFFFFF"/>
                </a:solidFill>
              </a:rPr>
              <a:t>  5</a:t>
            </a:r>
            <a:r>
              <a:rPr lang="zh-CN" altLang="en-US" sz="2400">
                <a:solidFill>
                  <a:srgbClr val="FFFFFF"/>
                </a:solidFill>
              </a:rPr>
              <a:t>分</a:t>
            </a: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5" name="流程图: 可选过程 3"/>
          <p:cNvSpPr/>
          <p:nvPr/>
        </p:nvSpPr>
        <p:spPr>
          <a:xfrm>
            <a:off x="657225" y="1566545"/>
            <a:ext cx="4543425" cy="3571875"/>
          </a:xfrm>
          <a:prstGeom prst="flowChartAlternateProcess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zh-CN" alt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6" name="文本框 99"/>
          <p:cNvSpPr/>
          <p:nvPr/>
        </p:nvSpPr>
        <p:spPr>
          <a:xfrm flipV="1">
            <a:off x="1911985" y="1851660"/>
            <a:ext cx="2089785" cy="30194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b="1" dirty="0">
                <a:latin typeface="Calibri" panose="020F0502020204030204" pitchFamily="34" charset="0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99"/>
          <p:cNvSpPr/>
          <p:nvPr/>
        </p:nvSpPr>
        <p:spPr>
          <a:xfrm>
            <a:off x="5292090" y="1851660"/>
            <a:ext cx="3212465" cy="22186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en-US" b="1">
                <a:latin typeface="Calibri" panose="020F0502020204030204" pitchFamily="34" charset="0"/>
                <a:ea typeface="宋体" panose="02010600030101010101" pitchFamily="2" charset="-122"/>
              </a:rPr>
              <a:t>     </a:t>
            </a:r>
            <a:endParaRPr lang="en-US" b="1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endParaRPr lang="en-US" altLang="en-US" b="1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b="1">
                <a:latin typeface="Calibri" panose="020F0502020204030204" pitchFamily="34" charset="0"/>
                <a:ea typeface="宋体" panose="02010600030101010101" pitchFamily="2" charset="-122"/>
              </a:rPr>
              <a:t>                     </a:t>
            </a:r>
            <a:r>
              <a:rPr lang="zh-CN" altLang="en-US" b="1">
                <a:latin typeface="Calibri" panose="020F0502020204030204" pitchFamily="34" charset="0"/>
                <a:ea typeface="宋体" panose="02010600030101010101" pitchFamily="2" charset="-122"/>
              </a:rPr>
              <a:t>个人</a:t>
            </a:r>
            <a:r>
              <a:rPr lang="en-US" b="1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Calibri" panose="020F0502020204030204" pitchFamily="34" charset="0"/>
                <a:ea typeface="宋体" panose="02010600030101010101" pitchFamily="2" charset="-122"/>
              </a:rPr>
              <a:t>照片</a:t>
            </a:r>
            <a:endParaRPr lang="zh-CN" altLang="en-US" sz="2000" b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99"/>
          <p:cNvSpPr/>
          <p:nvPr/>
        </p:nvSpPr>
        <p:spPr>
          <a:xfrm>
            <a:off x="683895" y="1275715"/>
            <a:ext cx="6606540" cy="41465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b="1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 b="1">
                <a:latin typeface="Calibri" panose="020F0502020204030204" pitchFamily="34" charset="0"/>
                <a:ea typeface="宋体" panose="02010600030101010101" pitchFamily="2" charset="-122"/>
              </a:rPr>
              <a:t>我是谁？</a:t>
            </a:r>
            <a:r>
              <a:rPr lang="en-US" altLang="zh-CN" b="1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Calibri" panose="020F0502020204030204" pitchFamily="34" charset="0"/>
                <a:ea typeface="宋体" panose="02010600030101010101" pitchFamily="2" charset="-122"/>
              </a:rPr>
              <a:t>分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（姓名，公司，职务，经营年限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/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从业年限，企业主营）</a:t>
            </a:r>
            <a:endParaRPr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endParaRPr lang="zh-CN" altLang="en-US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684530" y="1635125"/>
            <a:ext cx="4381500" cy="35121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  <a:sym typeface="Calibri" panose="020F0502020204030204"/>
              </a:rPr>
              <a:t>       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  <a:sym typeface="Calibri" panose="020F0502020204030204"/>
              </a:rPr>
              <a:t>   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slow" advClick="0" advTm="5000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标题"/>
          <p:cNvSpPr/>
          <p:nvPr>
            <p:custDataLst>
              <p:tags r:id="rId1"/>
            </p:custDataLst>
          </p:nvPr>
        </p:nvSpPr>
        <p:spPr>
          <a:xfrm>
            <a:off x="827405" y="1131570"/>
            <a:ext cx="2377440" cy="26162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使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命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048599" name="标题"/>
          <p:cNvSpPr/>
          <p:nvPr>
            <p:custDataLst>
              <p:tags r:id="rId2"/>
            </p:custDataLst>
          </p:nvPr>
        </p:nvSpPr>
        <p:spPr>
          <a:xfrm>
            <a:off x="5939893" y="1106805"/>
            <a:ext cx="2328279" cy="286691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使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命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后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048600" name="矩形: 圆角 3"/>
          <p:cNvSpPr/>
          <p:nvPr>
            <p:custDataLst>
              <p:tags r:id="rId3"/>
            </p:custDataLst>
          </p:nvPr>
        </p:nvSpPr>
        <p:spPr>
          <a:xfrm>
            <a:off x="181610" y="1393190"/>
            <a:ext cx="3883025" cy="3710305"/>
          </a:xfrm>
          <a:prstGeom prst="roundRect">
            <a:avLst>
              <a:gd name="adj" fmla="val 6098"/>
            </a:avLst>
          </a:prstGeom>
          <a:noFill/>
          <a:ln w="25400">
            <a:solidFill>
              <a:srgbClr val="FF0000">
                <a:alpha val="4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501602" tIns="590552" rIns="501602" bIns="296283" numCol="1" spcCol="0" rtlCol="0" fromWordArt="0" anchor="ctr" anchorCtr="0" forceAA="0" compatLnSpc="1">
            <a:noAutofit/>
          </a:bodyPr>
          <a:p>
            <a:pPr algn="l" rtl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个人：</a:t>
            </a:r>
            <a:br>
              <a:rPr lang="zh-CN" altLang="en-US" sz="12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zh-CN" sz="1200" b="1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团队：</a:t>
            </a:r>
            <a:r>
              <a:rPr lang="en-US" altLang="zh-CN" sz="1200" b="1" kern="1200" dirty="0">
                <a:gradFill>
                  <a:gsLst>
                    <a:gs pos="0">
                      <a:schemeClr val="tx1">
                        <a:lumMod val="25000"/>
                        <a:lumOff val="75000"/>
                      </a:schemeClr>
                    </a:gs>
                    <a:gs pos="50000">
                      <a:schemeClr val="tx1"/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endParaRPr lang="zh-CN" altLang="en-US" sz="1200" b="1" kern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rtl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公司：</a:t>
            </a:r>
            <a:r>
              <a:rPr lang="en-US" altLang="zh-CN" sz="1200" b="1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endParaRPr lang="en-US" altLang="zh-CN" sz="1200" b="1" kern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rtl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1200" b="1" kern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601" name="矩形: 圆角 3"/>
          <p:cNvSpPr/>
          <p:nvPr>
            <p:custDataLst>
              <p:tags r:id="rId4"/>
            </p:custDataLst>
          </p:nvPr>
        </p:nvSpPr>
        <p:spPr>
          <a:xfrm>
            <a:off x="5189220" y="1409065"/>
            <a:ext cx="3798570" cy="3686810"/>
          </a:xfrm>
          <a:prstGeom prst="roundRect">
            <a:avLst>
              <a:gd name="adj" fmla="val 6098"/>
            </a:avLst>
          </a:prstGeom>
          <a:noFill/>
          <a:ln w="25400">
            <a:solidFill>
              <a:srgbClr val="FF0000">
                <a:alpha val="4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501602" tIns="590552" rIns="501602" bIns="296283" numCol="1" spcCol="0" rtlCol="0" fromWordArt="0" anchor="ctr" anchorCtr="0" forceAA="0" compatLnSpc="1">
            <a:noAutofit/>
          </a:bodyPr>
          <a:p>
            <a:pPr algn="l" rtl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个人：</a:t>
            </a:r>
            <a:br>
              <a:rPr lang="zh-CN" altLang="en-US" sz="1200" b="1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zh-CN" sz="1200" b="1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团队：</a:t>
            </a:r>
            <a:endParaRPr lang="zh-CN" altLang="zh-CN" sz="1200" b="1" kern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rtl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公司：</a:t>
            </a:r>
            <a:endParaRPr lang="zh-CN" altLang="en-US" sz="1200" b="1" kern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602" name="文本框 99"/>
          <p:cNvSpPr/>
          <p:nvPr/>
        </p:nvSpPr>
        <p:spPr>
          <a:xfrm>
            <a:off x="467995" y="725805"/>
            <a:ext cx="8500110" cy="10547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b="1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>
                <a:sym typeface="Calibri" panose="020F0502020204030204"/>
              </a:rPr>
              <a:t>为什么要听我讲</a:t>
            </a:r>
            <a:r>
              <a:rPr lang="zh-CN" altLang="en-US" b="1">
                <a:latin typeface="Calibri" panose="020F0502020204030204" pitchFamily="34" charset="0"/>
                <a:ea typeface="宋体" panose="02010600030101010101" pitchFamily="2" charset="-122"/>
              </a:rPr>
              <a:t>？</a:t>
            </a:r>
            <a:r>
              <a:rPr lang="en-US" altLang="zh-CN" sz="1200" b="1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b="1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分</a:t>
            </a:r>
            <a:r>
              <a:rPr lang="en-US" altLang="zh-CN" sz="1200" b="1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  </a:t>
            </a:r>
            <a:r>
              <a:rPr lang="zh-CN" altLang="en-US" sz="1200" b="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</a:rPr>
              <a:t>本周主题是人生的目的和意义，描述出使命前后的状态是怎样的？心性发生了哪些改变？</a:t>
            </a:r>
            <a:endParaRPr lang="zh-CN" altLang="en-US" sz="1400" b="1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endParaRPr lang="zh-CN" altLang="en-US" sz="1400" b="1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48605" name="燕尾形箭头 9"/>
          <p:cNvSpPr/>
          <p:nvPr/>
        </p:nvSpPr>
        <p:spPr>
          <a:xfrm flipV="1">
            <a:off x="4284345" y="2787650"/>
            <a:ext cx="744220" cy="375920"/>
          </a:xfrm>
          <a:prstGeom prst="notchedRightArrow">
            <a:avLst/>
          </a:prstGeom>
          <a:gradFill>
            <a:gsLst>
              <a:gs pos="14000">
                <a:srgbClr val="F9680D"/>
              </a:gs>
              <a:gs pos="100000">
                <a:schemeClr val="bg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8" name="流程图: 可选过程 2"/>
          <p:cNvSpPr/>
          <p:nvPr/>
        </p:nvSpPr>
        <p:spPr>
          <a:xfrm>
            <a:off x="1039495" y="1908175"/>
            <a:ext cx="6544310" cy="2672080"/>
          </a:xfrm>
          <a:prstGeom prst="flowChartAlternateProcess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000" b="0" i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+mn-cs"/>
                <a:sym typeface="Calibri" panose="020F0502020204030204"/>
              </a:rPr>
              <a:t>     </a:t>
            </a:r>
            <a:endParaRPr kumimoji="0" lang="zh-CN" altLang="en-US" sz="20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1048609" name="文本框 99"/>
          <p:cNvSpPr/>
          <p:nvPr/>
        </p:nvSpPr>
        <p:spPr>
          <a:xfrm>
            <a:off x="1261745" y="1711683"/>
            <a:ext cx="6111875" cy="27955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48610" name="文本框 2"/>
          <p:cNvSpPr/>
          <p:nvPr/>
        </p:nvSpPr>
        <p:spPr>
          <a:xfrm>
            <a:off x="1192654" y="2278156"/>
            <a:ext cx="6116050" cy="2177829"/>
          </a:xfrm>
          <a:prstGeom prst="rect">
            <a:avLst/>
          </a:prstGeom>
        </p:spPr>
        <p:txBody>
          <a:bodyPr anchor="t"/>
          <a:p>
            <a:r>
              <a:rPr lang="en-US"/>
              <a:t>        </a:t>
            </a:r>
            <a:endParaRPr lang="zh-CN">
              <a:ea typeface="宋体" panose="02010600030101010101" pitchFamily="2" charset="-122"/>
            </a:endParaRPr>
          </a:p>
        </p:txBody>
      </p:sp>
      <p:sp>
        <p:nvSpPr>
          <p:cNvPr id="1048611" name="文本框 99"/>
          <p:cNvSpPr/>
          <p:nvPr/>
        </p:nvSpPr>
        <p:spPr>
          <a:xfrm>
            <a:off x="395605" y="843280"/>
            <a:ext cx="3359785" cy="41465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b="1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zh-CN" altLang="en-US">
                <a:sym typeface="Calibri" panose="020F0502020204030204"/>
              </a:rPr>
              <a:t>听我讲对你有什么好处</a:t>
            </a:r>
            <a:r>
              <a:rPr lang="zh-CN" altLang="en-US" b="1">
                <a:latin typeface="Calibri" panose="020F0502020204030204" pitchFamily="34" charset="0"/>
                <a:ea typeface="宋体" panose="02010600030101010101" pitchFamily="2" charset="-122"/>
              </a:rPr>
              <a:t>？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分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48612" name="文本框 99"/>
          <p:cNvSpPr/>
          <p:nvPr/>
        </p:nvSpPr>
        <p:spPr>
          <a:xfrm>
            <a:off x="3923665" y="1347470"/>
            <a:ext cx="971550" cy="41465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zh-CN" alt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大众</a:t>
            </a:r>
            <a:endParaRPr lang="zh-CN" altLang="en-US" sz="2000" b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48613" name="文本框 99"/>
          <p:cNvSpPr/>
          <p:nvPr/>
        </p:nvSpPr>
        <p:spPr>
          <a:xfrm>
            <a:off x="3825875" y="771525"/>
            <a:ext cx="4655820" cy="57658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zh-CN" altLang="en-US" sz="1400" b="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</a:rPr>
              <a:t>我们所宣讲的内容对大众能带来什么帮忙，是不是他们所想所要？</a:t>
            </a:r>
            <a:endParaRPr lang="zh-CN" altLang="en-US" sz="1400" b="1">
              <a:solidFill>
                <a:srgbClr val="FF0000"/>
              </a:solidFill>
              <a:highlight>
                <a:srgbClr val="FFFF00"/>
              </a:highlight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48614" name="文本框 13"/>
          <p:cNvSpPr txBox="1"/>
          <p:nvPr/>
        </p:nvSpPr>
        <p:spPr>
          <a:xfrm>
            <a:off x="1042035" y="1908810"/>
            <a:ext cx="6506210" cy="21513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/>
              </a:rPr>
              <a:t>    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Calibri" panose="020F0502020204030204"/>
              </a:rPr>
              <a:t>。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15" name="流程图: 终止 3"/>
          <p:cNvSpPr/>
          <p:nvPr/>
        </p:nvSpPr>
        <p:spPr>
          <a:xfrm>
            <a:off x="2483485" y="1347470"/>
            <a:ext cx="4112895" cy="998855"/>
          </a:xfrm>
          <a:prstGeom prst="flowChartTerminator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800" b="1" i="0" u="none" strike="noStrike" cap="none" spc="0" normalizeH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cs typeface="+mn-cs"/>
                <a:sym typeface="Calibri" panose="020F0502020204030204"/>
              </a:rPr>
              <a:t>我今天宣讲的主题是</a:t>
            </a:r>
            <a:endParaRPr kumimoji="0" lang="zh-CN" altLang="en-US" sz="2800" b="1" i="0" u="none" strike="noStrike" cap="none" spc="0" normalizeH="0">
              <a:ln>
                <a:noFill/>
              </a:ln>
              <a:solidFill>
                <a:schemeClr val="bg1"/>
              </a:solidFill>
              <a:effectLst/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1048616" name="文本框 99"/>
          <p:cNvSpPr/>
          <p:nvPr/>
        </p:nvSpPr>
        <p:spPr>
          <a:xfrm>
            <a:off x="827405" y="2931795"/>
            <a:ext cx="7891145" cy="11582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sz="3600" b="1">
                <a:solidFill>
                  <a:srgbClr val="FF0000"/>
                </a:solidFill>
                <a:cs typeface="Calibri" panose="020F0502020204030204" pitchFamily="34" charset="0"/>
              </a:rPr>
              <a:t>使命的力量----明确人生的目的和意义</a:t>
            </a:r>
            <a:endParaRPr lang="zh-CN" altLang="en-US" sz="3600" b="1">
              <a:solidFill>
                <a:srgbClr val="FF0000"/>
              </a:solidFill>
              <a:cs typeface="Calibri" panose="020F0502020204030204" pitchFamily="34" charset="0"/>
            </a:endParaRPr>
          </a:p>
        </p:txBody>
      </p:sp>
      <p:sp>
        <p:nvSpPr>
          <p:cNvPr id="1048617" name="文本框 99"/>
          <p:cNvSpPr/>
          <p:nvPr/>
        </p:nvSpPr>
        <p:spPr>
          <a:xfrm>
            <a:off x="323215" y="843280"/>
            <a:ext cx="3871595" cy="41465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b="1">
                <a:latin typeface="Calibri" panose="020F0502020204030204" pitchFamily="34" charset="0"/>
                <a:ea typeface="宋体" panose="02010600030101010101" pitchFamily="2" charset="-122"/>
              </a:rPr>
              <a:t>你要讲的</a:t>
            </a:r>
            <a:r>
              <a:rPr lang="zh-CN" altLang="en-US" b="1"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/>
              </a:rPr>
              <a:t>宣讲的主题</a:t>
            </a:r>
            <a:r>
              <a:rPr lang="zh-CN" altLang="en-US" b="1">
                <a:latin typeface="Calibri" panose="020F0502020204030204" pitchFamily="34" charset="0"/>
                <a:ea typeface="宋体" panose="02010600030101010101" pitchFamily="2" charset="-122"/>
              </a:rPr>
              <a:t>是什么？</a:t>
            </a:r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分</a:t>
            </a:r>
            <a:endParaRPr lang="zh-CN" altLang="en-US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18" name="圆角矩形 15"/>
          <p:cNvSpPr/>
          <p:nvPr/>
        </p:nvSpPr>
        <p:spPr>
          <a:xfrm>
            <a:off x="323850" y="699135"/>
            <a:ext cx="8053070" cy="370840"/>
          </a:xfrm>
          <a:prstGeom prst="roundRect">
            <a:avLst>
              <a:gd name="adj" fmla="val 39043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chemeClr val="bg1"/>
                </a:solidFill>
                <a:latin typeface="+mn-lt"/>
                <a:cs typeface="+mn-cs"/>
                <a:sym typeface="Calibri" panose="020F0502020204030204"/>
              </a:rPr>
              <a:t>二、你企业（或部门）的使命是什么？</a:t>
            </a:r>
            <a:r>
              <a:rPr lang="en-US" altLang="zh-CN" sz="2400">
                <a:solidFill>
                  <a:schemeClr val="bg1"/>
                </a:solidFill>
                <a:latin typeface="+mn-lt"/>
                <a:cs typeface="+mn-cs"/>
                <a:sym typeface="Calibri" panose="020F0502020204030204"/>
              </a:rPr>
              <a:t>2</a:t>
            </a:r>
            <a:r>
              <a:rPr lang="zh-CN" altLang="en-US" sz="2000">
                <a:solidFill>
                  <a:srgbClr val="FFFFFF"/>
                </a:solidFill>
                <a:sym typeface="+mn-ea"/>
              </a:rPr>
              <a:t>分</a:t>
            </a:r>
            <a:r>
              <a:rPr lang="en-US" altLang="zh-CN" sz="2400">
                <a:solidFill>
                  <a:schemeClr val="bg1"/>
                </a:solidFill>
                <a:latin typeface="+mn-lt"/>
                <a:cs typeface="+mn-cs"/>
                <a:sym typeface="Calibri" panose="020F0502020204030204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+mn-lt"/>
                <a:cs typeface="+mn-cs"/>
                <a:sym typeface="Calibri" panose="020F0502020204030204"/>
              </a:rPr>
              <a:t>使命诠释。</a:t>
            </a:r>
            <a:r>
              <a:rPr lang="en-US" altLang="zh-CN" sz="2400">
                <a:solidFill>
                  <a:srgbClr val="FFFFFF"/>
                </a:solidFill>
              </a:rPr>
              <a:t>1</a:t>
            </a:r>
            <a:r>
              <a:rPr lang="zh-CN" altLang="en-US">
                <a:solidFill>
                  <a:srgbClr val="FFFFFF"/>
                </a:solidFill>
                <a:sym typeface="+mn-ea"/>
              </a:rPr>
              <a:t>分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1048619" name="文本框 99"/>
          <p:cNvSpPr/>
          <p:nvPr/>
        </p:nvSpPr>
        <p:spPr>
          <a:xfrm>
            <a:off x="5292090" y="1131570"/>
            <a:ext cx="4655820" cy="57658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zh-CN" altLang="en-US" sz="1400" b="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</a:rPr>
              <a:t>从员工、客户、行业或社会三个维度来描述</a:t>
            </a:r>
            <a:endParaRPr lang="zh-CN" altLang="en-US" sz="1400" b="1">
              <a:solidFill>
                <a:srgbClr val="FF0000"/>
              </a:solidFill>
              <a:highlight>
                <a:srgbClr val="FFFF00"/>
              </a:highlight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48620" name="2"/>
          <p:cNvSpPr/>
          <p:nvPr>
            <p:custDataLst>
              <p:tags r:id="rId1"/>
            </p:custDataLst>
          </p:nvPr>
        </p:nvSpPr>
        <p:spPr>
          <a:xfrm>
            <a:off x="179705" y="1068070"/>
            <a:ext cx="8598535" cy="870585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indent="304800" algn="l">
              <a:lnSpc>
                <a:spcPct val="150000"/>
              </a:lnSpc>
              <a:spcBef>
                <a:spcPts val="800"/>
              </a:spcBef>
            </a:pPr>
            <a:r>
              <a:rPr lang="zh-CN" altLang="en-US" sz="1400" b="1" kern="1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公司使命：</a:t>
            </a:r>
            <a:r>
              <a:rPr lang="zh-CN" altLang="en-US" sz="1400" b="1" kern="10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400" b="1" kern="100" dirty="0">
              <a:solidFill>
                <a:schemeClr val="tx1"/>
              </a:solidFill>
              <a:latin typeface="Calibri" panose="020F0502020204030204" pitchFamily="3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48621" name="文本框 32"/>
          <p:cNvSpPr txBox="1"/>
          <p:nvPr/>
        </p:nvSpPr>
        <p:spPr>
          <a:xfrm>
            <a:off x="3707765" y="1779905"/>
            <a:ext cx="25234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公司使命诠释：</a:t>
            </a:r>
            <a:endParaRPr lang="zh-CN" altLang="en-US" sz="1600" b="1" kern="1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46" name="组合 37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41300" y="2204720"/>
            <a:ext cx="8608060" cy="2706370"/>
            <a:chOff x="660400" y="1091981"/>
            <a:chExt cx="7200977" cy="5082855"/>
          </a:xfrm>
        </p:grpSpPr>
        <p:grpSp>
          <p:nvGrpSpPr>
            <p:cNvPr id="47" name="组合 38"/>
            <p:cNvGrpSpPr/>
            <p:nvPr/>
          </p:nvGrpSpPr>
          <p:grpSpPr>
            <a:xfrm>
              <a:off x="660400" y="1091981"/>
              <a:ext cx="3526877" cy="2484594"/>
              <a:chOff x="660400" y="1091981"/>
              <a:chExt cx="3526877" cy="2484594"/>
            </a:xfrm>
          </p:grpSpPr>
          <p:sp>
            <p:nvSpPr>
              <p:cNvPr id="1048622" name="1"/>
              <p:cNvSpPr/>
              <p:nvPr>
                <p:custDataLst>
                  <p:tags r:id="rId3"/>
                </p:custDataLst>
              </p:nvPr>
            </p:nvSpPr>
            <p:spPr>
              <a:xfrm>
                <a:off x="660400" y="1130300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1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048623" name="Body-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400" y="1510583"/>
                <a:ext cx="3459720" cy="20536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/>
                <a:endParaRPr lang="zh-CN" altLang="en-US" sz="1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048624" name="Title-1"/>
              <p:cNvSpPr/>
              <p:nvPr>
                <p:custDataLst>
                  <p:tags r:id="rId5"/>
                </p:custDataLst>
              </p:nvPr>
            </p:nvSpPr>
            <p:spPr>
              <a:xfrm>
                <a:off x="1593731" y="1091981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 smtClean="0">
                    <a:solidFill>
                      <a:srgbClr val="FFFFFF"/>
                    </a:solidFill>
                    <a:latin typeface="+mn-ea"/>
                  </a:rPr>
                  <a:t>员工幸福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48" name="组合 44"/>
            <p:cNvGrpSpPr/>
            <p:nvPr/>
          </p:nvGrpSpPr>
          <p:grpSpPr>
            <a:xfrm>
              <a:off x="4326211" y="1091981"/>
              <a:ext cx="3526877" cy="2484594"/>
              <a:chOff x="4326211" y="1091981"/>
              <a:chExt cx="3526877" cy="2484594"/>
            </a:xfrm>
          </p:grpSpPr>
          <p:sp>
            <p:nvSpPr>
              <p:cNvPr id="1048625" name="2"/>
              <p:cNvSpPr/>
              <p:nvPr>
                <p:custDataLst>
                  <p:tags r:id="rId6"/>
                </p:custDataLst>
              </p:nvPr>
            </p:nvSpPr>
            <p:spPr>
              <a:xfrm>
                <a:off x="4326211" y="1130300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2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048626" name="Body-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359677" y="1533242"/>
                <a:ext cx="3459720" cy="197017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 defTabSz="913765"/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   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。</a:t>
                </a:r>
                <a:endParaRPr lang="zh-CN" alt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048627" name="Title-2"/>
              <p:cNvSpPr/>
              <p:nvPr>
                <p:custDataLst>
                  <p:tags r:id="rId8"/>
                </p:custDataLst>
              </p:nvPr>
            </p:nvSpPr>
            <p:spPr>
              <a:xfrm>
                <a:off x="5255190" y="1091981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客户幸福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49" name="组合 50"/>
            <p:cNvGrpSpPr/>
            <p:nvPr/>
          </p:nvGrpSpPr>
          <p:grpSpPr>
            <a:xfrm>
              <a:off x="2606323" y="3711773"/>
              <a:ext cx="5255054" cy="2463063"/>
              <a:chOff x="-1059488" y="3667485"/>
              <a:chExt cx="5255054" cy="2463063"/>
            </a:xfrm>
          </p:grpSpPr>
          <p:sp>
            <p:nvSpPr>
              <p:cNvPr id="1048628" name="4"/>
              <p:cNvSpPr/>
              <p:nvPr>
                <p:custDataLst>
                  <p:tags r:id="rId9"/>
                </p:custDataLst>
              </p:nvPr>
            </p:nvSpPr>
            <p:spPr>
              <a:xfrm>
                <a:off x="-1059488" y="3684273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4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 </a:t>
                </a:r>
                <a:endParaRPr lang="zh-CN" alt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048629" name="Body-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64197" y="4435337"/>
                <a:ext cx="3431369" cy="517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zh-CN" sz="1200" b="1" dirty="0">
                    <a:solidFill>
                      <a:schemeClr val="tx1"/>
                    </a:solidFill>
                    <a:latin typeface="+mj-ea"/>
                    <a:ea typeface="+mj-ea"/>
                    <a:cs typeface="微软雅黑" panose="020B0503020204020204" charset="-122"/>
                    <a:sym typeface="+mn-lt"/>
                  </a:rPr>
                  <a:t> </a:t>
                </a:r>
                <a:endParaRPr lang="en-US" altLang="zh-CN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048630" name="Title-4"/>
              <p:cNvSpPr/>
              <p:nvPr>
                <p:custDataLst>
                  <p:tags r:id="rId11"/>
                </p:custDataLst>
              </p:nvPr>
            </p:nvSpPr>
            <p:spPr>
              <a:xfrm>
                <a:off x="-139345" y="3667485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社会幸福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31" name="圆角矩形 15"/>
          <p:cNvSpPr/>
          <p:nvPr/>
        </p:nvSpPr>
        <p:spPr>
          <a:xfrm>
            <a:off x="35560" y="699135"/>
            <a:ext cx="8348345" cy="576580"/>
          </a:xfrm>
          <a:prstGeom prst="roundRect">
            <a:avLst>
              <a:gd name="adj" fmla="val 16666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600">
                <a:solidFill>
                  <a:srgbClr val="FFFFFF"/>
                </a:solidFill>
              </a:rPr>
              <a:t>三、人生唯一的目的和意义就是</a:t>
            </a:r>
            <a:r>
              <a:rPr lang="en-US" altLang="zh-CN" sz="1600">
                <a:solidFill>
                  <a:srgbClr val="FFFFFF"/>
                </a:solidFill>
              </a:rPr>
              <a:t>“</a:t>
            </a:r>
            <a:r>
              <a:rPr lang="zh-CN" altLang="en-US" sz="1600">
                <a:solidFill>
                  <a:srgbClr val="FFFFFF"/>
                </a:solidFill>
              </a:rPr>
              <a:t>提升心性，磨炼灵魂</a:t>
            </a:r>
            <a:r>
              <a:rPr lang="en-US" altLang="zh-CN" sz="1600">
                <a:solidFill>
                  <a:srgbClr val="FFFFFF"/>
                </a:solidFill>
              </a:rPr>
              <a:t>”</a:t>
            </a:r>
            <a:r>
              <a:rPr lang="zh-CN" altLang="en-US" sz="1600">
                <a:solidFill>
                  <a:srgbClr val="FFFFFF"/>
                </a:solidFill>
              </a:rPr>
              <a:t>你是如何理解的？</a:t>
            </a:r>
            <a:r>
              <a:rPr lang="en-US" altLang="zh-CN" sz="1600" dirty="0" smtClean="0">
                <a:solidFill>
                  <a:schemeClr val="bg1"/>
                </a:solidFill>
                <a:cs typeface="+mn-ea"/>
                <a:sym typeface="+mn-lt"/>
              </a:rPr>
              <a:t>+3</a:t>
            </a:r>
            <a:endParaRPr lang="en-US" altLang="zh-CN" sz="1600" dirty="0" smtClean="0">
              <a:solidFill>
                <a:schemeClr val="bg1"/>
              </a:solidFill>
              <a:cs typeface="+mn-ea"/>
              <a:sym typeface="+mn-lt"/>
            </a:endParaRPr>
          </a:p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altLang="zh-CN" sz="1600" dirty="0" smtClean="0">
                <a:solidFill>
                  <a:schemeClr val="bg1"/>
                </a:solidFill>
                <a:cs typeface="+mn-ea"/>
                <a:sym typeface="+mn-lt"/>
              </a:rPr>
              <a:t>     </a:t>
            </a:r>
            <a:r>
              <a:rPr lang="en-US" altLang="zh-CN" sz="1600" dirty="0" smtClean="0">
                <a:solidFill>
                  <a:schemeClr val="tx1"/>
                </a:solidFill>
                <a:cs typeface="+mn-ea"/>
                <a:sym typeface="+mn-lt"/>
              </a:rPr>
              <a:t> </a:t>
            </a:r>
            <a:r>
              <a:rPr lang="zh-CN" altLang="en-US" sz="1600" dirty="0" smtClean="0">
                <a:solidFill>
                  <a:schemeClr val="bg1"/>
                </a:solidFill>
                <a:cs typeface="+mn-ea"/>
                <a:sym typeface="+mn-lt"/>
              </a:rPr>
              <a:t>分享一下自己或他人</a:t>
            </a:r>
            <a:r>
              <a:rPr lang="en-US" altLang="zh-CN" sz="1600" dirty="0" smtClean="0">
                <a:solidFill>
                  <a:schemeClr val="bg1"/>
                </a:solidFill>
                <a:cs typeface="+mn-ea"/>
                <a:sym typeface="+mn-lt"/>
              </a:rPr>
              <a:t>“</a:t>
            </a:r>
            <a:r>
              <a:rPr lang="zh-CN" altLang="en-US" sz="1600" dirty="0" smtClean="0">
                <a:solidFill>
                  <a:schemeClr val="bg1"/>
                </a:solidFill>
                <a:cs typeface="+mn-ea"/>
                <a:sym typeface="+mn-lt"/>
              </a:rPr>
              <a:t>提高心性，磨炼灵魂</a:t>
            </a:r>
            <a:r>
              <a:rPr lang="en-US" altLang="zh-CN" sz="1600" dirty="0" smtClean="0">
                <a:solidFill>
                  <a:schemeClr val="bg1"/>
                </a:solidFill>
                <a:cs typeface="+mn-ea"/>
                <a:sym typeface="+mn-lt"/>
              </a:rPr>
              <a:t>”</a:t>
            </a:r>
            <a:r>
              <a:rPr lang="zh-CN" altLang="en-US" sz="1600" dirty="0" smtClean="0">
                <a:solidFill>
                  <a:schemeClr val="bg1"/>
                </a:solidFill>
                <a:cs typeface="+mn-ea"/>
                <a:sym typeface="+mn-lt"/>
              </a:rPr>
              <a:t>的案例。</a:t>
            </a:r>
            <a:r>
              <a:rPr lang="en-US" altLang="zh-CN" sz="1600" dirty="0" smtClean="0">
                <a:solidFill>
                  <a:schemeClr val="bg1"/>
                </a:solidFill>
                <a:cs typeface="+mn-ea"/>
                <a:sym typeface="+mn-lt"/>
              </a:rPr>
              <a:t>+5 </a:t>
            </a:r>
            <a:endParaRPr lang="en-US" altLang="zh-CN" sz="16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8632" name="流程图: 可选过程 1"/>
          <p:cNvSpPr/>
          <p:nvPr/>
        </p:nvSpPr>
        <p:spPr>
          <a:xfrm>
            <a:off x="212090" y="1426210"/>
            <a:ext cx="8699500" cy="3361690"/>
          </a:xfrm>
          <a:prstGeom prst="flowChartAlternateProcess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1800" b="0" i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+mn-cs"/>
                <a:sym typeface="Calibri" panose="020F0502020204030204"/>
              </a:rPr>
              <a:t>     </a:t>
            </a:r>
            <a:endParaRPr kumimoji="0" lang="zh-CN" altLang="en-US" sz="24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1048633" name="矩形 38"/>
          <p:cNvSpPr/>
          <p:nvPr>
            <p:custDataLst>
              <p:tags r:id="rId1"/>
            </p:custDataLst>
          </p:nvPr>
        </p:nvSpPr>
        <p:spPr>
          <a:xfrm>
            <a:off x="3131820" y="1426210"/>
            <a:ext cx="2445385" cy="367030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tlCol="0" anchor="ctr"/>
          <a:p>
            <a:pPr algn="ctr">
              <a:lnSpc>
                <a:spcPct val="120000"/>
              </a:lnSpc>
            </a:pPr>
            <a:r>
              <a:rPr lang="zh-CN" b="1" spc="300">
                <a:solidFill>
                  <a:schemeClr val="bg1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+mn-ea"/>
              </a:rPr>
              <a:t>提升心性</a:t>
            </a:r>
            <a:r>
              <a:rPr lang="en-US" altLang="zh-CN" b="1" spc="300">
                <a:solidFill>
                  <a:schemeClr val="bg1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+mn-ea"/>
              </a:rPr>
              <a:t> </a:t>
            </a:r>
            <a:r>
              <a:rPr lang="zh-CN" altLang="en-US" b="1" spc="300">
                <a:solidFill>
                  <a:schemeClr val="bg1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+mn-ea"/>
              </a:rPr>
              <a:t>磨炼灵魂</a:t>
            </a:r>
            <a:endParaRPr lang="zh-CN" altLang="en-US" b="1" spc="300">
              <a:solidFill>
                <a:schemeClr val="bg1"/>
              </a:solidFill>
              <a:latin typeface="标准粗黑" panose="02000503000000000000" charset="-122"/>
              <a:ea typeface="标准粗黑" panose="02000503000000000000" charset="-122"/>
              <a:cs typeface="标准粗黑" panose="02000503000000000000" charset="-122"/>
              <a:sym typeface="+mn-ea"/>
            </a:endParaRPr>
          </a:p>
        </p:txBody>
      </p:sp>
      <p:sp>
        <p:nvSpPr>
          <p:cNvPr id="1048634" name="文本框 2"/>
          <p:cNvSpPr txBox="1"/>
          <p:nvPr/>
        </p:nvSpPr>
        <p:spPr>
          <a:xfrm>
            <a:off x="257810" y="1842770"/>
            <a:ext cx="8619490" cy="25774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/>
              </a:rPr>
              <a:t>   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35" name="流程图: 可选过程 2"/>
          <p:cNvSpPr/>
          <p:nvPr/>
        </p:nvSpPr>
        <p:spPr>
          <a:xfrm>
            <a:off x="107950" y="980440"/>
            <a:ext cx="8952230" cy="4114800"/>
          </a:xfrm>
          <a:prstGeom prst="flowChartAlternateProcess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zh-CN" alt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1048636" name="文本框 3"/>
          <p:cNvSpPr/>
          <p:nvPr>
            <p:custDataLst>
              <p:tags r:id="rId1"/>
            </p:custDataLst>
          </p:nvPr>
        </p:nvSpPr>
        <p:spPr>
          <a:xfrm>
            <a:off x="35560" y="675640"/>
            <a:ext cx="4128135" cy="4648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chemeClr val="tx1"/>
                </a:solidFill>
                <a:sym typeface="Calibri" panose="020F0502020204030204"/>
              </a:rPr>
              <a:t>【</a:t>
            </a:r>
            <a:r>
              <a:rPr lang="en-US" altLang="zh-CN" dirty="0" smtClean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dirty="0" smtClean="0">
                <a:solidFill>
                  <a:schemeClr val="tx1"/>
                </a:solidFill>
                <a:cs typeface="+mn-ea"/>
                <a:sym typeface="+mn-lt"/>
              </a:rPr>
              <a:t>提高心性，磨炼灵魂</a:t>
            </a:r>
            <a:r>
              <a:rPr lang="en-US" altLang="zh-CN" dirty="0" smtClean="0">
                <a:solidFill>
                  <a:schemeClr val="tx1"/>
                </a:solidFill>
                <a:cs typeface="+mn-ea"/>
                <a:sym typeface="+mn-lt"/>
              </a:rPr>
              <a:t>”</a:t>
            </a:r>
            <a:r>
              <a:rPr lang="zh-CN" altLang="en-US" dirty="0" smtClean="0">
                <a:solidFill>
                  <a:schemeClr val="tx1"/>
                </a:solidFill>
                <a:cs typeface="+mn-ea"/>
                <a:sym typeface="+mn-lt"/>
              </a:rPr>
              <a:t>的案例</a:t>
            </a:r>
            <a:r>
              <a:rPr lang="zh-CN" altLang="en-US">
                <a:solidFill>
                  <a:schemeClr val="tx1"/>
                </a:solidFill>
                <a:sym typeface="Calibri" panose="020F0502020204030204"/>
              </a:rPr>
              <a:t>】</a:t>
            </a:r>
            <a:endParaRPr lang="zh-CN" altLang="en-US">
              <a:solidFill>
                <a:schemeClr val="tx1"/>
              </a:solidFill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zh-CN" altLang="en-US" sz="1200" b="0" i="0" u="none" strike="noStrike" cap="none" spc="0" normalizeH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1048637" name="文本框 99"/>
          <p:cNvSpPr/>
          <p:nvPr/>
        </p:nvSpPr>
        <p:spPr>
          <a:xfrm>
            <a:off x="328930" y="1266190"/>
            <a:ext cx="8475980" cy="380873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eaLnBrk="1">
              <a:lnSpc>
                <a:spcPts val="1800"/>
              </a:lnSpc>
            </a:pPr>
            <a:r>
              <a:rPr lang="en-US" altLang="zh-CN" sz="1400">
                <a:latin typeface="Calibri" panose="020F0502020204030204" pitchFamily="34" charset="0"/>
                <a:ea typeface="宋体" panose="02010600030101010101" pitchFamily="2" charset="-122"/>
              </a:rPr>
              <a:t>       </a:t>
            </a:r>
            <a:r>
              <a:rPr lang="en-US" altLang="zh-CN" sz="1600" b="1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endParaRPr lang="zh-CN" altLang="en-US" sz="1600" b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48638" name="文本框 3"/>
          <p:cNvSpPr/>
          <p:nvPr>
            <p:custDataLst>
              <p:tags r:id="rId2"/>
            </p:custDataLst>
          </p:nvPr>
        </p:nvSpPr>
        <p:spPr>
          <a:xfrm>
            <a:off x="2124075" y="-20320"/>
            <a:ext cx="3027680" cy="728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故事七要素</a:t>
            </a:r>
            <a:r>
              <a:rPr kumimoji="0" lang="en-US" altLang="zh-CN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 </a:t>
            </a:r>
            <a:r>
              <a:rPr kumimoji="0" lang="zh-CN" altLang="en-US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三段论</a:t>
            </a:r>
            <a:endParaRPr kumimoji="0" lang="zh-CN" altLang="en-US" sz="1200" b="1" i="0" u="none" strike="noStrike" cap="none" spc="0" normalizeH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1</a:t>
            </a:r>
            <a:r>
              <a:rPr kumimoji="0" lang="zh-CN" altLang="en-US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段：时间、地点、人物、事件</a:t>
            </a:r>
            <a:r>
              <a:rPr kumimoji="0" lang="en-US" altLang="zh-CN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  </a:t>
            </a:r>
            <a:r>
              <a:rPr lang="zh-CN" altLang="en-US" sz="1200" b="1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Calibri" panose="020F0502020204030204"/>
              </a:rPr>
              <a:t>（叙事）</a:t>
            </a:r>
            <a:endParaRPr kumimoji="0" lang="zh-CN" altLang="en-US" sz="1200" b="1" i="0" u="none" strike="noStrike" cap="none" spc="0" normalizeH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段：感悟、改变</a:t>
            </a:r>
            <a:r>
              <a:rPr kumimoji="0" lang="en-US" altLang="zh-CN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        </a:t>
            </a:r>
            <a:r>
              <a:rPr lang="zh-CN" altLang="en-US" sz="1200" b="1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Calibri" panose="020F0502020204030204"/>
              </a:rPr>
              <a:t>（找心）</a:t>
            </a:r>
            <a:endParaRPr kumimoji="0" lang="zh-CN" altLang="en-US" sz="1200" b="1" i="0" u="none" strike="noStrike" cap="none" spc="0" normalizeH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3</a:t>
            </a:r>
            <a:r>
              <a:rPr kumimoji="0" lang="zh-CN" altLang="en-US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段：升华</a:t>
            </a:r>
            <a:r>
              <a:rPr kumimoji="0" lang="en-US" altLang="zh-CN" sz="1200" b="1" i="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     </a:t>
            </a:r>
            <a:r>
              <a:rPr kumimoji="0" lang="zh-CN" altLang="en-US" sz="1200" b="1" i="0" u="none" strike="noStrike" cap="none" spc="0" normalizeH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（发愿）</a:t>
            </a:r>
            <a:endParaRPr kumimoji="0" lang="zh-CN" altLang="en-US" sz="1200" b="1" i="0" u="none" strike="noStrike" cap="none" spc="0" normalizeH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  <p:sp>
        <p:nvSpPr>
          <p:cNvPr id="1048639" name="文本框 5"/>
          <p:cNvSpPr txBox="1"/>
          <p:nvPr/>
        </p:nvSpPr>
        <p:spPr>
          <a:xfrm>
            <a:off x="7493635" y="2111375"/>
            <a:ext cx="131127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 </a:t>
            </a:r>
            <a:endParaRPr kumimoji="0" lang="zh-CN" altLang="en-US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1048640" name="文本框 1"/>
          <p:cNvSpPr txBox="1"/>
          <p:nvPr/>
        </p:nvSpPr>
        <p:spPr>
          <a:xfrm>
            <a:off x="191135" y="983615"/>
            <a:ext cx="8710295" cy="40201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/>
              </a:rPr>
              <a:t>    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/>
              </a:rPr>
              <a:t>2</a:t>
            </a:r>
            <a:endParaRPr lang="zh-CN" altLang="en-US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43" name="圆角矩形 15"/>
          <p:cNvSpPr/>
          <p:nvPr/>
        </p:nvSpPr>
        <p:spPr>
          <a:xfrm>
            <a:off x="323850" y="628015"/>
            <a:ext cx="6705600" cy="57785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四、起点之问（立志）：你的人生志向是什么</a:t>
            </a:r>
            <a:r>
              <a:rPr lang="zh-CN"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r>
              <a:rPr lang="en-US"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0">
                <a:sym typeface="+mn-ea"/>
              </a:rPr>
              <a:t>分</a:t>
            </a:r>
            <a:endParaRPr lang="en-US" sz="180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（成为什么样的人，做一件什么</a:t>
            </a:r>
            <a:r>
              <a:rPr lang="zh-CN"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样的</a:t>
            </a:r>
            <a:r>
              <a:rPr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事）</a:t>
            </a:r>
            <a:endParaRPr sz="180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44" name="流程图: 可选过程 1"/>
          <p:cNvSpPr/>
          <p:nvPr/>
        </p:nvSpPr>
        <p:spPr>
          <a:xfrm>
            <a:off x="773430" y="2009775"/>
            <a:ext cx="7475855" cy="1054100"/>
          </a:xfrm>
          <a:prstGeom prst="flowChartAlternateProcess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zh-CN" alt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1048645" name="流程图: 可选过程 2"/>
          <p:cNvSpPr/>
          <p:nvPr/>
        </p:nvSpPr>
        <p:spPr>
          <a:xfrm>
            <a:off x="755650" y="3579495"/>
            <a:ext cx="7512685" cy="1047115"/>
          </a:xfrm>
          <a:prstGeom prst="flowChartAlternateProcess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zh-CN" alt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1048646" name="文本框 99"/>
          <p:cNvSpPr/>
          <p:nvPr/>
        </p:nvSpPr>
        <p:spPr>
          <a:xfrm>
            <a:off x="828675" y="1946275"/>
            <a:ext cx="7167245" cy="1086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r>
              <a:rPr lang="zh-CN">
                <a:cs typeface="Calibri" panose="020F0502020204030204" pitchFamily="34" charset="0"/>
              </a:rPr>
              <a:t>
</a:t>
            </a:r>
            <a:endParaRPr lang="zh-CN">
              <a:cs typeface="Calibri" panose="020F0502020204030204" pitchFamily="34" charset="0"/>
            </a:endParaRPr>
          </a:p>
        </p:txBody>
      </p:sp>
      <p:sp>
        <p:nvSpPr>
          <p:cNvPr id="1048647" name="文本框 3"/>
          <p:cNvSpPr/>
          <p:nvPr/>
        </p:nvSpPr>
        <p:spPr>
          <a:xfrm>
            <a:off x="829310" y="3732530"/>
            <a:ext cx="7291070" cy="7200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048648" name="文本框 4"/>
          <p:cNvSpPr/>
          <p:nvPr/>
        </p:nvSpPr>
        <p:spPr>
          <a:xfrm>
            <a:off x="35560" y="3108325"/>
            <a:ext cx="2748280" cy="400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>
                <a:solidFill>
                  <a:srgbClr val="C00000"/>
                </a:solidFill>
                <a:cs typeface="Calibri" panose="020F0502020204030204" pitchFamily="34" charset="0"/>
                <a:sym typeface="+mn-ea"/>
              </a:rPr>
              <a:t>【做一件什么样的事】：</a:t>
            </a:r>
            <a:endParaRPr lang="zh-CN">
              <a:solidFill>
                <a:srgbClr val="C00000"/>
              </a:solidFill>
              <a:cs typeface="Calibri" panose="020F0502020204030204" pitchFamily="34" charset="0"/>
              <a:sym typeface="+mn-ea"/>
            </a:endParaRPr>
          </a:p>
          <a:p>
            <a:endParaRPr lang="zh-CN">
              <a:solidFill>
                <a:srgbClr val="C00000"/>
              </a:solidFill>
              <a:cs typeface="Calibri" panose="020F0502020204030204" pitchFamily="34" charset="0"/>
            </a:endParaRPr>
          </a:p>
        </p:txBody>
      </p:sp>
      <p:sp>
        <p:nvSpPr>
          <p:cNvPr id="1048649" name="文本框 5"/>
          <p:cNvSpPr/>
          <p:nvPr/>
        </p:nvSpPr>
        <p:spPr>
          <a:xfrm>
            <a:off x="35560" y="1347470"/>
            <a:ext cx="287655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C00000"/>
                </a:solidFill>
                <a:cs typeface="Calibri" panose="020F0502020204030204" pitchFamily="34" charset="0"/>
                <a:sym typeface="+mn-ea"/>
              </a:rPr>
              <a:t>【成为一个什么样的人】：</a:t>
            </a:r>
            <a:endParaRPr kumimoji="0" lang="zh-CN" altLang="en-US" sz="1800" b="0" i="0" u="none" strike="noStrike" cap="none" spc="0" normalizeH="0">
              <a:ln>
                <a:noFill/>
              </a:ln>
              <a:solidFill>
                <a:srgbClr val="C00000"/>
              </a:solidFill>
              <a:effectLst/>
              <a:latin typeface="+mn-lt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048650" name="文本框 6"/>
          <p:cNvSpPr txBox="1"/>
          <p:nvPr/>
        </p:nvSpPr>
        <p:spPr>
          <a:xfrm>
            <a:off x="963930" y="2143125"/>
            <a:ext cx="6920230" cy="5676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  <a:sym typeface="Calibri" panose="020F0502020204030204"/>
              </a:rPr>
              <a:t>。</a:t>
            </a:r>
            <a:endParaRPr kumimoji="0" lang="zh-CN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53" name="圆角矩形 15"/>
          <p:cNvSpPr/>
          <p:nvPr/>
        </p:nvSpPr>
        <p:spPr>
          <a:xfrm>
            <a:off x="315595" y="561975"/>
            <a:ext cx="8709025" cy="638175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sz="180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54" name="文本框 16"/>
          <p:cNvSpPr/>
          <p:nvPr/>
        </p:nvSpPr>
        <p:spPr>
          <a:xfrm>
            <a:off x="394970" y="628015"/>
            <a:ext cx="8749030" cy="5054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noAutofit/>
          </a:bodyPr>
          <a:lstStyle>
            <a:lvl1pPr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1600" b="1" dirty="0">
                <a:solidFill>
                  <a:schemeClr val="l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五、</a:t>
            </a:r>
            <a:r>
              <a:rPr sz="1600" b="1" dirty="0">
                <a:solidFill>
                  <a:schemeClr val="l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终点之问：在离开这个世界的时候，希望身边的人怎么评价你？</a:t>
            </a:r>
            <a:r>
              <a:rPr lang="en-US" sz="1600" b="1" dirty="0">
                <a:solidFill>
                  <a:schemeClr val="l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>
                <a:sym typeface="+mn-ea"/>
              </a:rPr>
              <a:t>分</a:t>
            </a:r>
            <a:endParaRPr sz="1600" b="1" dirty="0">
              <a:solidFill>
                <a:schemeClr val="l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sz="1600" b="1" dirty="0">
                <a:solidFill>
                  <a:schemeClr val="l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sz="1600" b="1" dirty="0">
                <a:solidFill>
                  <a:schemeClr val="l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1600" b="1" dirty="0">
                <a:solidFill>
                  <a:schemeClr val="l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600" b="1" dirty="0">
                <a:solidFill>
                  <a:schemeClr val="l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从家人、员工、客户、行业、社会5个角度</a:t>
            </a:r>
            <a:r>
              <a:rPr lang="zh-CN" sz="1600" b="1" dirty="0">
                <a:solidFill>
                  <a:schemeClr val="l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chemeClr val="l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600" b="1" dirty="0">
              <a:solidFill>
                <a:schemeClr val="l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8655" name="流程图: 可选过程 1"/>
          <p:cNvSpPr/>
          <p:nvPr/>
        </p:nvSpPr>
        <p:spPr>
          <a:xfrm>
            <a:off x="315595" y="1200150"/>
            <a:ext cx="8708390" cy="3935095"/>
          </a:xfrm>
          <a:prstGeom prst="flowChartAlternateProcess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zh-CN" alt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1048656" name="文本框 99"/>
          <p:cNvSpPr/>
          <p:nvPr/>
        </p:nvSpPr>
        <p:spPr>
          <a:xfrm>
            <a:off x="546735" y="1223010"/>
            <a:ext cx="8361045" cy="37953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r>
              <a:rPr lang="zh-CN" dirty="0">
                <a:solidFill>
                  <a:srgbClr val="C00000"/>
                </a:solidFill>
                <a:cs typeface="Calibri" panose="020F0502020204030204" pitchFamily="34" charset="0"/>
              </a:rPr>
              <a:t>【家人评价】：</a:t>
            </a:r>
            <a:endParaRPr lang="zh-CN" sz="1600" b="1" dirty="0">
              <a:solidFill>
                <a:srgbClr val="C00000"/>
              </a:solidFill>
              <a:cs typeface="Calibri" panose="020F0502020204030204" pitchFamily="34" charset="0"/>
            </a:endParaRPr>
          </a:p>
          <a:p>
            <a:pPr algn="l"/>
            <a:r>
              <a:rPr lang="zh-CN" dirty="0">
                <a:solidFill>
                  <a:srgbClr val="C00000"/>
                </a:solidFill>
                <a:cs typeface="Calibri" panose="020F0502020204030204" pitchFamily="34" charset="0"/>
              </a:rPr>
              <a:t>【员工评价】：</a:t>
            </a:r>
            <a:endParaRPr 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pitchFamily="34" charset="0"/>
            </a:endParaRPr>
          </a:p>
          <a:p>
            <a:r>
              <a:rPr lang="zh-CN" dirty="0">
                <a:solidFill>
                  <a:srgbClr val="C00000"/>
                </a:solidFill>
                <a:cs typeface="Calibri" panose="020F0502020204030204" pitchFamily="34" charset="0"/>
              </a:rPr>
              <a:t>【客户评价】：</a:t>
            </a:r>
            <a:endParaRPr 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pitchFamily="34" charset="0"/>
            </a:endParaRPr>
          </a:p>
          <a:p>
            <a:r>
              <a:rPr lang="zh-CN" dirty="0">
                <a:solidFill>
                  <a:srgbClr val="C00000"/>
                </a:solidFill>
                <a:cs typeface="Calibri" panose="020F0502020204030204" pitchFamily="34" charset="0"/>
              </a:rPr>
              <a:t>【行业评价】：</a:t>
            </a:r>
            <a:endParaRPr lang="zh-CN" altLang="en-US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dirty="0">
                <a:solidFill>
                  <a:srgbClr val="C00000"/>
                </a:solidFill>
                <a:cs typeface="Calibri" panose="020F0502020204030204" pitchFamily="34" charset="0"/>
              </a:rPr>
              <a:t>【社会评价】：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57" name="矩形 2"/>
          <p:cNvSpPr/>
          <p:nvPr/>
        </p:nvSpPr>
        <p:spPr>
          <a:xfrm>
            <a:off x="611505" y="1335405"/>
            <a:ext cx="7592695" cy="17989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t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algn="ctr"/>
            <a:r>
              <a:rPr lang="zh-CN" altLang="en-US" sz="44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一切福田，不离方寸；</a:t>
            </a:r>
            <a:endParaRPr lang="zh-CN" altLang="en-US" sz="4400" b="1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44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从心而觅，感无不通。</a:t>
            </a:r>
            <a:endParaRPr lang="zh-CN" altLang="en-US" sz="4400" b="1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8658" name="文本框 1"/>
          <p:cNvSpPr/>
          <p:nvPr/>
        </p:nvSpPr>
        <p:spPr>
          <a:xfrm>
            <a:off x="5292090" y="3867785"/>
            <a:ext cx="3590290" cy="10521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6600" b="1" dirty="0">
                <a:solidFill>
                  <a:srgbClr val="C00000"/>
                </a:solidFill>
                <a:sym typeface="+mn-ea"/>
              </a:rPr>
              <a:t>感谢聆听</a:t>
            </a:r>
            <a:endParaRPr kumimoji="0" lang="zh-CN" altLang="en-US" sz="6600" b="1" i="0" u="none" strike="noStrike" cap="none" spc="0" normalizeH="0" dirty="0">
              <a:ln>
                <a:noFill/>
              </a:ln>
              <a:solidFill>
                <a:srgbClr val="C00000"/>
              </a:solidFill>
              <a:effectLst/>
              <a:cs typeface="+mn-cs"/>
              <a:sym typeface="+mn-ea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DIAGRAM_VIRTUALLY_FRAME" val="{&quot;height&quot;:307.4717322834646,&quot;left&quot;:8.8,&quot;top&quot;:91.92826771653543,&quot;width&quot;:699.9688188976378}"/>
</p:tagLst>
</file>

<file path=ppt/tags/tag2.xml><?xml version="1.0" encoding="utf-8"?>
<p:tagLst xmlns:p="http://schemas.openxmlformats.org/presentationml/2006/main">
  <p:tag name="KSO_WM_DIAGRAM_VIRTUALLY_FRAME" val="{&quot;height&quot;:307.4717322834646,&quot;left&quot;:8.8,&quot;top&quot;:91.92826771653543,&quot;width&quot;:699.9688188976378}"/>
</p:tagLst>
</file>

<file path=ppt/tags/tag3.xml><?xml version="1.0" encoding="utf-8"?>
<p:tagLst xmlns:p="http://schemas.openxmlformats.org/presentationml/2006/main">
  <p:tag name="KSO_WM_DIAGRAM_VIRTUALLY_FRAME" val="{&quot;height&quot;:307.4717322834646,&quot;left&quot;:8.8,&quot;top&quot;:91.92826771653543,&quot;width&quot;:699.9688188976378}"/>
</p:tagLst>
</file>

<file path=ppt/tags/tag4.xml><?xml version="1.0" encoding="utf-8"?>
<p:tagLst xmlns:p="http://schemas.openxmlformats.org/presentationml/2006/main">
  <p:tag name="KSO_WM_DIAGRAM_VIRTUALLY_FRAME" val="{&quot;height&quot;:307.4717322834646,&quot;left&quot;:8.8,&quot;top&quot;:91.92826771653543,&quot;width&quot;:699.9688188976378}"/>
</p:tagLst>
</file>

<file path=ppt/tags/tag5.xml><?xml version="1.0" encoding="utf-8"?>
<p:tagLst xmlns:p="http://schemas.openxmlformats.org/presentationml/2006/main">
  <p:tag name="OP_SCP_ITEM_INDEX" val="2"/>
</p:tagLst>
</file>

<file path=ppt/tags/tag6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7"/>
  <p:tag name="OP_SCP_COMPONENT_INFO" val="{&quot;title&quot;:&quot;渐变4项列表PPT组件&quot;,&quot;description&quot;:&quot;渐变4项列表PPT组件&quot;,&quot;keywords&quot;:[&quot;渐变&quot;,&quot;4项&quot;,&quot;列表&quot;,&quot;PPT组件&quot;],&quot;labels&quot;:[]}"/>
  <p:tag name="OP_SCP_GROUP_ID" val="9e3c15ee-2537-8ffd-fca9-5a45ee008bc6"/>
  <p:tag name="OP_SCP_ITEM_COUNT" val="4"/>
</p:tagLst>
</file>

<file path=ppt/tags/tag7.xml><?xml version="1.0" encoding="utf-8"?>
<p:tagLst xmlns:p="http://schemas.openxmlformats.org/presentationml/2006/main">
  <p:tag name="OP_SCP_ITEM_INDEX" val="1"/>
</p:tagLst>
</file>

<file path=ppt/tags/tag8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</p:tagLst>
</file>

<file path=ppt/tags/tag9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0.xml><?xml version="1.0" encoding="utf-8"?>
<p:tagLst xmlns:p="http://schemas.openxmlformats.org/presentationml/2006/main">
  <p:tag name="OP_SCP_ITEM_INDEX" val="2"/>
</p:tagLst>
</file>

<file path=ppt/tags/tag11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12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13.xml><?xml version="1.0" encoding="utf-8"?>
<p:tagLst xmlns:p="http://schemas.openxmlformats.org/presentationml/2006/main">
  <p:tag name="OP_SCP_ITEM_INDEX" val="4"/>
</p:tagLst>
</file>

<file path=ppt/tags/tag14.xml><?xml version="1.0" encoding="utf-8"?>
<p:tagLst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，单击此处添加文本，单击此处添加文本，单击此处添加文本。"/>
</p:tagLst>
</file>

<file path=ppt/tags/tag15.xml><?xml version="1.0" encoding="utf-8"?>
<p:tagLst xmlns:p="http://schemas.openxmlformats.org/presentationml/2006/main">
  <p:tag name="OP_SCP_SHAPE_TYPE" val="Title"/>
  <p:tag name="OP_SCP_ITEM_INDEX" val="4"/>
  <p:tag name="OP_SCP_DEFAULT_TEXT" val="添加标题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170857_2*l_h_i*1_1_2"/>
  <p:tag name="KSO_WM_TEMPLATE_CATEGORY" val="diagram"/>
  <p:tag name="KSO_WM_TEMPLATE_INDEX" val="20170857"/>
  <p:tag name="KSO_WM_UNIT_LAYERLEVEL" val="1_1_1"/>
  <p:tag name="KSO_WM_TAG_VERSION" val="1.0"/>
  <p:tag name="KSO_WM_UNIT_FILL_FORE_SCHEMECOLOR_INDEX" val="5"/>
  <p:tag name="KSO_WM_UNIT_FILL_TYPE" val="1"/>
  <p:tag name="KSO_WM_DIAGRAM_VIRTUALLY_FRAME" val="{&quot;height&quot;:142.84078740157483,&quot;left&quot;:60.672440944881885,&quot;top&quot;:251.85921259842516,&quot;width&quot;:284.18913602093073}"/>
</p:tagLst>
</file>

<file path=ppt/tags/tag17.xml><?xml version="1.0" encoding="utf-8"?>
<p:tagLst xmlns:p="http://schemas.openxmlformats.org/presentationml/2006/main">
  <p:tag name="KSO_WM_DIAGRAM_VIRTUALLY_FRAME" val="{&quot;height&quot;:162.5,&quot;left&quot;:0,&quot;top&quot;:58.15,&quot;width&quot;:753.8}"/>
</p:tagLst>
</file>

<file path=ppt/tags/tag18.xml><?xml version="1.0" encoding="utf-8"?>
<p:tagLst xmlns:p="http://schemas.openxmlformats.org/presentationml/2006/main">
  <p:tag name="KSO_WM_DIAGRAM_VIRTUALLY_FRAME" val="{&quot;height&quot;:162.5,&quot;left&quot;:0,&quot;top&quot;:58.15,&quot;width&quot;:753.8}"/>
</p:tagLst>
</file>

<file path=ppt/tags/tag19.xml><?xml version="1.0" encoding="utf-8"?>
<p:tagLst xmlns:p="http://schemas.openxmlformats.org/presentationml/2006/main">
  <p:tag name="RESOURCE_RECORD_KEY" val="{&quot;70&quot;:[3319248,3312345,3312170,3314342,3312447,3316064,3313612]}"/>
  <p:tag name="COMMONDATA" val="eyJoZGlkIjoiMzJiMGIxOGY3OTNjNTk5YmM0MGJmOGNhNzcyNmI5OTIifQ==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849</Words>
  <Application>WPS 演示</Application>
  <PresentationFormat>全屏显示(16:9)</PresentationFormat>
  <Paragraphs>122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Calibri Light</vt:lpstr>
      <vt:lpstr>Arial</vt:lpstr>
      <vt:lpstr>Avenir Next Medium</vt:lpstr>
      <vt:lpstr>Tw Cen MT Condensed Extra Bold</vt:lpstr>
      <vt:lpstr>微软雅黑</vt:lpstr>
      <vt:lpstr>Calibri</vt:lpstr>
      <vt:lpstr>黑体</vt:lpstr>
      <vt:lpstr>Nokia Font YanTi</vt:lpstr>
      <vt:lpstr>Times New Roman</vt:lpstr>
      <vt:lpstr>阿里巴巴普惠体</vt:lpstr>
      <vt:lpstr>Arial Unicode MS</vt:lpstr>
      <vt:lpstr>等线</vt:lpstr>
      <vt:lpstr>Liberation Mono</vt:lpstr>
      <vt:lpstr>标准粗黑</vt:lpstr>
      <vt:lpstr>Office 主题</vt:lpstr>
      <vt:lpstr>分享人：辽52期A班X组XX 2026年7月12日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明确使命模板</dc:title>
  <dc:creator>刘逸凡</dc:creator>
  <cp:lastModifiedBy>熊建昌</cp:lastModifiedBy>
  <cp:revision>929</cp:revision>
  <dcterms:created xsi:type="dcterms:W3CDTF">2025-08-20T07:15:00Z</dcterms:created>
  <dcterms:modified xsi:type="dcterms:W3CDTF">2026-09-06T10:35:52Z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5CCF90F80DB84FF3B0E91D9F3601EBB6_13</vt:lpwstr>
  </property>
</Properties>
</file>