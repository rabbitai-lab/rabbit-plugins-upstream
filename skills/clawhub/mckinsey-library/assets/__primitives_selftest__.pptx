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91153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mckinsey-library</a:t>
            </a:r>
          </a:p>
          <a:p>
            <a:pPr algn="l"/>
            <a:r>
              <a:rPr sz="2600" b="1">
                <a:solidFill>
                  <a:srgbClr val="142A4F"/>
                </a:solidFill>
                <a:latin typeface="微软雅黑"/>
                <a:ea typeface="微软雅黑"/>
                <a:cs typeface="微软雅黑"/>
              </a:rPr>
              <a:t>模块自检样张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82296" cy="118872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215798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60012"/>
                </a:solidFill>
                <a:latin typeface="Calibri"/>
                <a:ea typeface="Calibri"/>
                <a:cs typeface="Calibri"/>
              </a:rPr>
              <a:t>60.2%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42A4F"/>
                </a:solidFill>
                <a:latin typeface="微软雅黑"/>
                <a:ea typeface="微软雅黑"/>
                <a:cs typeface="微软雅黑"/>
              </a:rPr>
              <a:t>综合金融贡献</a:t>
            </a:r>
          </a:p>
          <a:p>
            <a:pPr algn="ctr"/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AUM 净增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2948940"/>
            <a:ext cx="1965960" cy="2416822"/>
          </a:xfrm>
          <a:prstGeom prst="roundRect">
            <a:avLst>
              <a:gd name="adj" fmla="val 3000"/>
            </a:avLst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828799" cy="22796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消费前 34%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34%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技术极限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3179" y="2948940"/>
            <a:ext cx="2971800" cy="2416822"/>
          </a:xfrm>
          <a:prstGeom prst="roundRect">
            <a:avLst>
              <a:gd name="adj" fmla="val 3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017520"/>
            <a:ext cx="2834639" cy="22796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混合废料 51%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50%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5411482"/>
            <a:ext cx="4983480" cy="417817"/>
          </a:xfrm>
          <a:prstGeom prst="roundRect">
            <a:avLst>
              <a:gd name="adj" fmla="val 3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480062"/>
            <a:ext cx="4846320" cy="2806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分拣废料 16%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16%</a:t>
            </a:r>
          </a:p>
          <a:p>
            <a:pPr algn="l"/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高质量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62472" y="2953512"/>
            <a:ext cx="2596896" cy="1408176"/>
          </a:xfrm>
          <a:prstGeom prst="roundRect">
            <a:avLst>
              <a:gd name="adj" fmla="val 4000"/>
            </a:avLst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035808"/>
            <a:ext cx="237744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高意愿低能力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14232" y="2953512"/>
            <a:ext cx="2596896" cy="1408176"/>
          </a:xfrm>
          <a:prstGeom prst="roundRect">
            <a:avLst>
              <a:gd name="adj" fmla="val 4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3035808"/>
            <a:ext cx="237744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高意愿高能力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62472" y="4416552"/>
            <a:ext cx="2596896" cy="1408176"/>
          </a:xfrm>
          <a:prstGeom prst="roundRect">
            <a:avLst>
              <a:gd name="adj" fmla="val 4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498848"/>
            <a:ext cx="237744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低意愿低能力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14232" y="4416552"/>
            <a:ext cx="2596896" cy="1408176"/>
          </a:xfrm>
          <a:prstGeom prst="roundRect">
            <a:avLst>
              <a:gd name="adj" fmla="val 4000"/>
            </a:avLst>
          </a:prstGeom>
          <a:solidFill>
            <a:srgbClr val="14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4498848"/>
            <a:ext cx="2377440" cy="12435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低意愿高能力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548640" y="6126480"/>
          <a:ext cx="5029200" cy="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